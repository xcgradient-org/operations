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Today's meeting has one job: by the time we leave this room, we have a system. A real operating system for this company. Not slides that sit in a Drive folder — an actual running infrastructure that we use starting today. Give me 30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topics. Some will take 5 minutes, some 10. I'll tell you upfront: by the end of this, I need each of you to fill in your Q2 personal KRs live in Notion. That's the deliverable of this meeting.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Notion is not a note-taking app. It's the company. If it's not in Notion, it didn't happen.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is simple: Discord is what we're thinking about right now. Notion is what we decided. Drive is for files too big for Notion. That's the whole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entire company knowledge base. Six sections. I'll show you each one. The most important one is Company Brain — specifically the Decision Log. That's the one we'll be most disciplined about.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you see when you open your laptop. Before you open anything else — terminal, IDE, whatever — Notion is open. The Home page tells you in 30 seconds if anything needs your attention.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Slack is a deliberate no. We don't need three messaging systems. When we hire the first employee, we can revisit — they may expect Slack for HR tools. That's a 2027 problem.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strategic layer. I want you to understand not just what the goals are, but why they're structured this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have great KPIs and be building the wrong thing. OKRs answer 'what matters most right now?' — and that answer changes every 13 weeks.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10% week-over-week, you 5× in a year. At 5%, you 12× in a year. The math is violent once you have any base at all. Right now we have no base. That changes after today.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0 is the only phase that's about us, not the market. The question is: are we operationally ready? By end of this meeting, yes.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defense date is not just academic. July 1 is the day we stop being primarily builders and become primarily sellers. The thesis is our credibility asset — a defended academic RAG paper plus two PoCs with numbers is our pitch 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is the most underestimated phase. You'll have a working product, a thesis, and two PoCs. You'll feel like the hard part is done. It is not. The hard part is the next 18 months of selling.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on KRs: you define your own. I will never assign KRs to you. Owned KRs get hit. Assigned KRs get ignored. So let's open Notion right now.</a:t>
            </a:r>
          </a:p>
          <a:p>
            <a:r>
              <a:t>[PAUSE — open Notion live, navigate to Goals &amp; OKRs, build Arnau and Adam's KRs together]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section most people skip and then regret. The logging system is not bureaucracy. It's the mechanism by which I never have to ask you what you're working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 wrote last night. It took 4 minutes. Arnau, you can see without messaging me that the Paver visit happened, what came out of it, and that I need an answer from you by Thursday. That's the whole value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streak is the only competitive element. We don't rank each other by how much we shipped. That would create terrible incentives. We rank by whether we showed up and logged. That's 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planning mistake is trying to detail everything at once. We detail only what's next. Everything else is a direction stub that we fill when we get there.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Discord is not for decisions. It's for conversations that lead to decisions. Once something resolves, it goes to Notion. That's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channel names include the role. Product-CTO means Arnau owns that channel. GTM-COO means Adam owns it. Finance-CFO means I own it. Nobody posts in someone else's channel without a reason.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you're ever unsure whether something goes in Drive or Notion, ask: is this a file or is this knowledge? Files go in Drive. Knowledge goes in Notion.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section I'm most excited about. Right now our meeting outputs are three PPTs in a Drive folder and whatever Adam scribbles down. We're going to fix that.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Adam still takes handwritten notes in the meeting — that's important. Raw notes have context that PPTs don't. The AI takes both and produces the clean version. Adam's original notes go in Drive. The AI output goes in Notion.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future version uses Whisper running locally on our GPUs to transcribe The War Room voice calls automatically. On-prem, zero data leaves the machine — consistent with our entire product philosophy. That's a Week 9 project, not today.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Notion. I'll walk you through it. We're not leaving until the streaks say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457200"/>
            <a:ext cx="2743200" cy="457200"/>
          </a:xfrm>
          <a:prstGeom prst="rect">
            <a:avLst/>
          </a:prstGeom>
          <a:noFill/>
        </p:spPr>
        <p:txBody>
          <a:bodyPr wrap="none">
            <a:spAutoFit/>
          </a:bodyPr>
          <a:lstStyle/>
          <a:p>
            <a:pPr>
              <a:defRPr sz="1400" b="1" i="0">
                <a:solidFill>
                  <a:srgbClr val="4FC3F7"/>
                </a:solidFill>
                <a:latin typeface="Calibri Bold"/>
              </a:defRPr>
            </a:pPr>
            <a:r>
              <a:t>XC GRADIENT</a:t>
            </a:r>
          </a:p>
        </p:txBody>
      </p:sp>
      <p:sp>
        <p:nvSpPr>
          <p:cNvPr id="3" name="Rectangle 2"/>
          <p:cNvSpPr/>
          <p:nvPr/>
        </p:nvSpPr>
        <p:spPr>
          <a:xfrm>
            <a:off x="5815584" y="1828800"/>
            <a:ext cx="548640" cy="54864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743200"/>
            <a:ext cx="8531352" cy="914400"/>
          </a:xfrm>
          <a:prstGeom prst="rect">
            <a:avLst/>
          </a:prstGeom>
          <a:noFill/>
        </p:spPr>
        <p:txBody>
          <a:bodyPr wrap="none">
            <a:spAutoFit/>
          </a:bodyPr>
          <a:lstStyle/>
          <a:p>
            <a:pPr algn="ctr">
              <a:defRPr sz="4400" b="1" i="0">
                <a:solidFill>
                  <a:srgbClr val="FFFFFF"/>
                </a:solidFill>
                <a:latin typeface="Calibri Bold"/>
              </a:defRPr>
            </a:pPr>
            <a:r>
              <a:t>Building the Machine</a:t>
            </a:r>
          </a:p>
        </p:txBody>
      </p:sp>
      <p:sp>
        <p:nvSpPr>
          <p:cNvPr id="5" name="TextBox 4"/>
          <p:cNvSpPr txBox="1"/>
          <p:nvPr/>
        </p:nvSpPr>
        <p:spPr>
          <a:xfrm>
            <a:off x="1828800" y="3474720"/>
            <a:ext cx="8531352" cy="457200"/>
          </a:xfrm>
          <a:prstGeom prst="rect">
            <a:avLst/>
          </a:prstGeom>
          <a:noFill/>
        </p:spPr>
        <p:txBody>
          <a:bodyPr wrap="none">
            <a:spAutoFit/>
          </a:bodyPr>
          <a:lstStyle/>
          <a:p>
            <a:pPr algn="ctr">
              <a:defRPr sz="1800" b="0" i="0">
                <a:solidFill>
                  <a:srgbClr val="CADCFC"/>
                </a:solidFill>
                <a:latin typeface="Calibri"/>
              </a:defRPr>
            </a:pPr>
            <a:r>
              <a:t>XC Gradient Company Operating System — April 7, 2026</a:t>
            </a:r>
          </a:p>
        </p:txBody>
      </p:sp>
      <p:sp>
        <p:nvSpPr>
          <p:cNvPr id="6" name="TextBox 5"/>
          <p:cNvSpPr txBox="1"/>
          <p:nvPr/>
        </p:nvSpPr>
        <p:spPr>
          <a:xfrm>
            <a:off x="1828800" y="5943600"/>
            <a:ext cx="8531352" cy="457200"/>
          </a:xfrm>
          <a:prstGeom prst="rect">
            <a:avLst/>
          </a:prstGeom>
          <a:noFill/>
        </p:spPr>
        <p:txBody>
          <a:bodyPr wrap="none">
            <a:spAutoFit/>
          </a:bodyPr>
          <a:lstStyle/>
          <a:p>
            <a:pPr algn="ctr">
              <a:defRPr sz="1200" b="0" i="0">
                <a:solidFill>
                  <a:srgbClr val="5A6E8C"/>
                </a:solidFill>
                <a:latin typeface="Calibri Light"/>
              </a:defRPr>
            </a:pPr>
            <a:r>
              <a:t>Oriol · Arnau · Adam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1371600" y="1828800"/>
            <a:ext cx="5486400" cy="3657600"/>
          </a:xfrm>
          <a:prstGeom prst="rect">
            <a:avLst/>
          </a:prstGeom>
          <a:noFill/>
        </p:spPr>
        <p:txBody>
          <a:bodyPr wrap="none">
            <a:spAutoFit/>
          </a:bodyPr>
          <a:lstStyle/>
          <a:p>
            <a:pPr>
              <a:defRPr sz="1800" b="0" i="0">
                <a:solidFill>
                  <a:srgbClr val="FFFFFF"/>
                </a:solidFill>
                <a:latin typeface="Calibri Bold"/>
              </a:defRPr>
            </a:pPr>
            <a:r>
              <a:t>01 — Notion OS</a:t>
            </a:r>
            <a:br/>
            <a:r>
              <a:t>02 — OKRs &amp; Phase Model</a:t>
            </a:r>
            <a:br/>
            <a:r>
              <a:t>03 — Daily Logging System</a:t>
            </a:r>
            <a:br/>
            <a:r>
              <a:t>04 — Discord</a:t>
            </a:r>
            <a:br/>
            <a:r>
              <a:t>05 — Google Drive</a:t>
            </a:r>
            <a:br/>
            <a:r>
              <a:t>06 — Meeting Transcription</a:t>
            </a:r>
          </a:p>
        </p:txBody>
      </p:sp>
      <p:sp>
        <p:nvSpPr>
          <p:cNvPr id="3" name="TextBox 2"/>
          <p:cNvSpPr txBox="1"/>
          <p:nvPr/>
        </p:nvSpPr>
        <p:spPr>
          <a:xfrm>
            <a:off x="1371600" y="1828800"/>
            <a:ext cx="914400" cy="457200"/>
          </a:xfrm>
          <a:prstGeom prst="rect">
            <a:avLst/>
          </a:prstGeom>
          <a:noFill/>
        </p:spPr>
        <p:txBody>
          <a:bodyPr wrap="none">
            <a:spAutoFit/>
          </a:bodyPr>
          <a:lstStyle/>
          <a:p>
            <a:pPr>
              <a:defRPr sz="2800" b="1" i="0">
                <a:solidFill>
                  <a:srgbClr val="4FC3F7"/>
                </a:solidFill>
                <a:latin typeface="Calibri Bold"/>
              </a:defRPr>
            </a:pPr>
            <a:r>
              <a:t>01</a:t>
            </a:r>
          </a:p>
        </p:txBody>
      </p:sp>
      <p:sp>
        <p:nvSpPr>
          <p:cNvPr id="4" name="TextBox 3"/>
          <p:cNvSpPr txBox="1"/>
          <p:nvPr/>
        </p:nvSpPr>
        <p:spPr>
          <a:xfrm>
            <a:off x="1371600" y="2286000"/>
            <a:ext cx="914400" cy="457200"/>
          </a:xfrm>
          <a:prstGeom prst="rect">
            <a:avLst/>
          </a:prstGeom>
          <a:noFill/>
        </p:spPr>
        <p:txBody>
          <a:bodyPr wrap="none">
            <a:spAutoFit/>
          </a:bodyPr>
          <a:lstStyle/>
          <a:p>
            <a:pPr>
              <a:defRPr sz="2800" b="1" i="0">
                <a:solidFill>
                  <a:srgbClr val="4FC3F7"/>
                </a:solidFill>
                <a:latin typeface="Calibri Bold"/>
              </a:defRPr>
            </a:pPr>
            <a:r>
              <a:t>02</a:t>
            </a:r>
          </a:p>
        </p:txBody>
      </p:sp>
      <p:sp>
        <p:nvSpPr>
          <p:cNvPr id="5" name="TextBox 4"/>
          <p:cNvSpPr txBox="1"/>
          <p:nvPr/>
        </p:nvSpPr>
        <p:spPr>
          <a:xfrm>
            <a:off x="1371600" y="2743200"/>
            <a:ext cx="914400" cy="457200"/>
          </a:xfrm>
          <a:prstGeom prst="rect">
            <a:avLst/>
          </a:prstGeom>
          <a:noFill/>
        </p:spPr>
        <p:txBody>
          <a:bodyPr wrap="none">
            <a:spAutoFit/>
          </a:bodyPr>
          <a:lstStyle/>
          <a:p>
            <a:pPr>
              <a:defRPr sz="2800" b="1" i="0">
                <a:solidFill>
                  <a:srgbClr val="4FC3F7"/>
                </a:solidFill>
                <a:latin typeface="Calibri Bold"/>
              </a:defRPr>
            </a:pPr>
            <a:r>
              <a:t>03</a:t>
            </a:r>
          </a:p>
        </p:txBody>
      </p:sp>
      <p:sp>
        <p:nvSpPr>
          <p:cNvPr id="6" name="TextBox 5"/>
          <p:cNvSpPr txBox="1"/>
          <p:nvPr/>
        </p:nvSpPr>
        <p:spPr>
          <a:xfrm>
            <a:off x="1371600" y="3200400"/>
            <a:ext cx="914400" cy="457200"/>
          </a:xfrm>
          <a:prstGeom prst="rect">
            <a:avLst/>
          </a:prstGeom>
          <a:noFill/>
        </p:spPr>
        <p:txBody>
          <a:bodyPr wrap="none">
            <a:spAutoFit/>
          </a:bodyPr>
          <a:lstStyle/>
          <a:p>
            <a:pPr>
              <a:defRPr sz="2800" b="1" i="0">
                <a:solidFill>
                  <a:srgbClr val="4FC3F7"/>
                </a:solidFill>
                <a:latin typeface="Calibri Bold"/>
              </a:defRPr>
            </a:pPr>
            <a:r>
              <a:t>04</a:t>
            </a:r>
          </a:p>
        </p:txBody>
      </p:sp>
      <p:sp>
        <p:nvSpPr>
          <p:cNvPr id="7" name="TextBox 6"/>
          <p:cNvSpPr txBox="1"/>
          <p:nvPr/>
        </p:nvSpPr>
        <p:spPr>
          <a:xfrm>
            <a:off x="1371600" y="3657600"/>
            <a:ext cx="914400" cy="457200"/>
          </a:xfrm>
          <a:prstGeom prst="rect">
            <a:avLst/>
          </a:prstGeom>
          <a:noFill/>
        </p:spPr>
        <p:txBody>
          <a:bodyPr wrap="none">
            <a:spAutoFit/>
          </a:bodyPr>
          <a:lstStyle/>
          <a:p>
            <a:pPr>
              <a:defRPr sz="2800" b="1" i="0">
                <a:solidFill>
                  <a:srgbClr val="4FC3F7"/>
                </a:solidFill>
                <a:latin typeface="Calibri Bold"/>
              </a:defRPr>
            </a:pPr>
            <a:r>
              <a:t>05</a:t>
            </a:r>
          </a:p>
        </p:txBody>
      </p:sp>
      <p:sp>
        <p:nvSpPr>
          <p:cNvPr id="8" name="TextBox 7"/>
          <p:cNvSpPr txBox="1"/>
          <p:nvPr/>
        </p:nvSpPr>
        <p:spPr>
          <a:xfrm>
            <a:off x="1371600" y="4114800"/>
            <a:ext cx="914400" cy="457200"/>
          </a:xfrm>
          <a:prstGeom prst="rect">
            <a:avLst/>
          </a:prstGeom>
          <a:noFill/>
        </p:spPr>
        <p:txBody>
          <a:bodyPr wrap="none">
            <a:spAutoFit/>
          </a:bodyPr>
          <a:lstStyle/>
          <a:p>
            <a:pPr>
              <a:defRPr sz="2800" b="1" i="0">
                <a:solidFill>
                  <a:srgbClr val="4FC3F7"/>
                </a:solidFill>
                <a:latin typeface="Calibri Bold"/>
              </a:defRPr>
            </a:pPr>
            <a:r>
              <a:t>06</a:t>
            </a:r>
          </a:p>
        </p:txBody>
      </p:sp>
      <p:sp>
        <p:nvSpPr>
          <p:cNvPr id="9" name="Rectangle 8"/>
          <p:cNvSpPr/>
          <p:nvPr/>
        </p:nvSpPr>
        <p:spPr>
          <a:xfrm>
            <a:off x="7315200" y="2011680"/>
            <a:ext cx="182880" cy="1828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2468880"/>
            <a:ext cx="182880" cy="1828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2926080"/>
            <a:ext cx="182880" cy="1828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0" y="3383280"/>
            <a:ext cx="182880" cy="1828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0" y="3840480"/>
            <a:ext cx="182880" cy="1828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0" y="4297680"/>
            <a:ext cx="182880" cy="1828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97496" y="2103120"/>
            <a:ext cx="18288" cy="2286000"/>
          </a:xfrm>
          <a:prstGeom prst="rect">
            <a:avLst/>
          </a:prstGeom>
          <a:solidFill>
            <a:srgbClr val="5A6E8C"/>
          </a:solidFill>
          <a:ln w="12700">
            <a:solidFill>
              <a:srgbClr val="5A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5943600"/>
            <a:ext cx="2743200" cy="457200"/>
          </a:xfrm>
          <a:prstGeom prst="rect">
            <a:avLst/>
          </a:prstGeom>
          <a:noFill/>
        </p:spPr>
        <p:txBody>
          <a:bodyPr wrap="none">
            <a:spAutoFit/>
          </a:bodyPr>
          <a:lstStyle/>
          <a:p>
            <a:pPr>
              <a:defRPr sz="1200" b="0" i="0">
                <a:solidFill>
                  <a:srgbClr val="5A6E8C"/>
                </a:solidFill>
                <a:latin typeface="Calibri Light"/>
              </a:defRPr>
            </a:pPr>
            <a:r>
              <a:t>Duration: ~30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0" y="914400"/>
            <a:ext cx="2743200" cy="3657600"/>
          </a:xfrm>
          <a:prstGeom prst="rect">
            <a:avLst/>
          </a:prstGeom>
          <a:noFill/>
        </p:spPr>
        <p:txBody>
          <a:bodyPr wrap="none">
            <a:spAutoFit/>
          </a:bodyPr>
          <a:lstStyle/>
          <a:p>
            <a:pPr algn="ctr">
              <a:defRPr sz="12000" b="1" i="0">
                <a:solidFill>
                  <a:srgbClr val="2A3882"/>
                </a:solidFill>
                <a:latin typeface="Calibri Bold"/>
              </a:defRPr>
            </a:pPr>
            <a:r>
              <a:t>01</a:t>
            </a:r>
          </a:p>
        </p:txBody>
      </p:sp>
      <p:sp>
        <p:nvSpPr>
          <p:cNvPr id="3" name="TextBox 2"/>
          <p:cNvSpPr txBox="1"/>
          <p:nvPr/>
        </p:nvSpPr>
        <p:spPr>
          <a:xfrm>
            <a:off x="1828800" y="2743200"/>
            <a:ext cx="8531352" cy="914400"/>
          </a:xfrm>
          <a:prstGeom prst="rect">
            <a:avLst/>
          </a:prstGeom>
          <a:noFill/>
        </p:spPr>
        <p:txBody>
          <a:bodyPr wrap="none">
            <a:spAutoFit/>
          </a:bodyPr>
          <a:lstStyle/>
          <a:p>
            <a:pPr algn="ctr">
              <a:defRPr sz="4400" b="1" i="0">
                <a:solidFill>
                  <a:srgbClr val="FFFFFF"/>
                </a:solidFill>
                <a:latin typeface="Calibri Bold"/>
              </a:defRPr>
            </a:pPr>
            <a:r>
              <a:t>Our Company Brain</a:t>
            </a:r>
          </a:p>
        </p:txBody>
      </p:sp>
      <p:sp>
        <p:nvSpPr>
          <p:cNvPr id="4" name="TextBox 3"/>
          <p:cNvSpPr txBox="1"/>
          <p:nvPr/>
        </p:nvSpPr>
        <p:spPr>
          <a:xfrm>
            <a:off x="1828800" y="3657600"/>
            <a:ext cx="8531352" cy="457200"/>
          </a:xfrm>
          <a:prstGeom prst="rect">
            <a:avLst/>
          </a:prstGeom>
          <a:noFill/>
        </p:spPr>
        <p:txBody>
          <a:bodyPr wrap="none">
            <a:spAutoFit/>
          </a:bodyPr>
          <a:lstStyle/>
          <a:p>
            <a:pPr algn="ctr">
              <a:defRPr sz="2000" b="0" i="0">
                <a:solidFill>
                  <a:srgbClr val="CADCFC"/>
                </a:solidFill>
                <a:latin typeface="Calibri"/>
              </a:defRPr>
            </a:pPr>
            <a:r>
              <a:t>Notion as the single source of truth</a:t>
            </a:r>
          </a:p>
        </p:txBody>
      </p:sp>
      <p:sp>
        <p:nvSpPr>
          <p:cNvPr id="5" name="Rectangle 4"/>
          <p:cNvSpPr/>
          <p:nvPr/>
        </p:nvSpPr>
        <p:spPr>
          <a:xfrm>
            <a:off x="3657600" y="4389120"/>
            <a:ext cx="4873752" cy="27432"/>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57200" y="914400"/>
            <a:ext cx="5486400" cy="1371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914400"/>
            <a:ext cx="9144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4572000" cy="457200"/>
          </a:xfrm>
          <a:prstGeom prst="rect">
            <a:avLst/>
          </a:prstGeom>
          <a:noFill/>
        </p:spPr>
        <p:txBody>
          <a:bodyPr wrap="none">
            <a:spAutoFit/>
          </a:bodyPr>
          <a:lstStyle/>
          <a:p>
            <a:pPr>
              <a:defRPr sz="1600" b="1" i="0">
                <a:solidFill>
                  <a:srgbClr val="1E2761"/>
                </a:solidFill>
                <a:latin typeface="Calibri Bold"/>
              </a:defRPr>
            </a:pPr>
            <a:r>
              <a:t>Document decisions, not activity</a:t>
            </a:r>
          </a:p>
        </p:txBody>
      </p:sp>
      <p:sp>
        <p:nvSpPr>
          <p:cNvPr id="5" name="TextBox 4"/>
          <p:cNvSpPr txBox="1"/>
          <p:nvPr/>
        </p:nvSpPr>
        <p:spPr>
          <a:xfrm>
            <a:off x="731520" y="1463040"/>
            <a:ext cx="5029200" cy="731520"/>
          </a:xfrm>
          <a:prstGeom prst="rect">
            <a:avLst/>
          </a:prstGeom>
          <a:noFill/>
        </p:spPr>
        <p:txBody>
          <a:bodyPr wrap="none">
            <a:spAutoFit/>
          </a:bodyPr>
          <a:lstStyle/>
          <a:p>
            <a:pPr>
              <a:defRPr sz="1400" b="0" i="0">
                <a:solidFill>
                  <a:srgbClr val="5A6E8C"/>
                </a:solidFill>
                <a:latin typeface="Calibri Light"/>
              </a:defRPr>
            </a:pPr>
            <a:r>
              <a:t>If it takes more than 2 minutes to log, it won't get logged. We only write what a future cofounder or investor would need to know.</a:t>
            </a:r>
          </a:p>
        </p:txBody>
      </p:sp>
      <p:sp>
        <p:nvSpPr>
          <p:cNvPr id="6" name="Rectangle 5"/>
          <p:cNvSpPr/>
          <p:nvPr/>
        </p:nvSpPr>
        <p:spPr>
          <a:xfrm>
            <a:off x="457200" y="2743200"/>
            <a:ext cx="5486400" cy="1371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743200"/>
            <a:ext cx="9144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26080"/>
            <a:ext cx="4572000" cy="457200"/>
          </a:xfrm>
          <a:prstGeom prst="rect">
            <a:avLst/>
          </a:prstGeom>
          <a:noFill/>
        </p:spPr>
        <p:txBody>
          <a:bodyPr wrap="none">
            <a:spAutoFit/>
          </a:bodyPr>
          <a:lstStyle/>
          <a:p>
            <a:pPr>
              <a:defRPr sz="1600" b="1" i="0">
                <a:solidFill>
                  <a:srgbClr val="1E2761"/>
                </a:solidFill>
                <a:latin typeface="Calibri Bold"/>
              </a:defRPr>
            </a:pPr>
            <a:r>
              <a:t>Passive awareness</a:t>
            </a:r>
          </a:p>
        </p:txBody>
      </p:sp>
      <p:sp>
        <p:nvSpPr>
          <p:cNvPr id="9" name="TextBox 8"/>
          <p:cNvSpPr txBox="1"/>
          <p:nvPr/>
        </p:nvSpPr>
        <p:spPr>
          <a:xfrm>
            <a:off x="731520" y="3291840"/>
            <a:ext cx="5029200" cy="731520"/>
          </a:xfrm>
          <a:prstGeom prst="rect">
            <a:avLst/>
          </a:prstGeom>
          <a:noFill/>
        </p:spPr>
        <p:txBody>
          <a:bodyPr wrap="none">
            <a:spAutoFit/>
          </a:bodyPr>
          <a:lstStyle/>
          <a:p>
            <a:pPr>
              <a:defRPr sz="1400" b="0" i="0">
                <a:solidFill>
                  <a:srgbClr val="5A6E8C"/>
                </a:solidFill>
                <a:latin typeface="Calibri Light"/>
              </a:defRPr>
            </a:pPr>
            <a:r>
              <a:t>Notion is open all day. In 30 seconds you know where each person is, what's blocked, and what's at risk this week. Without sending a message.</a:t>
            </a:r>
          </a:p>
        </p:txBody>
      </p:sp>
      <p:sp>
        <p:nvSpPr>
          <p:cNvPr id="10" name="Rectangle 9"/>
          <p:cNvSpPr/>
          <p:nvPr/>
        </p:nvSpPr>
        <p:spPr>
          <a:xfrm>
            <a:off x="457200" y="4572000"/>
            <a:ext cx="5486400" cy="1371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572000"/>
            <a:ext cx="9144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754880"/>
            <a:ext cx="4572000" cy="457200"/>
          </a:xfrm>
          <a:prstGeom prst="rect">
            <a:avLst/>
          </a:prstGeom>
          <a:noFill/>
        </p:spPr>
        <p:txBody>
          <a:bodyPr wrap="none">
            <a:spAutoFit/>
          </a:bodyPr>
          <a:lstStyle/>
          <a:p>
            <a:pPr>
              <a:defRPr sz="1600" b="1" i="0">
                <a:solidFill>
                  <a:srgbClr val="1E2761"/>
                </a:solidFill>
                <a:latin typeface="Calibri Bold"/>
              </a:defRPr>
            </a:pPr>
            <a:r>
              <a:t>Oriol owns the structure</a:t>
            </a:r>
          </a:p>
        </p:txBody>
      </p:sp>
      <p:sp>
        <p:nvSpPr>
          <p:cNvPr id="13" name="TextBox 12"/>
          <p:cNvSpPr txBox="1"/>
          <p:nvPr/>
        </p:nvSpPr>
        <p:spPr>
          <a:xfrm>
            <a:off x="731520" y="5120640"/>
            <a:ext cx="5029200" cy="731520"/>
          </a:xfrm>
          <a:prstGeom prst="rect">
            <a:avLst/>
          </a:prstGeom>
          <a:noFill/>
        </p:spPr>
        <p:txBody>
          <a:bodyPr wrap="none">
            <a:spAutoFit/>
          </a:bodyPr>
          <a:lstStyle/>
          <a:p>
            <a:pPr>
              <a:defRPr sz="1400" b="0" i="0">
                <a:solidFill>
                  <a:srgbClr val="5A6E8C"/>
                </a:solidFill>
                <a:latin typeface="Calibri Light"/>
              </a:defRPr>
            </a:pPr>
            <a:r>
              <a:t>Arnau and Adam never touch Notion architecture. Oriol extracts, writes, and distributes. Your cognitive resources go entirely to building and selling.</a:t>
            </a:r>
          </a:p>
        </p:txBody>
      </p:sp>
      <p:sp>
        <p:nvSpPr>
          <p:cNvPr id="14" name="Rectangle 13"/>
          <p:cNvSpPr/>
          <p:nvPr/>
        </p:nvSpPr>
        <p:spPr>
          <a:xfrm>
            <a:off x="7772400" y="1828800"/>
            <a:ext cx="2743200" cy="914400"/>
          </a:xfrm>
          <a:prstGeom prst="rect">
            <a:avLst/>
          </a:prstGeom>
          <a:solidFill>
            <a:srgbClr val="03093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2011680"/>
            <a:ext cx="2743200" cy="914400"/>
          </a:xfrm>
          <a:prstGeom prst="rect">
            <a:avLst/>
          </a:prstGeom>
          <a:noFill/>
        </p:spPr>
        <p:txBody>
          <a:bodyPr wrap="none">
            <a:spAutoFit/>
          </a:bodyPr>
          <a:lstStyle/>
          <a:p>
            <a:pPr algn="ctr">
              <a:defRPr sz="1800" b="1" i="0">
                <a:solidFill>
                  <a:srgbClr val="FFFFFF"/>
                </a:solidFill>
                <a:latin typeface="Calibri Bold"/>
              </a:defRPr>
            </a:pPr>
            <a:r>
              <a:t>Drive</a:t>
            </a:r>
          </a:p>
        </p:txBody>
      </p:sp>
      <p:sp>
        <p:nvSpPr>
          <p:cNvPr id="16" name="Rectangle 15"/>
          <p:cNvSpPr/>
          <p:nvPr/>
        </p:nvSpPr>
        <p:spPr>
          <a:xfrm>
            <a:off x="7315200" y="3200400"/>
            <a:ext cx="3657600" cy="914400"/>
          </a:xfrm>
          <a:prstGeom prst="rect">
            <a:avLst/>
          </a:prstGeom>
          <a:solidFill>
            <a:srgbClr val="1E276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3383280"/>
            <a:ext cx="3657600" cy="914400"/>
          </a:xfrm>
          <a:prstGeom prst="rect">
            <a:avLst/>
          </a:prstGeom>
          <a:noFill/>
        </p:spPr>
        <p:txBody>
          <a:bodyPr wrap="none">
            <a:spAutoFit/>
          </a:bodyPr>
          <a:lstStyle/>
          <a:p>
            <a:pPr algn="ctr">
              <a:defRPr sz="1800" b="1" i="0">
                <a:solidFill>
                  <a:srgbClr val="FFFFFF"/>
                </a:solidFill>
                <a:latin typeface="Calibri Bold"/>
              </a:defRPr>
            </a:pPr>
            <a:r>
              <a:t>Discord</a:t>
            </a:r>
          </a:p>
        </p:txBody>
      </p:sp>
      <p:sp>
        <p:nvSpPr>
          <p:cNvPr id="18" name="Rectangle 17"/>
          <p:cNvSpPr/>
          <p:nvPr/>
        </p:nvSpPr>
        <p:spPr>
          <a:xfrm>
            <a:off x="6858000" y="4572000"/>
            <a:ext cx="4572000" cy="914400"/>
          </a:xfrm>
          <a:prstGeom prst="rect">
            <a:avLst/>
          </a:prstGeom>
          <a:solidFill>
            <a:srgbClr val="2A388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4754880"/>
            <a:ext cx="4572000" cy="914400"/>
          </a:xfrm>
          <a:prstGeom prst="rect">
            <a:avLst/>
          </a:prstGeom>
          <a:noFill/>
        </p:spPr>
        <p:txBody>
          <a:bodyPr wrap="none">
            <a:spAutoFit/>
          </a:bodyPr>
          <a:lstStyle/>
          <a:p>
            <a:pPr algn="ctr">
              <a:defRPr sz="1800" b="1" i="0">
                <a:solidFill>
                  <a:srgbClr val="FFFFFF"/>
                </a:solidFill>
                <a:latin typeface="Calibri Bold"/>
              </a:defRPr>
            </a:pPr>
            <a:r>
              <a:t>Notion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4572000" cy="457200"/>
          </a:xfrm>
          <a:prstGeom prst="rect">
            <a:avLst/>
          </a:prstGeom>
          <a:noFill/>
        </p:spPr>
        <p:txBody>
          <a:bodyPr wrap="none">
            <a:spAutoFit/>
          </a:bodyPr>
          <a:lstStyle/>
          <a:p>
            <a:pPr>
              <a:defRPr sz="2200" b="1" i="0">
                <a:solidFill>
                  <a:srgbClr val="1E2761"/>
                </a:solidFill>
                <a:latin typeface="Calibri Bold"/>
              </a:defRPr>
            </a:pPr>
            <a:r>
              <a:t>The six sections</a:t>
            </a:r>
          </a:p>
        </p:txBody>
      </p:sp>
      <p:sp>
        <p:nvSpPr>
          <p:cNvPr id="3" name="Rectangle 2"/>
          <p:cNvSpPr/>
          <p:nvPr/>
        </p:nvSpPr>
        <p:spPr>
          <a:xfrm>
            <a:off x="457200" y="1828800"/>
            <a:ext cx="3474720" cy="1371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828800"/>
            <a:ext cx="9144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11680"/>
            <a:ext cx="3017520" cy="457200"/>
          </a:xfrm>
          <a:prstGeom prst="rect">
            <a:avLst/>
          </a:prstGeom>
          <a:noFill/>
        </p:spPr>
        <p:txBody>
          <a:bodyPr wrap="none">
            <a:spAutoFit/>
          </a:bodyPr>
          <a:lstStyle/>
          <a:p>
            <a:pPr>
              <a:defRPr sz="1800" b="1" i="0">
                <a:solidFill>
                  <a:srgbClr val="1E2761"/>
                </a:solidFill>
                <a:latin typeface="Calibri Bold"/>
              </a:defRPr>
            </a:pPr>
            <a:r>
              <a:t>🏠  Home</a:t>
            </a:r>
          </a:p>
        </p:txBody>
      </p:sp>
      <p:sp>
        <p:nvSpPr>
          <p:cNvPr id="6" name="TextBox 5"/>
          <p:cNvSpPr txBox="1"/>
          <p:nvPr/>
        </p:nvSpPr>
        <p:spPr>
          <a:xfrm>
            <a:off x="731520" y="2468880"/>
            <a:ext cx="3017520" cy="457200"/>
          </a:xfrm>
          <a:prstGeom prst="rect">
            <a:avLst/>
          </a:prstGeom>
          <a:noFill/>
        </p:spPr>
        <p:txBody>
          <a:bodyPr wrap="none">
            <a:spAutoFit/>
          </a:bodyPr>
          <a:lstStyle/>
          <a:p>
            <a:pPr>
              <a:defRPr sz="1400" b="0" i="0">
                <a:solidFill>
                  <a:srgbClr val="5A6E8C"/>
                </a:solidFill>
                <a:latin typeface="Calibri Light"/>
              </a:defRPr>
            </a:pPr>
            <a:r>
              <a:t>Your daily landing page</a:t>
            </a:r>
          </a:p>
        </p:txBody>
      </p:sp>
      <p:sp>
        <p:nvSpPr>
          <p:cNvPr id="7" name="Rectangle 6"/>
          <p:cNvSpPr/>
          <p:nvPr/>
        </p:nvSpPr>
        <p:spPr>
          <a:xfrm>
            <a:off x="4297680" y="1828800"/>
            <a:ext cx="3474720" cy="1371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828800"/>
            <a:ext cx="9144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11680"/>
            <a:ext cx="3017520" cy="457200"/>
          </a:xfrm>
          <a:prstGeom prst="rect">
            <a:avLst/>
          </a:prstGeom>
          <a:noFill/>
        </p:spPr>
        <p:txBody>
          <a:bodyPr wrap="none">
            <a:spAutoFit/>
          </a:bodyPr>
          <a:lstStyle/>
          <a:p>
            <a:pPr>
              <a:defRPr sz="1800" b="1" i="0">
                <a:solidFill>
                  <a:srgbClr val="1E2761"/>
                </a:solidFill>
                <a:latin typeface="Calibri Bold"/>
              </a:defRPr>
            </a:pPr>
            <a:r>
              <a:t>🎯  Goals &amp; OKRs</a:t>
            </a:r>
          </a:p>
        </p:txBody>
      </p:sp>
      <p:sp>
        <p:nvSpPr>
          <p:cNvPr id="10" name="TextBox 9"/>
          <p:cNvSpPr txBox="1"/>
          <p:nvPr/>
        </p:nvSpPr>
        <p:spPr>
          <a:xfrm>
            <a:off x="4572000" y="2468880"/>
            <a:ext cx="3017520" cy="457200"/>
          </a:xfrm>
          <a:prstGeom prst="rect">
            <a:avLst/>
          </a:prstGeom>
          <a:noFill/>
        </p:spPr>
        <p:txBody>
          <a:bodyPr wrap="none">
            <a:spAutoFit/>
          </a:bodyPr>
          <a:lstStyle/>
          <a:p>
            <a:pPr>
              <a:defRPr sz="1400" b="0" i="0">
                <a:solidFill>
                  <a:srgbClr val="5A6E8C"/>
                </a:solidFill>
                <a:latin typeface="Calibri Light"/>
              </a:defRPr>
            </a:pPr>
            <a:r>
              <a:t>Full goal cascade</a:t>
            </a:r>
          </a:p>
        </p:txBody>
      </p:sp>
      <p:sp>
        <p:nvSpPr>
          <p:cNvPr id="11" name="Rectangle 10"/>
          <p:cNvSpPr/>
          <p:nvPr/>
        </p:nvSpPr>
        <p:spPr>
          <a:xfrm>
            <a:off x="8138160" y="1828800"/>
            <a:ext cx="3474720" cy="1371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828800"/>
            <a:ext cx="9144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011680"/>
            <a:ext cx="3017520" cy="457200"/>
          </a:xfrm>
          <a:prstGeom prst="rect">
            <a:avLst/>
          </a:prstGeom>
          <a:noFill/>
        </p:spPr>
        <p:txBody>
          <a:bodyPr wrap="none">
            <a:spAutoFit/>
          </a:bodyPr>
          <a:lstStyle/>
          <a:p>
            <a:pPr>
              <a:defRPr sz="1800" b="1" i="0">
                <a:solidFill>
                  <a:srgbClr val="1E2761"/>
                </a:solidFill>
                <a:latin typeface="Calibri Bold"/>
              </a:defRPr>
            </a:pPr>
            <a:r>
              <a:t>📓  Daily Logs</a:t>
            </a:r>
          </a:p>
        </p:txBody>
      </p:sp>
      <p:sp>
        <p:nvSpPr>
          <p:cNvPr id="14" name="TextBox 13"/>
          <p:cNvSpPr txBox="1"/>
          <p:nvPr/>
        </p:nvSpPr>
        <p:spPr>
          <a:xfrm>
            <a:off x="8412480" y="2468880"/>
            <a:ext cx="3017520" cy="457200"/>
          </a:xfrm>
          <a:prstGeom prst="rect">
            <a:avLst/>
          </a:prstGeom>
          <a:noFill/>
        </p:spPr>
        <p:txBody>
          <a:bodyPr wrap="none">
            <a:spAutoFit/>
          </a:bodyPr>
          <a:lstStyle/>
          <a:p>
            <a:pPr>
              <a:defRPr sz="1400" b="0" i="0">
                <a:solidFill>
                  <a:srgbClr val="5A6E8C"/>
                </a:solidFill>
                <a:latin typeface="Calibri Light"/>
              </a:defRPr>
            </a:pPr>
            <a:r>
              <a:t>Oriol / Arnau / Adam</a:t>
            </a:r>
          </a:p>
        </p:txBody>
      </p:sp>
      <p:sp>
        <p:nvSpPr>
          <p:cNvPr id="15" name="Rectangle 14"/>
          <p:cNvSpPr/>
          <p:nvPr/>
        </p:nvSpPr>
        <p:spPr>
          <a:xfrm>
            <a:off x="457200" y="3657600"/>
            <a:ext cx="3474720" cy="1371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657600"/>
            <a:ext cx="9144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40480"/>
            <a:ext cx="3017520" cy="457200"/>
          </a:xfrm>
          <a:prstGeom prst="rect">
            <a:avLst/>
          </a:prstGeom>
          <a:noFill/>
        </p:spPr>
        <p:txBody>
          <a:bodyPr wrap="none">
            <a:spAutoFit/>
          </a:bodyPr>
          <a:lstStyle/>
          <a:p>
            <a:pPr>
              <a:defRPr sz="1800" b="1" i="0">
                <a:solidFill>
                  <a:srgbClr val="1E2761"/>
                </a:solidFill>
                <a:latin typeface="Calibri Bold"/>
              </a:defRPr>
            </a:pPr>
            <a:r>
              <a:t>📅  Weekly Syncs</a:t>
            </a:r>
          </a:p>
        </p:txBody>
      </p:sp>
      <p:sp>
        <p:nvSpPr>
          <p:cNvPr id="18" name="TextBox 17"/>
          <p:cNvSpPr txBox="1"/>
          <p:nvPr/>
        </p:nvSpPr>
        <p:spPr>
          <a:xfrm>
            <a:off x="731520" y="4297680"/>
            <a:ext cx="3017520" cy="457200"/>
          </a:xfrm>
          <a:prstGeom prst="rect">
            <a:avLst/>
          </a:prstGeom>
          <a:noFill/>
        </p:spPr>
        <p:txBody>
          <a:bodyPr wrap="none">
            <a:spAutoFit/>
          </a:bodyPr>
          <a:lstStyle/>
          <a:p>
            <a:pPr>
              <a:defRPr sz="1400" b="0" i="0">
                <a:solidFill>
                  <a:srgbClr val="5A6E8C"/>
                </a:solidFill>
                <a:latin typeface="Calibri Light"/>
              </a:defRPr>
            </a:pPr>
            <a:r>
              <a:t>Meeting outputs + AI summaries</a:t>
            </a:r>
          </a:p>
        </p:txBody>
      </p:sp>
      <p:sp>
        <p:nvSpPr>
          <p:cNvPr id="19" name="Rectangle 18"/>
          <p:cNvSpPr/>
          <p:nvPr/>
        </p:nvSpPr>
        <p:spPr>
          <a:xfrm>
            <a:off x="4297680" y="3657600"/>
            <a:ext cx="3474720" cy="1371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0" y="3657600"/>
            <a:ext cx="9144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840480"/>
            <a:ext cx="3017520" cy="457200"/>
          </a:xfrm>
          <a:prstGeom prst="rect">
            <a:avLst/>
          </a:prstGeom>
          <a:noFill/>
        </p:spPr>
        <p:txBody>
          <a:bodyPr wrap="none">
            <a:spAutoFit/>
          </a:bodyPr>
          <a:lstStyle/>
          <a:p>
            <a:pPr>
              <a:defRPr sz="1800" b="1" i="0">
                <a:solidFill>
                  <a:srgbClr val="1E2761"/>
                </a:solidFill>
                <a:latin typeface="Calibri Bold"/>
              </a:defRPr>
            </a:pPr>
            <a:r>
              <a:t>🧠  Company Brain</a:t>
            </a:r>
          </a:p>
        </p:txBody>
      </p:sp>
      <p:sp>
        <p:nvSpPr>
          <p:cNvPr id="22" name="TextBox 21"/>
          <p:cNvSpPr txBox="1"/>
          <p:nvPr/>
        </p:nvSpPr>
        <p:spPr>
          <a:xfrm>
            <a:off x="4572000" y="4297680"/>
            <a:ext cx="3017520" cy="457200"/>
          </a:xfrm>
          <a:prstGeom prst="rect">
            <a:avLst/>
          </a:prstGeom>
          <a:noFill/>
        </p:spPr>
        <p:txBody>
          <a:bodyPr wrap="none">
            <a:spAutoFit/>
          </a:bodyPr>
          <a:lstStyle/>
          <a:p>
            <a:pPr>
              <a:defRPr sz="1400" b="0" i="0">
                <a:solidFill>
                  <a:srgbClr val="5A6E8C"/>
                </a:solidFill>
                <a:latin typeface="Calibri Light"/>
              </a:defRPr>
            </a:pPr>
            <a:r>
              <a:t>Strategy, decisions, pipeline</a:t>
            </a:r>
          </a:p>
        </p:txBody>
      </p:sp>
      <p:sp>
        <p:nvSpPr>
          <p:cNvPr id="23" name="Rectangle 22"/>
          <p:cNvSpPr/>
          <p:nvPr/>
        </p:nvSpPr>
        <p:spPr>
          <a:xfrm>
            <a:off x="8138160" y="3657600"/>
            <a:ext cx="3474720" cy="1371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60" y="3657600"/>
            <a:ext cx="9144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3840480"/>
            <a:ext cx="3017520" cy="457200"/>
          </a:xfrm>
          <a:prstGeom prst="rect">
            <a:avLst/>
          </a:prstGeom>
          <a:noFill/>
        </p:spPr>
        <p:txBody>
          <a:bodyPr wrap="none">
            <a:spAutoFit/>
          </a:bodyPr>
          <a:lstStyle/>
          <a:p>
            <a:pPr>
              <a:defRPr sz="1800" b="1" i="0">
                <a:solidFill>
                  <a:srgbClr val="1E2761"/>
                </a:solidFill>
                <a:latin typeface="Calibri Bold"/>
              </a:defRPr>
            </a:pPr>
            <a:r>
              <a:t>📁  Archive</a:t>
            </a:r>
          </a:p>
        </p:txBody>
      </p:sp>
      <p:sp>
        <p:nvSpPr>
          <p:cNvPr id="26" name="TextBox 25"/>
          <p:cNvSpPr txBox="1"/>
          <p:nvPr/>
        </p:nvSpPr>
        <p:spPr>
          <a:xfrm>
            <a:off x="8412480" y="4297680"/>
            <a:ext cx="3017520" cy="457200"/>
          </a:xfrm>
          <a:prstGeom prst="rect">
            <a:avLst/>
          </a:prstGeom>
          <a:noFill/>
        </p:spPr>
        <p:txBody>
          <a:bodyPr wrap="none">
            <a:spAutoFit/>
          </a:bodyPr>
          <a:lstStyle/>
          <a:p>
            <a:pPr>
              <a:defRPr sz="1400" b="0" i="0">
                <a:solidFill>
                  <a:srgbClr val="5A6E8C"/>
                </a:solidFill>
                <a:latin typeface="Calibri Light"/>
              </a:defRPr>
            </a:pPr>
            <a:r>
              <a:t>Anything older than 2 quarters</a:t>
            </a:r>
          </a:p>
        </p:txBody>
      </p:sp>
      <p:sp>
        <p:nvSpPr>
          <p:cNvPr id="27" name="TextBox 26"/>
          <p:cNvSpPr txBox="1"/>
          <p:nvPr/>
        </p:nvSpPr>
        <p:spPr>
          <a:xfrm>
            <a:off x="457200" y="5943600"/>
            <a:ext cx="10972800" cy="457200"/>
          </a:xfrm>
          <a:prstGeom prst="rect">
            <a:avLst/>
          </a:prstGeom>
          <a:noFill/>
        </p:spPr>
        <p:txBody>
          <a:bodyPr wrap="none">
            <a:spAutoFit/>
          </a:bodyPr>
          <a:lstStyle/>
          <a:p>
            <a:pPr>
              <a:defRPr sz="1300" b="0" i="1">
                <a:solidFill>
                  <a:srgbClr val="1E2761"/>
                </a:solidFill>
                <a:latin typeface="Calibri Light"/>
              </a:defRPr>
            </a:pPr>
            <a:r>
              <a:t>One rule: if it's not in one of these six, it doesn't exist.</a:t>
            </a:r>
          </a:p>
        </p:txBody>
      </p:sp>
      <p:sp>
        <p:nvSpPr>
          <p:cNvPr id="28" name="Rectangle 27"/>
          <p:cNvSpPr/>
          <p:nvPr/>
        </p:nvSpPr>
        <p:spPr>
          <a:xfrm>
            <a:off x="457200" y="6217920"/>
            <a:ext cx="10972800" cy="18288"/>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914400"/>
            <a:ext cx="3657600" cy="457200"/>
          </a:xfrm>
          <a:prstGeom prst="rect">
            <a:avLst/>
          </a:prstGeom>
          <a:noFill/>
        </p:spPr>
        <p:txBody>
          <a:bodyPr wrap="none">
            <a:spAutoFit/>
          </a:bodyPr>
          <a:lstStyle/>
          <a:p>
            <a:pPr>
              <a:defRPr sz="1600" b="1" i="0">
                <a:solidFill>
                  <a:srgbClr val="1E2761"/>
                </a:solidFill>
                <a:latin typeface="Calibri Bold"/>
              </a:defRPr>
            </a:pPr>
            <a:r>
              <a:t>1  Phase Banner</a:t>
            </a:r>
          </a:p>
        </p:txBody>
      </p:sp>
      <p:sp>
        <p:nvSpPr>
          <p:cNvPr id="3" name="TextBox 2"/>
          <p:cNvSpPr txBox="1"/>
          <p:nvPr/>
        </p:nvSpPr>
        <p:spPr>
          <a:xfrm>
            <a:off x="457200" y="1280160"/>
            <a:ext cx="3657600" cy="457200"/>
          </a:xfrm>
          <a:prstGeom prst="rect">
            <a:avLst/>
          </a:prstGeom>
          <a:noFill/>
        </p:spPr>
        <p:txBody>
          <a:bodyPr wrap="none">
            <a:spAutoFit/>
          </a:bodyPr>
          <a:lstStyle/>
          <a:p>
            <a:pPr>
              <a:defRPr sz="1400" b="0" i="0">
                <a:solidFill>
                  <a:srgbClr val="5A6E8C"/>
                </a:solidFill>
                <a:latin typeface="Calibri Light"/>
              </a:defRPr>
            </a:pPr>
            <a:r>
              <a:t>Current phase + north star metric. Updated manually at phase gates.</a:t>
            </a:r>
          </a:p>
        </p:txBody>
      </p:sp>
      <p:sp>
        <p:nvSpPr>
          <p:cNvPr id="4" name="TextBox 3"/>
          <p:cNvSpPr txBox="1"/>
          <p:nvPr/>
        </p:nvSpPr>
        <p:spPr>
          <a:xfrm>
            <a:off x="457200" y="2011680"/>
            <a:ext cx="3657600" cy="457200"/>
          </a:xfrm>
          <a:prstGeom prst="rect">
            <a:avLst/>
          </a:prstGeom>
          <a:noFill/>
        </p:spPr>
        <p:txBody>
          <a:bodyPr wrap="none">
            <a:spAutoFit/>
          </a:bodyPr>
          <a:lstStyle/>
          <a:p>
            <a:pPr>
              <a:defRPr sz="1600" b="1" i="0">
                <a:solidFill>
                  <a:srgbClr val="1E2761"/>
                </a:solidFill>
                <a:latin typeface="Calibri Bold"/>
              </a:defRPr>
            </a:pPr>
            <a:r>
              <a:t>2  Big 3 This Week</a:t>
            </a:r>
          </a:p>
        </p:txBody>
      </p:sp>
      <p:sp>
        <p:nvSpPr>
          <p:cNvPr id="5" name="TextBox 4"/>
          <p:cNvSpPr txBox="1"/>
          <p:nvPr/>
        </p:nvSpPr>
        <p:spPr>
          <a:xfrm>
            <a:off x="457200" y="2377440"/>
            <a:ext cx="3657600" cy="457200"/>
          </a:xfrm>
          <a:prstGeom prst="rect">
            <a:avLst/>
          </a:prstGeom>
          <a:noFill/>
        </p:spPr>
        <p:txBody>
          <a:bodyPr wrap="none">
            <a:spAutoFit/>
          </a:bodyPr>
          <a:lstStyle/>
          <a:p>
            <a:pPr>
              <a:defRPr sz="1400" b="0" i="0">
                <a:solidFill>
                  <a:srgbClr val="5A6E8C"/>
                </a:solidFill>
                <a:latin typeface="Calibri Light"/>
              </a:defRPr>
            </a:pPr>
            <a:r>
              <a:t>Three numbers that tell us if the company is alive and growing.</a:t>
            </a:r>
          </a:p>
        </p:txBody>
      </p:sp>
      <p:sp>
        <p:nvSpPr>
          <p:cNvPr id="6" name="TextBox 5"/>
          <p:cNvSpPr txBox="1"/>
          <p:nvPr/>
        </p:nvSpPr>
        <p:spPr>
          <a:xfrm>
            <a:off x="457200" y="3108960"/>
            <a:ext cx="3657600" cy="457200"/>
          </a:xfrm>
          <a:prstGeom prst="rect">
            <a:avLst/>
          </a:prstGeom>
          <a:noFill/>
        </p:spPr>
        <p:txBody>
          <a:bodyPr wrap="none">
            <a:spAutoFit/>
          </a:bodyPr>
          <a:lstStyle/>
          <a:p>
            <a:pPr>
              <a:defRPr sz="1600" b="1" i="0">
                <a:solidFill>
                  <a:srgbClr val="1E2761"/>
                </a:solidFill>
                <a:latin typeface="Calibri Bold"/>
              </a:defRPr>
            </a:pPr>
            <a:r>
              <a:t>3  Streak Tracker</a:t>
            </a:r>
          </a:p>
        </p:txBody>
      </p:sp>
      <p:sp>
        <p:nvSpPr>
          <p:cNvPr id="7" name="TextBox 6"/>
          <p:cNvSpPr txBox="1"/>
          <p:nvPr/>
        </p:nvSpPr>
        <p:spPr>
          <a:xfrm>
            <a:off x="457200" y="3474720"/>
            <a:ext cx="3657600" cy="457200"/>
          </a:xfrm>
          <a:prstGeom prst="rect">
            <a:avLst/>
          </a:prstGeom>
          <a:noFill/>
        </p:spPr>
        <p:txBody>
          <a:bodyPr wrap="none">
            <a:spAutoFit/>
          </a:bodyPr>
          <a:lstStyle/>
          <a:p>
            <a:pPr>
              <a:defRPr sz="1400" b="0" i="0">
                <a:solidFill>
                  <a:srgbClr val="5A6E8C"/>
                </a:solidFill>
                <a:latin typeface="Calibri Light"/>
              </a:defRPr>
            </a:pPr>
            <a:r>
              <a:t>Daily log streak per person. Resets to zero if you miss a day.</a:t>
            </a:r>
          </a:p>
        </p:txBody>
      </p:sp>
      <p:sp>
        <p:nvSpPr>
          <p:cNvPr id="8" name="TextBox 7"/>
          <p:cNvSpPr txBox="1"/>
          <p:nvPr/>
        </p:nvSpPr>
        <p:spPr>
          <a:xfrm>
            <a:off x="457200" y="4206240"/>
            <a:ext cx="3657600" cy="457200"/>
          </a:xfrm>
          <a:prstGeom prst="rect">
            <a:avLst/>
          </a:prstGeom>
          <a:noFill/>
        </p:spPr>
        <p:txBody>
          <a:bodyPr wrap="none">
            <a:spAutoFit/>
          </a:bodyPr>
          <a:lstStyle/>
          <a:p>
            <a:pPr>
              <a:defRPr sz="1600" b="1" i="0">
                <a:solidFill>
                  <a:srgbClr val="1E2761"/>
                </a:solidFill>
                <a:latin typeface="Calibri Bold"/>
              </a:defRPr>
            </a:pPr>
            <a:r>
              <a:t>4  Company Calendar</a:t>
            </a:r>
          </a:p>
        </p:txBody>
      </p:sp>
      <p:sp>
        <p:nvSpPr>
          <p:cNvPr id="9" name="TextBox 8"/>
          <p:cNvSpPr txBox="1"/>
          <p:nvPr/>
        </p:nvSpPr>
        <p:spPr>
          <a:xfrm>
            <a:off x="457200" y="4572000"/>
            <a:ext cx="3657600" cy="457200"/>
          </a:xfrm>
          <a:prstGeom prst="rect">
            <a:avLst/>
          </a:prstGeom>
          <a:noFill/>
        </p:spPr>
        <p:txBody>
          <a:bodyPr wrap="none">
            <a:spAutoFit/>
          </a:bodyPr>
          <a:lstStyle/>
          <a:p>
            <a:pPr>
              <a:defRPr sz="1400" b="0" i="0">
                <a:solidFill>
                  <a:srgbClr val="5A6E8C"/>
                </a:solidFill>
                <a:latin typeface="Calibri Light"/>
              </a:defRPr>
            </a:pPr>
            <a:r>
              <a:t>2-week rolling view. Only company-wide events.</a:t>
            </a:r>
          </a:p>
        </p:txBody>
      </p:sp>
      <p:sp>
        <p:nvSpPr>
          <p:cNvPr id="10" name="TextBox 9"/>
          <p:cNvSpPr txBox="1"/>
          <p:nvPr/>
        </p:nvSpPr>
        <p:spPr>
          <a:xfrm>
            <a:off x="457200" y="5303520"/>
            <a:ext cx="3657600" cy="457200"/>
          </a:xfrm>
          <a:prstGeom prst="rect">
            <a:avLst/>
          </a:prstGeom>
          <a:noFill/>
        </p:spPr>
        <p:txBody>
          <a:bodyPr wrap="none">
            <a:spAutoFit/>
          </a:bodyPr>
          <a:lstStyle/>
          <a:p>
            <a:pPr>
              <a:defRPr sz="1600" b="1" i="0">
                <a:solidFill>
                  <a:srgbClr val="1E2761"/>
                </a:solidFill>
                <a:latin typeface="Calibri Bold"/>
              </a:defRPr>
            </a:pPr>
            <a:r>
              <a:t>5  Quick Links</a:t>
            </a:r>
          </a:p>
        </p:txBody>
      </p:sp>
      <p:sp>
        <p:nvSpPr>
          <p:cNvPr id="11" name="TextBox 10"/>
          <p:cNvSpPr txBox="1"/>
          <p:nvPr/>
        </p:nvSpPr>
        <p:spPr>
          <a:xfrm>
            <a:off x="457200" y="5669280"/>
            <a:ext cx="3657600" cy="457200"/>
          </a:xfrm>
          <a:prstGeom prst="rect">
            <a:avLst/>
          </a:prstGeom>
          <a:noFill/>
        </p:spPr>
        <p:txBody>
          <a:bodyPr wrap="none">
            <a:spAutoFit/>
          </a:bodyPr>
          <a:lstStyle/>
          <a:p>
            <a:pPr>
              <a:defRPr sz="1400" b="0" i="0">
                <a:solidFill>
                  <a:srgbClr val="5A6E8C"/>
                </a:solidFill>
                <a:latin typeface="Calibri Light"/>
              </a:defRPr>
            </a:pPr>
            <a:r>
              <a:t>Sprint card, Decision Log, PoC Pipeline, latest sync.</a:t>
            </a:r>
          </a:p>
        </p:txBody>
      </p:sp>
      <p:sp>
        <p:nvSpPr>
          <p:cNvPr id="12" name="Rectangle 11"/>
          <p:cNvSpPr/>
          <p:nvPr/>
        </p:nvSpPr>
        <p:spPr>
          <a:xfrm>
            <a:off x="5029200" y="457200"/>
            <a:ext cx="6702552" cy="5943600"/>
          </a:xfrm>
          <a:prstGeom prst="rect">
            <a:avLst/>
          </a:prstGeom>
          <a:solidFill>
            <a:srgbClr val="EEEEEE"/>
          </a:solidFill>
          <a:ln w="12700">
            <a:solidFill>
              <a:srgbClr val="5A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03520" y="914400"/>
            <a:ext cx="6153912" cy="7315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0" y="1097280"/>
            <a:ext cx="5486400" cy="457200"/>
          </a:xfrm>
          <a:prstGeom prst="rect">
            <a:avLst/>
          </a:prstGeom>
          <a:noFill/>
        </p:spPr>
        <p:txBody>
          <a:bodyPr wrap="none">
            <a:spAutoFit/>
          </a:bodyPr>
          <a:lstStyle/>
          <a:p>
            <a:pPr>
              <a:defRPr sz="1600" b="1" i="0">
                <a:solidFill>
                  <a:srgbClr val="FFFFFF"/>
                </a:solidFill>
                <a:latin typeface="Calibri Bold"/>
              </a:defRPr>
            </a:pPr>
            <a:r>
              <a:t>Phase 1: PoC Execution | Metric: # PoCs</a:t>
            </a:r>
          </a:p>
        </p:txBody>
      </p:sp>
      <p:sp>
        <p:nvSpPr>
          <p:cNvPr id="15" name="Rectangle 14"/>
          <p:cNvSpPr/>
          <p:nvPr/>
        </p:nvSpPr>
        <p:spPr>
          <a:xfrm>
            <a:off x="5303520" y="1828800"/>
            <a:ext cx="1920240" cy="914400"/>
          </a:xfrm>
          <a:prstGeom prst="rect">
            <a:avLst/>
          </a:prstGeom>
          <a:solidFill>
            <a:srgbClr val="FFFFFF"/>
          </a:solidFill>
          <a:ln w="12700">
            <a:solidFill>
              <a:srgbClr val="5A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1828800"/>
            <a:ext cx="1920240" cy="914400"/>
          </a:xfrm>
          <a:prstGeom prst="rect">
            <a:avLst/>
          </a:prstGeom>
          <a:solidFill>
            <a:srgbClr val="FFFFFF"/>
          </a:solidFill>
          <a:ln w="12700">
            <a:solidFill>
              <a:srgbClr val="5A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509759" y="1828800"/>
            <a:ext cx="1920240" cy="914400"/>
          </a:xfrm>
          <a:prstGeom prst="rect">
            <a:avLst/>
          </a:prstGeom>
          <a:solidFill>
            <a:srgbClr val="FFFFFF"/>
          </a:solidFill>
          <a:ln w="12700">
            <a:solidFill>
              <a:srgbClr val="5A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0" y="2926080"/>
            <a:ext cx="3017520" cy="1371600"/>
          </a:xfrm>
          <a:prstGeom prst="rect">
            <a:avLst/>
          </a:prstGeom>
          <a:solidFill>
            <a:srgbClr val="FFFFFF"/>
          </a:solidFill>
          <a:ln w="12700">
            <a:solidFill>
              <a:srgbClr val="5A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0" y="3108960"/>
            <a:ext cx="2743200" cy="914400"/>
          </a:xfrm>
          <a:prstGeom prst="rect">
            <a:avLst/>
          </a:prstGeom>
          <a:noFill/>
        </p:spPr>
        <p:txBody>
          <a:bodyPr wrap="none">
            <a:spAutoFit/>
          </a:bodyPr>
          <a:lstStyle/>
          <a:p>
            <a:pPr>
              <a:defRPr sz="1200" b="0" i="0">
                <a:solidFill>
                  <a:srgbClr val="1E2761"/>
                </a:solidFill>
                <a:latin typeface="Calibri Light"/>
              </a:defRPr>
            </a:pPr>
            <a:r>
              <a:t>Streaks: Oriol (1) Arnau (0) Adam (0)</a:t>
            </a:r>
          </a:p>
        </p:txBody>
      </p:sp>
      <p:sp>
        <p:nvSpPr>
          <p:cNvPr id="20" name="Rectangle 19"/>
          <p:cNvSpPr/>
          <p:nvPr/>
        </p:nvSpPr>
        <p:spPr>
          <a:xfrm>
            <a:off x="8503920" y="2926080"/>
            <a:ext cx="2926080" cy="1371600"/>
          </a:xfrm>
          <a:prstGeom prst="rect">
            <a:avLst/>
          </a:prstGeom>
          <a:solidFill>
            <a:srgbClr val="FFFFFF"/>
          </a:solidFill>
          <a:ln w="12700">
            <a:solidFill>
              <a:srgbClr val="5A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03520" y="4480560"/>
            <a:ext cx="6153912" cy="1371600"/>
          </a:xfrm>
          <a:prstGeom prst="rect">
            <a:avLst/>
          </a:prstGeom>
          <a:solidFill>
            <a:srgbClr val="FFFFFF"/>
          </a:solidFill>
          <a:ln w="12700">
            <a:solidFill>
              <a:srgbClr val="5A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Four tools. One job each.</a:t>
            </a:r>
          </a:p>
        </p:txBody>
      </p:sp>
      <p:sp>
        <p:nvSpPr>
          <p:cNvPr id="3" name="Rectangle 2"/>
          <p:cNvSpPr/>
          <p:nvPr/>
        </p:nvSpPr>
        <p:spPr>
          <a:xfrm>
            <a:off x="1371600" y="1371600"/>
            <a:ext cx="4572000" cy="18288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91440" cy="18288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554480"/>
            <a:ext cx="4114800" cy="457200"/>
          </a:xfrm>
          <a:prstGeom prst="rect">
            <a:avLst/>
          </a:prstGeom>
          <a:noFill/>
        </p:spPr>
        <p:txBody>
          <a:bodyPr wrap="none">
            <a:spAutoFit/>
          </a:bodyPr>
          <a:lstStyle/>
          <a:p>
            <a:pPr>
              <a:defRPr sz="2000" b="1" i="0">
                <a:solidFill>
                  <a:srgbClr val="1E2761"/>
                </a:solidFill>
                <a:latin typeface="Calibri Bold"/>
              </a:defRPr>
            </a:pPr>
            <a:r>
              <a:t>Notion</a:t>
            </a:r>
          </a:p>
        </p:txBody>
      </p:sp>
      <p:sp>
        <p:nvSpPr>
          <p:cNvPr id="6" name="TextBox 5"/>
          <p:cNvSpPr txBox="1"/>
          <p:nvPr/>
        </p:nvSpPr>
        <p:spPr>
          <a:xfrm>
            <a:off x="1645920" y="2011680"/>
            <a:ext cx="4114800" cy="457200"/>
          </a:xfrm>
          <a:prstGeom prst="rect">
            <a:avLst/>
          </a:prstGeom>
          <a:noFill/>
        </p:spPr>
        <p:txBody>
          <a:bodyPr wrap="none">
            <a:spAutoFit/>
          </a:bodyPr>
          <a:lstStyle/>
          <a:p>
            <a:pPr>
              <a:defRPr sz="1400" b="0" i="0">
                <a:solidFill>
                  <a:srgbClr val="5A6E8C"/>
                </a:solidFill>
                <a:latin typeface="Calibri Light"/>
              </a:defRPr>
            </a:pPr>
            <a:r>
              <a:t>Company OS — all structured knowledge</a:t>
            </a:r>
          </a:p>
        </p:txBody>
      </p:sp>
      <p:sp>
        <p:nvSpPr>
          <p:cNvPr id="7" name="TextBox 6"/>
          <p:cNvSpPr txBox="1"/>
          <p:nvPr/>
        </p:nvSpPr>
        <p:spPr>
          <a:xfrm>
            <a:off x="1645920" y="2468880"/>
            <a:ext cx="4114800" cy="457200"/>
          </a:xfrm>
          <a:prstGeom prst="rect">
            <a:avLst/>
          </a:prstGeom>
          <a:noFill/>
        </p:spPr>
        <p:txBody>
          <a:bodyPr wrap="none">
            <a:spAutoFit/>
          </a:bodyPr>
          <a:lstStyle/>
          <a:p>
            <a:pPr>
              <a:defRPr sz="1400" b="1" i="0">
                <a:solidFill>
                  <a:srgbClr val="1E2761"/>
                </a:solidFill>
                <a:latin typeface="Calibri Bold"/>
              </a:defRPr>
            </a:pPr>
            <a:r>
              <a:t>If it's a decision, goal, log, or summary → Notion</a:t>
            </a:r>
          </a:p>
        </p:txBody>
      </p:sp>
      <p:sp>
        <p:nvSpPr>
          <p:cNvPr id="8" name="Rectangle 7"/>
          <p:cNvSpPr/>
          <p:nvPr/>
        </p:nvSpPr>
        <p:spPr>
          <a:xfrm>
            <a:off x="6400800" y="1371600"/>
            <a:ext cx="4572000" cy="18288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371600"/>
            <a:ext cx="91440" cy="1828800"/>
          </a:xfrm>
          <a:prstGeom prst="rect">
            <a:avLst/>
          </a:prstGeom>
          <a:solidFill>
            <a:srgbClr val="5865F2"/>
          </a:solidFill>
          <a:ln w="12700">
            <a:solidFill>
              <a:srgbClr val="586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554480"/>
            <a:ext cx="4114800" cy="457200"/>
          </a:xfrm>
          <a:prstGeom prst="rect">
            <a:avLst/>
          </a:prstGeom>
          <a:noFill/>
        </p:spPr>
        <p:txBody>
          <a:bodyPr wrap="none">
            <a:spAutoFit/>
          </a:bodyPr>
          <a:lstStyle/>
          <a:p>
            <a:pPr>
              <a:defRPr sz="2000" b="1" i="0">
                <a:solidFill>
                  <a:srgbClr val="1E2761"/>
                </a:solidFill>
                <a:latin typeface="Calibri Bold"/>
              </a:defRPr>
            </a:pPr>
            <a:r>
              <a:t>Discord</a:t>
            </a:r>
          </a:p>
        </p:txBody>
      </p:sp>
      <p:sp>
        <p:nvSpPr>
          <p:cNvPr id="11" name="TextBox 10"/>
          <p:cNvSpPr txBox="1"/>
          <p:nvPr/>
        </p:nvSpPr>
        <p:spPr>
          <a:xfrm>
            <a:off x="6675120" y="2011680"/>
            <a:ext cx="4114800" cy="457200"/>
          </a:xfrm>
          <a:prstGeom prst="rect">
            <a:avLst/>
          </a:prstGeom>
          <a:noFill/>
        </p:spPr>
        <p:txBody>
          <a:bodyPr wrap="none">
            <a:spAutoFit/>
          </a:bodyPr>
          <a:lstStyle/>
          <a:p>
            <a:pPr>
              <a:defRPr sz="1400" b="0" i="0">
                <a:solidFill>
                  <a:srgbClr val="5A6E8C"/>
                </a:solidFill>
                <a:latin typeface="Calibri Light"/>
              </a:defRPr>
            </a:pPr>
            <a:r>
              <a:t>Real-time async comms + voice</a:t>
            </a:r>
          </a:p>
        </p:txBody>
      </p:sp>
      <p:sp>
        <p:nvSpPr>
          <p:cNvPr id="12" name="TextBox 11"/>
          <p:cNvSpPr txBox="1"/>
          <p:nvPr/>
        </p:nvSpPr>
        <p:spPr>
          <a:xfrm>
            <a:off x="6675120" y="2468880"/>
            <a:ext cx="4114800" cy="457200"/>
          </a:xfrm>
          <a:prstGeom prst="rect">
            <a:avLst/>
          </a:prstGeom>
          <a:noFill/>
        </p:spPr>
        <p:txBody>
          <a:bodyPr wrap="none">
            <a:spAutoFit/>
          </a:bodyPr>
          <a:lstStyle/>
          <a:p>
            <a:pPr>
              <a:defRPr sz="1400" b="1" i="0">
                <a:solidFill>
                  <a:srgbClr val="1E2761"/>
                </a:solidFill>
                <a:latin typeface="Calibri Bold"/>
              </a:defRPr>
            </a:pPr>
            <a:r>
              <a:t>Working memory. Ephemeral. Decisions migrate to Notion.</a:t>
            </a:r>
          </a:p>
        </p:txBody>
      </p:sp>
      <p:sp>
        <p:nvSpPr>
          <p:cNvPr id="13" name="Rectangle 12"/>
          <p:cNvSpPr/>
          <p:nvPr/>
        </p:nvSpPr>
        <p:spPr>
          <a:xfrm>
            <a:off x="1371600" y="3657600"/>
            <a:ext cx="4572000" cy="18288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71600" y="3657600"/>
            <a:ext cx="91440" cy="1828800"/>
          </a:xfrm>
          <a:prstGeom prst="rect">
            <a:avLst/>
          </a:prstGeom>
          <a:solidFill>
            <a:srgbClr val="34A853"/>
          </a:solidFill>
          <a:ln w="1270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45920" y="3840480"/>
            <a:ext cx="4114800" cy="457200"/>
          </a:xfrm>
          <a:prstGeom prst="rect">
            <a:avLst/>
          </a:prstGeom>
          <a:noFill/>
        </p:spPr>
        <p:txBody>
          <a:bodyPr wrap="none">
            <a:spAutoFit/>
          </a:bodyPr>
          <a:lstStyle/>
          <a:p>
            <a:pPr>
              <a:defRPr sz="2000" b="1" i="0">
                <a:solidFill>
                  <a:srgbClr val="1E2761"/>
                </a:solidFill>
                <a:latin typeface="Calibri Bold"/>
              </a:defRPr>
            </a:pPr>
            <a:r>
              <a:t>Drive</a:t>
            </a:r>
          </a:p>
        </p:txBody>
      </p:sp>
      <p:sp>
        <p:nvSpPr>
          <p:cNvPr id="16" name="TextBox 15"/>
          <p:cNvSpPr txBox="1"/>
          <p:nvPr/>
        </p:nvSpPr>
        <p:spPr>
          <a:xfrm>
            <a:off x="1645920" y="4297680"/>
            <a:ext cx="4114800" cy="457200"/>
          </a:xfrm>
          <a:prstGeom prst="rect">
            <a:avLst/>
          </a:prstGeom>
          <a:noFill/>
        </p:spPr>
        <p:txBody>
          <a:bodyPr wrap="none">
            <a:spAutoFit/>
          </a:bodyPr>
          <a:lstStyle/>
          <a:p>
            <a:pPr>
              <a:defRPr sz="1400" b="0" i="0">
                <a:solidFill>
                  <a:srgbClr val="5A6E8C"/>
                </a:solidFill>
                <a:latin typeface="Calibri Light"/>
              </a:defRPr>
            </a:pPr>
            <a:r>
              <a:t>Binary blobs only</a:t>
            </a:r>
          </a:p>
        </p:txBody>
      </p:sp>
      <p:sp>
        <p:nvSpPr>
          <p:cNvPr id="17" name="TextBox 16"/>
          <p:cNvSpPr txBox="1"/>
          <p:nvPr/>
        </p:nvSpPr>
        <p:spPr>
          <a:xfrm>
            <a:off x="1645920" y="4754880"/>
            <a:ext cx="4114800" cy="457200"/>
          </a:xfrm>
          <a:prstGeom prst="rect">
            <a:avLst/>
          </a:prstGeom>
          <a:noFill/>
        </p:spPr>
        <p:txBody>
          <a:bodyPr wrap="none">
            <a:spAutoFit/>
          </a:bodyPr>
          <a:lstStyle/>
          <a:p>
            <a:pPr>
              <a:defRPr sz="1400" b="1" i="0">
                <a:solidFill>
                  <a:srgbClr val="1E2761"/>
                </a:solidFill>
                <a:latin typeface="Calibri Bold"/>
              </a:defRPr>
            </a:pPr>
            <a:r>
              <a:t>PPTs, contracts, invoices, CSV exports, large files</a:t>
            </a:r>
          </a:p>
        </p:txBody>
      </p:sp>
      <p:sp>
        <p:nvSpPr>
          <p:cNvPr id="18" name="Rectangle 17"/>
          <p:cNvSpPr/>
          <p:nvPr/>
        </p:nvSpPr>
        <p:spPr>
          <a:xfrm>
            <a:off x="6400800" y="3657600"/>
            <a:ext cx="4572000" cy="18288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3657600"/>
            <a:ext cx="91440" cy="1828800"/>
          </a:xfrm>
          <a:prstGeom prst="rect">
            <a:avLst/>
          </a:prstGeom>
          <a:solidFill>
            <a:srgbClr val="25D366"/>
          </a:solidFill>
          <a:ln w="12700">
            <a:solidFill>
              <a:srgbClr val="25D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3840480"/>
            <a:ext cx="4114800" cy="457200"/>
          </a:xfrm>
          <a:prstGeom prst="rect">
            <a:avLst/>
          </a:prstGeom>
          <a:noFill/>
        </p:spPr>
        <p:txBody>
          <a:bodyPr wrap="none">
            <a:spAutoFit/>
          </a:bodyPr>
          <a:lstStyle/>
          <a:p>
            <a:pPr>
              <a:defRPr sz="2000" b="1" i="0">
                <a:solidFill>
                  <a:srgbClr val="1E2761"/>
                </a:solidFill>
                <a:latin typeface="Calibri Bold"/>
              </a:defRPr>
            </a:pPr>
            <a:r>
              <a:t>WhatsApp</a:t>
            </a:r>
          </a:p>
        </p:txBody>
      </p:sp>
      <p:sp>
        <p:nvSpPr>
          <p:cNvPr id="21" name="TextBox 20"/>
          <p:cNvSpPr txBox="1"/>
          <p:nvPr/>
        </p:nvSpPr>
        <p:spPr>
          <a:xfrm>
            <a:off x="6675120" y="4297680"/>
            <a:ext cx="4114800" cy="457200"/>
          </a:xfrm>
          <a:prstGeom prst="rect">
            <a:avLst/>
          </a:prstGeom>
          <a:noFill/>
        </p:spPr>
        <p:txBody>
          <a:bodyPr wrap="none">
            <a:spAutoFit/>
          </a:bodyPr>
          <a:lstStyle/>
          <a:p>
            <a:pPr>
              <a:defRPr sz="1400" b="0" i="0">
                <a:solidFill>
                  <a:srgbClr val="5A6E8C"/>
                </a:solidFill>
                <a:latin typeface="Calibri Light"/>
              </a:defRPr>
            </a:pPr>
            <a:r>
              <a:t>Personal / emergency only</a:t>
            </a:r>
          </a:p>
        </p:txBody>
      </p:sp>
      <p:sp>
        <p:nvSpPr>
          <p:cNvPr id="22" name="TextBox 21"/>
          <p:cNvSpPr txBox="1"/>
          <p:nvPr/>
        </p:nvSpPr>
        <p:spPr>
          <a:xfrm>
            <a:off x="6675120" y="4754880"/>
            <a:ext cx="4114800" cy="457200"/>
          </a:xfrm>
          <a:prstGeom prst="rect">
            <a:avLst/>
          </a:prstGeom>
          <a:noFill/>
        </p:spPr>
        <p:txBody>
          <a:bodyPr wrap="none">
            <a:spAutoFit/>
          </a:bodyPr>
          <a:lstStyle/>
          <a:p>
            <a:pPr>
              <a:defRPr sz="1400" b="1" i="0">
                <a:solidFill>
                  <a:srgbClr val="1E2761"/>
                </a:solidFill>
                <a:latin typeface="Calibri Bold"/>
              </a:defRPr>
            </a:pPr>
            <a:r>
              <a:t>Urgent pings that cannot wait for Discord</a:t>
            </a:r>
          </a:p>
        </p:txBody>
      </p:sp>
      <p:sp>
        <p:nvSpPr>
          <p:cNvPr id="23" name="Rectangle 22"/>
          <p:cNvSpPr/>
          <p:nvPr/>
        </p:nvSpPr>
        <p:spPr>
          <a:xfrm>
            <a:off x="1371600" y="5943600"/>
            <a:ext cx="9601200" cy="548640"/>
          </a:xfrm>
          <a:prstGeom prst="rect">
            <a:avLst/>
          </a:prstGeom>
          <a:solidFill>
            <a:srgbClr val="FDE2E3"/>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371600" y="5943600"/>
            <a:ext cx="91440" cy="548640"/>
          </a:xfrm>
          <a:prstGeom prst="rect">
            <a:avLst/>
          </a:prstGeom>
          <a:solidFill>
            <a:srgbClr val="F96167"/>
          </a:solidFill>
          <a:ln w="12700">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45920" y="6035040"/>
            <a:ext cx="9144000" cy="457200"/>
          </a:xfrm>
          <a:prstGeom prst="rect">
            <a:avLst/>
          </a:prstGeom>
          <a:noFill/>
        </p:spPr>
        <p:txBody>
          <a:bodyPr wrap="none">
            <a:spAutoFit/>
          </a:bodyPr>
          <a:lstStyle/>
          <a:p>
            <a:pPr>
              <a:defRPr sz="1400" b="1" i="0">
                <a:solidFill>
                  <a:srgbClr val="1E2761"/>
                </a:solidFill>
                <a:latin typeface="Calibri Bold"/>
              </a:defRPr>
            </a:pPr>
            <a:r>
              <a:t>❌ Slack: not used. Redundant with Discord at 3 people. Revisit at first hire.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0" y="914400"/>
            <a:ext cx="2743200" cy="3657600"/>
          </a:xfrm>
          <a:prstGeom prst="rect">
            <a:avLst/>
          </a:prstGeom>
          <a:noFill/>
        </p:spPr>
        <p:txBody>
          <a:bodyPr wrap="none">
            <a:spAutoFit/>
          </a:bodyPr>
          <a:lstStyle/>
          <a:p>
            <a:pPr algn="ctr">
              <a:defRPr sz="12000" b="1" i="0">
                <a:solidFill>
                  <a:srgbClr val="2A3882"/>
                </a:solidFill>
                <a:latin typeface="Calibri Bold"/>
              </a:defRPr>
            </a:pPr>
            <a:r>
              <a:t>02</a:t>
            </a:r>
          </a:p>
        </p:txBody>
      </p:sp>
      <p:sp>
        <p:nvSpPr>
          <p:cNvPr id="3" name="TextBox 2"/>
          <p:cNvSpPr txBox="1"/>
          <p:nvPr/>
        </p:nvSpPr>
        <p:spPr>
          <a:xfrm>
            <a:off x="1828800" y="2743200"/>
            <a:ext cx="8531352" cy="914400"/>
          </a:xfrm>
          <a:prstGeom prst="rect">
            <a:avLst/>
          </a:prstGeom>
          <a:noFill/>
        </p:spPr>
        <p:txBody>
          <a:bodyPr wrap="none">
            <a:spAutoFit/>
          </a:bodyPr>
          <a:lstStyle/>
          <a:p>
            <a:pPr algn="ctr">
              <a:defRPr sz="4400" b="1" i="0">
                <a:solidFill>
                  <a:srgbClr val="FFFFFF"/>
                </a:solidFill>
                <a:latin typeface="Calibri Bold"/>
              </a:defRPr>
            </a:pPr>
            <a:r>
              <a:t>Where We're Going</a:t>
            </a:r>
          </a:p>
        </p:txBody>
      </p:sp>
      <p:sp>
        <p:nvSpPr>
          <p:cNvPr id="4" name="TextBox 3"/>
          <p:cNvSpPr txBox="1"/>
          <p:nvPr/>
        </p:nvSpPr>
        <p:spPr>
          <a:xfrm>
            <a:off x="1828800" y="3657600"/>
            <a:ext cx="8531352" cy="457200"/>
          </a:xfrm>
          <a:prstGeom prst="rect">
            <a:avLst/>
          </a:prstGeom>
          <a:noFill/>
        </p:spPr>
        <p:txBody>
          <a:bodyPr wrap="none">
            <a:spAutoFit/>
          </a:bodyPr>
          <a:lstStyle/>
          <a:p>
            <a:pPr algn="ctr">
              <a:defRPr sz="2000" b="0" i="0">
                <a:solidFill>
                  <a:srgbClr val="CADCFC"/>
                </a:solidFill>
                <a:latin typeface="Calibri"/>
              </a:defRPr>
            </a:pPr>
            <a:r>
              <a:t>Phase model, growth math, and our 2026 OKR cascade</a:t>
            </a:r>
          </a:p>
        </p:txBody>
      </p:sp>
      <p:sp>
        <p:nvSpPr>
          <p:cNvPr id="5" name="Rectangle 4"/>
          <p:cNvSpPr/>
          <p:nvPr/>
        </p:nvSpPr>
        <p:spPr>
          <a:xfrm>
            <a:off x="3657600" y="4389120"/>
            <a:ext cx="4873752" cy="27432"/>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Two different questions</a:t>
            </a:r>
          </a:p>
        </p:txBody>
      </p:sp>
      <p:sp>
        <p:nvSpPr>
          <p:cNvPr id="3" name="Rectangle 2"/>
          <p:cNvSpPr/>
          <p:nvPr/>
        </p:nvSpPr>
        <p:spPr>
          <a:xfrm>
            <a:off x="457200" y="1371600"/>
            <a:ext cx="5303520" cy="50292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91440" cy="5029200"/>
          </a:xfrm>
          <a:prstGeom prst="rect">
            <a:avLst/>
          </a:prstGeom>
          <a:solidFill>
            <a:srgbClr val="1E2761"/>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731520" cy="2743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731520" cy="274320"/>
          </a:xfrm>
          <a:prstGeom prst="rect">
            <a:avLst/>
          </a:prstGeom>
          <a:noFill/>
        </p:spPr>
        <p:txBody>
          <a:bodyPr wrap="none">
            <a:spAutoFit/>
          </a:bodyPr>
          <a:lstStyle/>
          <a:p>
            <a:pPr algn="ctr">
              <a:defRPr sz="1400" b="1" i="0">
                <a:solidFill>
                  <a:srgbClr val="FFFFFF"/>
                </a:solidFill>
                <a:latin typeface="Calibri Bold"/>
              </a:defRPr>
            </a:pPr>
            <a:r>
              <a:t>KPI</a:t>
            </a:r>
          </a:p>
        </p:txBody>
      </p:sp>
      <p:sp>
        <p:nvSpPr>
          <p:cNvPr id="7" name="TextBox 6"/>
          <p:cNvSpPr txBox="1"/>
          <p:nvPr/>
        </p:nvSpPr>
        <p:spPr>
          <a:xfrm>
            <a:off x="731520" y="2103120"/>
            <a:ext cx="4572000" cy="457200"/>
          </a:xfrm>
          <a:prstGeom prst="rect">
            <a:avLst/>
          </a:prstGeom>
          <a:noFill/>
        </p:spPr>
        <p:txBody>
          <a:bodyPr wrap="none">
            <a:spAutoFit/>
          </a:bodyPr>
          <a:lstStyle/>
          <a:p>
            <a:pPr>
              <a:defRPr sz="1800" b="1" i="0">
                <a:solidFill>
                  <a:srgbClr val="1E2761"/>
                </a:solidFill>
                <a:latin typeface="Calibri Bold"/>
              </a:defRPr>
            </a:pPr>
            <a:r>
              <a:t>Is the business healthy right now?</a:t>
            </a:r>
          </a:p>
        </p:txBody>
      </p:sp>
      <p:sp>
        <p:nvSpPr>
          <p:cNvPr id="8" name="TextBox 7"/>
          <p:cNvSpPr txBox="1"/>
          <p:nvPr/>
        </p:nvSpPr>
        <p:spPr>
          <a:xfrm>
            <a:off x="731520" y="2651760"/>
            <a:ext cx="4572000" cy="457200"/>
          </a:xfrm>
          <a:prstGeom prst="rect">
            <a:avLst/>
          </a:prstGeom>
          <a:noFill/>
        </p:spPr>
        <p:txBody>
          <a:bodyPr wrap="none">
            <a:spAutoFit/>
          </a:bodyPr>
          <a:lstStyle/>
          <a:p>
            <a:pPr>
              <a:defRPr sz="1400" b="0" i="0">
                <a:solidFill>
                  <a:srgbClr val="5A6E8C"/>
                </a:solidFill>
                <a:latin typeface="Calibri Light"/>
              </a:defRPr>
            </a:pPr>
            <a:r>
              <a:t>Permanent dials on your dashboard. Never disappear. Measured every week forever.</a:t>
            </a:r>
          </a:p>
        </p:txBody>
      </p:sp>
      <p:sp>
        <p:nvSpPr>
          <p:cNvPr id="9" name="TextBox 8"/>
          <p:cNvSpPr txBox="1"/>
          <p:nvPr/>
        </p:nvSpPr>
        <p:spPr>
          <a:xfrm>
            <a:off x="914400" y="3474720"/>
            <a:ext cx="3657600" cy="1371600"/>
          </a:xfrm>
          <a:prstGeom prst="rect">
            <a:avLst/>
          </a:prstGeom>
          <a:noFill/>
        </p:spPr>
        <p:txBody>
          <a:bodyPr wrap="none">
            <a:spAutoFit/>
          </a:bodyPr>
          <a:lstStyle/>
          <a:p>
            <a:pPr>
              <a:defRPr sz="1400" b="0" i="0">
                <a:solidFill>
                  <a:srgbClr val="1E2761"/>
                </a:solidFill>
                <a:latin typeface="Calibri Light"/>
              </a:defRPr>
            </a:pPr>
            <a:r>
              <a:t>• ARR</a:t>
            </a:r>
            <a:br/>
            <a:r>
              <a:t>• Pipeline count</a:t>
            </a:r>
            <a:br/>
            <a:r>
              <a:t>• Burn rate</a:t>
            </a:r>
            <a:br/>
            <a:r>
              <a:t>• A score</a:t>
            </a:r>
            <a:br/>
            <a:r>
              <a:t>• Runway</a:t>
            </a:r>
          </a:p>
        </p:txBody>
      </p:sp>
      <p:sp>
        <p:nvSpPr>
          <p:cNvPr id="10" name="TextBox 9"/>
          <p:cNvSpPr txBox="1"/>
          <p:nvPr/>
        </p:nvSpPr>
        <p:spPr>
          <a:xfrm>
            <a:off x="731520" y="5943600"/>
            <a:ext cx="2743200" cy="274320"/>
          </a:xfrm>
          <a:prstGeom prst="rect">
            <a:avLst/>
          </a:prstGeom>
          <a:noFill/>
        </p:spPr>
        <p:txBody>
          <a:bodyPr wrap="none">
            <a:spAutoFit/>
          </a:bodyPr>
          <a:lstStyle/>
          <a:p>
            <a:pPr>
              <a:defRPr sz="1100" b="1" i="0">
                <a:solidFill>
                  <a:srgbClr val="5A6E8C"/>
                </a:solidFill>
                <a:latin typeface="Calibri Bold"/>
              </a:defRPr>
            </a:pPr>
            <a:r>
              <a:t>READ WEEKLY</a:t>
            </a:r>
          </a:p>
        </p:txBody>
      </p:sp>
      <p:sp>
        <p:nvSpPr>
          <p:cNvPr id="11" name="Rectangle 10"/>
          <p:cNvSpPr/>
          <p:nvPr/>
        </p:nvSpPr>
        <p:spPr>
          <a:xfrm>
            <a:off x="6400800" y="1371600"/>
            <a:ext cx="5303520" cy="50292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371600"/>
            <a:ext cx="91440" cy="50292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75120" y="1645920"/>
            <a:ext cx="731520" cy="27432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645920"/>
            <a:ext cx="731520" cy="274320"/>
          </a:xfrm>
          <a:prstGeom prst="rect">
            <a:avLst/>
          </a:prstGeom>
          <a:noFill/>
        </p:spPr>
        <p:txBody>
          <a:bodyPr wrap="none">
            <a:spAutoFit/>
          </a:bodyPr>
          <a:lstStyle/>
          <a:p>
            <a:pPr algn="ctr">
              <a:defRPr sz="1400" b="1" i="0">
                <a:solidFill>
                  <a:srgbClr val="1E2761"/>
                </a:solidFill>
                <a:latin typeface="Calibri Bold"/>
              </a:defRPr>
            </a:pPr>
            <a:r>
              <a:t>OKR</a:t>
            </a:r>
          </a:p>
        </p:txBody>
      </p:sp>
      <p:sp>
        <p:nvSpPr>
          <p:cNvPr id="15" name="TextBox 14"/>
          <p:cNvSpPr txBox="1"/>
          <p:nvPr/>
        </p:nvSpPr>
        <p:spPr>
          <a:xfrm>
            <a:off x="6675120" y="2103120"/>
            <a:ext cx="4572000" cy="457200"/>
          </a:xfrm>
          <a:prstGeom prst="rect">
            <a:avLst/>
          </a:prstGeom>
          <a:noFill/>
        </p:spPr>
        <p:txBody>
          <a:bodyPr wrap="none">
            <a:spAutoFit/>
          </a:bodyPr>
          <a:lstStyle/>
          <a:p>
            <a:pPr>
              <a:defRPr sz="1800" b="1" i="0">
                <a:solidFill>
                  <a:srgbClr val="1E2761"/>
                </a:solidFill>
                <a:latin typeface="Calibri Bold"/>
              </a:defRPr>
            </a:pPr>
            <a:r>
              <a:t>Where are we trying to go this quarter?</a:t>
            </a:r>
          </a:p>
        </p:txBody>
      </p:sp>
      <p:sp>
        <p:nvSpPr>
          <p:cNvPr id="16" name="TextBox 15"/>
          <p:cNvSpPr txBox="1"/>
          <p:nvPr/>
        </p:nvSpPr>
        <p:spPr>
          <a:xfrm>
            <a:off x="6675120" y="2651760"/>
            <a:ext cx="4572000" cy="457200"/>
          </a:xfrm>
          <a:prstGeom prst="rect">
            <a:avLst/>
          </a:prstGeom>
          <a:noFill/>
        </p:spPr>
        <p:txBody>
          <a:bodyPr wrap="none">
            <a:spAutoFit/>
          </a:bodyPr>
          <a:lstStyle/>
          <a:p>
            <a:pPr>
              <a:defRPr sz="1400" b="0" i="0">
                <a:solidFill>
                  <a:srgbClr val="5A6E8C"/>
                </a:solidFill>
                <a:latin typeface="Calibri Light"/>
              </a:defRPr>
            </a:pPr>
            <a:r>
              <a:t>Temporary targets with an expiry date. Die at end of quarter. Hit or missed, then replaced.</a:t>
            </a:r>
          </a:p>
        </p:txBody>
      </p:sp>
      <p:sp>
        <p:nvSpPr>
          <p:cNvPr id="17" name="TextBox 16"/>
          <p:cNvSpPr txBox="1"/>
          <p:nvPr/>
        </p:nvSpPr>
        <p:spPr>
          <a:xfrm>
            <a:off x="6858000" y="3474720"/>
            <a:ext cx="4572000" cy="1371600"/>
          </a:xfrm>
          <a:prstGeom prst="rect">
            <a:avLst/>
          </a:prstGeom>
          <a:noFill/>
        </p:spPr>
        <p:txBody>
          <a:bodyPr wrap="none">
            <a:spAutoFit/>
          </a:bodyPr>
          <a:lstStyle/>
          <a:p>
            <a:pPr>
              <a:defRPr sz="1400" b="0" i="0">
                <a:solidFill>
                  <a:srgbClr val="1E2761"/>
                </a:solidFill>
                <a:latin typeface="Calibri Light"/>
              </a:defRPr>
            </a:pPr>
            <a:r>
              <a:t>Objective: Prove product-market fit in industrial SMEs</a:t>
            </a:r>
            <a:br/>
            <a:r>
              <a:t>   KR1: 2 paying PoCs by Jun 30</a:t>
            </a:r>
            <a:br/>
            <a:r>
              <a:t>   KR2: A score &gt; 0.80 on Decfa corpus</a:t>
            </a:r>
            <a:br/>
            <a:r>
              <a:t>   KR3: 5 qualified pipeline conversations</a:t>
            </a:r>
          </a:p>
        </p:txBody>
      </p:sp>
      <p:sp>
        <p:nvSpPr>
          <p:cNvPr id="18" name="TextBox 17"/>
          <p:cNvSpPr txBox="1"/>
          <p:nvPr/>
        </p:nvSpPr>
        <p:spPr>
          <a:xfrm>
            <a:off x="6675120" y="5943600"/>
            <a:ext cx="2743200" cy="274320"/>
          </a:xfrm>
          <a:prstGeom prst="rect">
            <a:avLst/>
          </a:prstGeom>
          <a:noFill/>
        </p:spPr>
        <p:txBody>
          <a:bodyPr wrap="none">
            <a:spAutoFit/>
          </a:bodyPr>
          <a:lstStyle/>
          <a:p>
            <a:pPr>
              <a:defRPr sz="1100" b="1" i="0">
                <a:solidFill>
                  <a:srgbClr val="5A6E8C"/>
                </a:solidFill>
                <a:latin typeface="Calibri Bold"/>
              </a:defRPr>
            </a:pPr>
            <a:r>
              <a:t>REVIEWED QUARTERLY</a:t>
            </a:r>
          </a:p>
        </p:txBody>
      </p:sp>
      <p:sp>
        <p:nvSpPr>
          <p:cNvPr id="19" name="TextBox 18"/>
          <p:cNvSpPr txBox="1"/>
          <p:nvPr/>
        </p:nvSpPr>
        <p:spPr>
          <a:xfrm>
            <a:off x="457200" y="6583680"/>
            <a:ext cx="10972800" cy="274320"/>
          </a:xfrm>
          <a:prstGeom prst="rect">
            <a:avLst/>
          </a:prstGeom>
          <a:noFill/>
        </p:spPr>
        <p:txBody>
          <a:bodyPr wrap="none">
            <a:spAutoFit/>
          </a:bodyPr>
          <a:lstStyle/>
          <a:p>
            <a:pPr algn="ctr">
              <a:defRPr sz="1400" b="0" i="1">
                <a:solidFill>
                  <a:srgbClr val="1E2761"/>
                </a:solidFill>
                <a:latin typeface="Calibri Light"/>
              </a:defRPr>
            </a:pPr>
            <a:r>
              <a:t>The relationship: OKR defines the destination. KPI tells you if you're moving toward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457200"/>
            <a:ext cx="10972800" cy="731520"/>
          </a:xfrm>
          <a:prstGeom prst="rect">
            <a:avLst/>
          </a:prstGeom>
          <a:noFill/>
        </p:spPr>
        <p:txBody>
          <a:bodyPr wrap="none">
            <a:spAutoFit/>
          </a:bodyPr>
          <a:lstStyle/>
          <a:p>
            <a:pPr>
              <a:defRPr sz="3600" b="1" i="0">
                <a:solidFill>
                  <a:srgbClr val="FFFFFF"/>
                </a:solidFill>
                <a:latin typeface="Calibri Bold"/>
              </a:defRPr>
            </a:pPr>
            <a:r>
              <a:t>The ARR equation</a:t>
            </a:r>
          </a:p>
        </p:txBody>
      </p:sp>
      <p:sp>
        <p:nvSpPr>
          <p:cNvPr id="3" name="TextBox 2"/>
          <p:cNvSpPr txBox="1"/>
          <p:nvPr/>
        </p:nvSpPr>
        <p:spPr>
          <a:xfrm>
            <a:off x="457200" y="1828800"/>
            <a:ext cx="4572000" cy="274320"/>
          </a:xfrm>
          <a:prstGeom prst="rect">
            <a:avLst/>
          </a:prstGeom>
          <a:noFill/>
        </p:spPr>
        <p:txBody>
          <a:bodyPr wrap="none">
            <a:spAutoFit/>
          </a:bodyPr>
          <a:lstStyle/>
          <a:p>
            <a:pPr>
              <a:defRPr sz="1300" b="0" i="0">
                <a:solidFill>
                  <a:srgbClr val="5A6E8C"/>
                </a:solidFill>
                <a:latin typeface="Calibri Light"/>
              </a:defRPr>
            </a:pPr>
            <a:r>
              <a:t>Annual target</a:t>
            </a:r>
          </a:p>
        </p:txBody>
      </p:sp>
      <p:sp>
        <p:nvSpPr>
          <p:cNvPr id="4" name="TextBox 3"/>
          <p:cNvSpPr txBox="1"/>
          <p:nvPr/>
        </p:nvSpPr>
        <p:spPr>
          <a:xfrm>
            <a:off x="457200" y="2103120"/>
            <a:ext cx="4572000" cy="457200"/>
          </a:xfrm>
          <a:prstGeom prst="rect">
            <a:avLst/>
          </a:prstGeom>
          <a:noFill/>
        </p:spPr>
        <p:txBody>
          <a:bodyPr wrap="none">
            <a:spAutoFit/>
          </a:bodyPr>
          <a:lstStyle/>
          <a:p>
            <a:pPr>
              <a:defRPr sz="2200" b="1" i="0">
                <a:solidFill>
                  <a:srgbClr val="FFFFFF"/>
                </a:solidFill>
                <a:latin typeface="Calibri Bold"/>
              </a:defRPr>
            </a:pPr>
            <a:r>
              <a:t>ARR × 3</a:t>
            </a:r>
          </a:p>
        </p:txBody>
      </p:sp>
      <p:sp>
        <p:nvSpPr>
          <p:cNvPr id="5" name="TextBox 4"/>
          <p:cNvSpPr txBox="1"/>
          <p:nvPr/>
        </p:nvSpPr>
        <p:spPr>
          <a:xfrm>
            <a:off x="457200" y="2743200"/>
            <a:ext cx="4572000" cy="274320"/>
          </a:xfrm>
          <a:prstGeom prst="rect">
            <a:avLst/>
          </a:prstGeom>
          <a:noFill/>
        </p:spPr>
        <p:txBody>
          <a:bodyPr wrap="none">
            <a:spAutoFit/>
          </a:bodyPr>
          <a:lstStyle/>
          <a:p>
            <a:pPr>
              <a:defRPr sz="1300" b="0" i="0">
                <a:solidFill>
                  <a:srgbClr val="5A6E8C"/>
                </a:solidFill>
                <a:latin typeface="Calibri Light"/>
              </a:defRPr>
            </a:pPr>
            <a:r>
              <a:t>Quarterly target</a:t>
            </a:r>
          </a:p>
        </p:txBody>
      </p:sp>
      <p:sp>
        <p:nvSpPr>
          <p:cNvPr id="6" name="TextBox 5"/>
          <p:cNvSpPr txBox="1"/>
          <p:nvPr/>
        </p:nvSpPr>
        <p:spPr>
          <a:xfrm>
            <a:off x="457200" y="3017520"/>
            <a:ext cx="4572000" cy="457200"/>
          </a:xfrm>
          <a:prstGeom prst="rect">
            <a:avLst/>
          </a:prstGeom>
          <a:noFill/>
        </p:spPr>
        <p:txBody>
          <a:bodyPr wrap="none">
            <a:spAutoFit/>
          </a:bodyPr>
          <a:lstStyle/>
          <a:p>
            <a:pPr>
              <a:defRPr sz="2200" b="1" i="0">
                <a:solidFill>
                  <a:srgbClr val="FFFFFF"/>
                </a:solidFill>
                <a:latin typeface="Calibri Bold"/>
              </a:defRPr>
            </a:pPr>
            <a:r>
              <a:t>ARR × 1.75 per quarter</a:t>
            </a:r>
          </a:p>
        </p:txBody>
      </p:sp>
      <p:sp>
        <p:nvSpPr>
          <p:cNvPr id="7" name="TextBox 6"/>
          <p:cNvSpPr txBox="1"/>
          <p:nvPr/>
        </p:nvSpPr>
        <p:spPr>
          <a:xfrm>
            <a:off x="457200" y="3657600"/>
            <a:ext cx="4572000" cy="274320"/>
          </a:xfrm>
          <a:prstGeom prst="rect">
            <a:avLst/>
          </a:prstGeom>
          <a:noFill/>
        </p:spPr>
        <p:txBody>
          <a:bodyPr wrap="none">
            <a:spAutoFit/>
          </a:bodyPr>
          <a:lstStyle/>
          <a:p>
            <a:pPr>
              <a:defRPr sz="1300" b="0" i="0">
                <a:solidFill>
                  <a:srgbClr val="5A6E8C"/>
                </a:solidFill>
                <a:latin typeface="Calibri Light"/>
              </a:defRPr>
            </a:pPr>
            <a:r>
              <a:t>Weekly target</a:t>
            </a:r>
          </a:p>
        </p:txBody>
      </p:sp>
      <p:sp>
        <p:nvSpPr>
          <p:cNvPr id="8" name="TextBox 7"/>
          <p:cNvSpPr txBox="1"/>
          <p:nvPr/>
        </p:nvSpPr>
        <p:spPr>
          <a:xfrm>
            <a:off x="457200" y="3931920"/>
            <a:ext cx="4572000" cy="457200"/>
          </a:xfrm>
          <a:prstGeom prst="rect">
            <a:avLst/>
          </a:prstGeom>
          <a:noFill/>
        </p:spPr>
        <p:txBody>
          <a:bodyPr wrap="none">
            <a:spAutoFit/>
          </a:bodyPr>
          <a:lstStyle/>
          <a:p>
            <a:pPr>
              <a:defRPr sz="2200" b="1" i="0">
                <a:solidFill>
                  <a:srgbClr val="FFFFFF"/>
                </a:solidFill>
                <a:latin typeface="Calibri Bold"/>
              </a:defRPr>
            </a:pPr>
            <a:r>
              <a:t>ARR × 1.06 per week</a:t>
            </a:r>
          </a:p>
        </p:txBody>
      </p:sp>
      <p:sp>
        <p:nvSpPr>
          <p:cNvPr id="9" name="TextBox 8"/>
          <p:cNvSpPr txBox="1"/>
          <p:nvPr/>
        </p:nvSpPr>
        <p:spPr>
          <a:xfrm>
            <a:off x="457200" y="4754880"/>
            <a:ext cx="5486400" cy="731520"/>
          </a:xfrm>
          <a:prstGeom prst="rect">
            <a:avLst/>
          </a:prstGeom>
          <a:noFill/>
        </p:spPr>
        <p:txBody>
          <a:bodyPr wrap="none">
            <a:spAutoFit/>
          </a:bodyPr>
          <a:lstStyle/>
          <a:p>
            <a:pPr>
              <a:defRPr sz="3200" b="1" i="0">
                <a:solidFill>
                  <a:srgbClr val="4FC3F7"/>
                </a:solidFill>
                <a:latin typeface="Calibri Bold"/>
              </a:defRPr>
            </a:pPr>
            <a:r>
              <a:t>= +6% week over week</a:t>
            </a:r>
          </a:p>
        </p:txBody>
      </p:sp>
      <p:sp>
        <p:nvSpPr>
          <p:cNvPr id="10" name="Rectangle 9"/>
          <p:cNvSpPr/>
          <p:nvPr/>
        </p:nvSpPr>
        <p:spPr>
          <a:xfrm>
            <a:off x="6400800" y="1828800"/>
            <a:ext cx="3657600" cy="1828800"/>
          </a:xfrm>
          <a:prstGeom prst="rect">
            <a:avLst/>
          </a:prstGeom>
          <a:solidFill>
            <a:srgbClr val="1E276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011680"/>
            <a:ext cx="3657600" cy="914400"/>
          </a:xfrm>
          <a:prstGeom prst="rect">
            <a:avLst/>
          </a:prstGeom>
          <a:noFill/>
        </p:spPr>
        <p:txBody>
          <a:bodyPr wrap="none">
            <a:spAutoFit/>
          </a:bodyPr>
          <a:lstStyle/>
          <a:p>
            <a:pPr algn="ctr">
              <a:defRPr sz="6400" b="1" i="0">
                <a:solidFill>
                  <a:srgbClr val="4FC3F7"/>
                </a:solidFill>
                <a:latin typeface="Calibri Bold"/>
              </a:defRPr>
            </a:pPr>
            <a:r>
              <a:t>5–7%</a:t>
            </a:r>
          </a:p>
        </p:txBody>
      </p:sp>
      <p:sp>
        <p:nvSpPr>
          <p:cNvPr id="12" name="TextBox 11"/>
          <p:cNvSpPr txBox="1"/>
          <p:nvPr/>
        </p:nvSpPr>
        <p:spPr>
          <a:xfrm>
            <a:off x="6400800" y="2926080"/>
            <a:ext cx="3657600" cy="457200"/>
          </a:xfrm>
          <a:prstGeom prst="rect">
            <a:avLst/>
          </a:prstGeom>
          <a:noFill/>
        </p:spPr>
        <p:txBody>
          <a:bodyPr wrap="none">
            <a:spAutoFit/>
          </a:bodyPr>
          <a:lstStyle/>
          <a:p>
            <a:pPr algn="ctr">
              <a:defRPr sz="1400" b="0" i="0">
                <a:solidFill>
                  <a:srgbClr val="FFFFFF"/>
                </a:solidFill>
                <a:latin typeface="Calibri Light"/>
              </a:defRPr>
            </a:pPr>
            <a:r>
              <a:t>WoW growth = good</a:t>
            </a:r>
          </a:p>
        </p:txBody>
      </p:sp>
      <p:sp>
        <p:nvSpPr>
          <p:cNvPr id="13" name="Rectangle 12"/>
          <p:cNvSpPr/>
          <p:nvPr/>
        </p:nvSpPr>
        <p:spPr>
          <a:xfrm>
            <a:off x="6400800" y="3840480"/>
            <a:ext cx="3657600" cy="18288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023360"/>
            <a:ext cx="3657600" cy="914400"/>
          </a:xfrm>
          <a:prstGeom prst="rect">
            <a:avLst/>
          </a:prstGeom>
          <a:noFill/>
        </p:spPr>
        <p:txBody>
          <a:bodyPr wrap="none">
            <a:spAutoFit/>
          </a:bodyPr>
          <a:lstStyle/>
          <a:p>
            <a:pPr algn="ctr">
              <a:defRPr sz="6400" b="1" i="0">
                <a:solidFill>
                  <a:srgbClr val="1E2761"/>
                </a:solidFill>
                <a:latin typeface="Calibri Bold"/>
              </a:defRPr>
            </a:pPr>
            <a:r>
              <a:t>10%</a:t>
            </a:r>
          </a:p>
        </p:txBody>
      </p:sp>
      <p:sp>
        <p:nvSpPr>
          <p:cNvPr id="15" name="TextBox 14"/>
          <p:cNvSpPr txBox="1"/>
          <p:nvPr/>
        </p:nvSpPr>
        <p:spPr>
          <a:xfrm>
            <a:off x="6400800" y="4937760"/>
            <a:ext cx="3657600" cy="457200"/>
          </a:xfrm>
          <a:prstGeom prst="rect">
            <a:avLst/>
          </a:prstGeom>
          <a:noFill/>
        </p:spPr>
        <p:txBody>
          <a:bodyPr wrap="none">
            <a:spAutoFit/>
          </a:bodyPr>
          <a:lstStyle/>
          <a:p>
            <a:pPr algn="ctr">
              <a:defRPr sz="1400" b="1" i="0">
                <a:solidFill>
                  <a:srgbClr val="1E2761"/>
                </a:solidFill>
                <a:latin typeface="Calibri Bold"/>
              </a:defRPr>
            </a:pPr>
            <a:r>
              <a:t>WoW growth = magic</a:t>
            </a:r>
          </a:p>
        </p:txBody>
      </p:sp>
      <p:sp>
        <p:nvSpPr>
          <p:cNvPr id="16" name="TextBox 15"/>
          <p:cNvSpPr txBox="1"/>
          <p:nvPr/>
        </p:nvSpPr>
        <p:spPr>
          <a:xfrm>
            <a:off x="457200" y="6217920"/>
            <a:ext cx="10972800" cy="457200"/>
          </a:xfrm>
          <a:prstGeom prst="rect">
            <a:avLst/>
          </a:prstGeom>
          <a:noFill/>
        </p:spPr>
        <p:txBody>
          <a:bodyPr wrap="none">
            <a:spAutoFit/>
          </a:bodyPr>
          <a:lstStyle/>
          <a:p>
            <a:pPr>
              <a:defRPr sz="1300" b="0" i="0">
                <a:solidFill>
                  <a:srgbClr val="5A6E8C"/>
                </a:solidFill>
                <a:latin typeface="Calibri Light"/>
              </a:defRPr>
            </a:pPr>
            <a:r>
              <a:t>Two levers only: N_clients (new logos) and ACV (upsell existing). Every week the question is one of these two — never both.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57200" y="457200"/>
            <a:ext cx="2560320" cy="4572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48640"/>
            <a:ext cx="2560320" cy="457200"/>
          </a:xfrm>
          <a:prstGeom prst="rect">
            <a:avLst/>
          </a:prstGeom>
          <a:noFill/>
        </p:spPr>
        <p:txBody>
          <a:bodyPr wrap="none">
            <a:spAutoFit/>
          </a:bodyPr>
          <a:lstStyle/>
          <a:p>
            <a:pPr algn="ctr">
              <a:defRPr sz="1200" b="1" i="0">
                <a:solidFill>
                  <a:srgbClr val="1E2761"/>
                </a:solidFill>
                <a:latin typeface="Calibri Bold"/>
              </a:defRPr>
            </a:pPr>
            <a:r>
              <a:t>Phase 0 · Ignition</a:t>
            </a:r>
          </a:p>
        </p:txBody>
      </p:sp>
      <p:sp>
        <p:nvSpPr>
          <p:cNvPr id="4" name="Rectangle 3"/>
          <p:cNvSpPr/>
          <p:nvPr/>
        </p:nvSpPr>
        <p:spPr>
          <a:xfrm>
            <a:off x="3291840" y="457200"/>
            <a:ext cx="2560320" cy="4572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91840" y="548640"/>
            <a:ext cx="2560320" cy="457200"/>
          </a:xfrm>
          <a:prstGeom prst="rect">
            <a:avLst/>
          </a:prstGeom>
          <a:noFill/>
        </p:spPr>
        <p:txBody>
          <a:bodyPr wrap="none">
            <a:spAutoFit/>
          </a:bodyPr>
          <a:lstStyle/>
          <a:p>
            <a:pPr algn="ctr">
              <a:defRPr sz="1200" b="0" i="0">
                <a:solidFill>
                  <a:srgbClr val="1E2761"/>
                </a:solidFill>
                <a:latin typeface="Calibri Light"/>
              </a:defRPr>
            </a:pPr>
            <a:r>
              <a:t>Phase 1 · PoC Execution</a:t>
            </a:r>
          </a:p>
        </p:txBody>
      </p:sp>
      <p:sp>
        <p:nvSpPr>
          <p:cNvPr id="6" name="TextBox 5"/>
          <p:cNvSpPr txBox="1"/>
          <p:nvPr/>
        </p:nvSpPr>
        <p:spPr>
          <a:xfrm>
            <a:off x="3017520" y="548640"/>
            <a:ext cx="274320" cy="457200"/>
          </a:xfrm>
          <a:prstGeom prst="rect">
            <a:avLst/>
          </a:prstGeom>
          <a:noFill/>
        </p:spPr>
        <p:txBody>
          <a:bodyPr wrap="none">
            <a:spAutoFit/>
          </a:bodyPr>
          <a:lstStyle/>
          <a:p>
            <a:pPr algn="ctr">
              <a:defRPr sz="1600" b="0" i="0">
                <a:solidFill>
                  <a:srgbClr val="1E2761"/>
                </a:solidFill>
                <a:latin typeface="Calibri Light"/>
              </a:defRPr>
            </a:pPr>
            <a:r>
              <a:t>→</a:t>
            </a:r>
          </a:p>
        </p:txBody>
      </p:sp>
      <p:sp>
        <p:nvSpPr>
          <p:cNvPr id="7" name="Rectangle 6"/>
          <p:cNvSpPr/>
          <p:nvPr/>
        </p:nvSpPr>
        <p:spPr>
          <a:xfrm>
            <a:off x="6126480" y="457200"/>
            <a:ext cx="2560320" cy="4572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548640"/>
            <a:ext cx="2560320" cy="457200"/>
          </a:xfrm>
          <a:prstGeom prst="rect">
            <a:avLst/>
          </a:prstGeom>
          <a:noFill/>
        </p:spPr>
        <p:txBody>
          <a:bodyPr wrap="none">
            <a:spAutoFit/>
          </a:bodyPr>
          <a:lstStyle/>
          <a:p>
            <a:pPr algn="ctr">
              <a:defRPr sz="1200" b="0" i="0">
                <a:solidFill>
                  <a:srgbClr val="1E2761"/>
                </a:solidFill>
                <a:latin typeface="Calibri Light"/>
              </a:defRPr>
            </a:pPr>
            <a:r>
              <a:t>Phase 2 · Pipeline</a:t>
            </a:r>
          </a:p>
        </p:txBody>
      </p:sp>
      <p:sp>
        <p:nvSpPr>
          <p:cNvPr id="9" name="TextBox 8"/>
          <p:cNvSpPr txBox="1"/>
          <p:nvPr/>
        </p:nvSpPr>
        <p:spPr>
          <a:xfrm>
            <a:off x="5852160" y="548640"/>
            <a:ext cx="274320" cy="457200"/>
          </a:xfrm>
          <a:prstGeom prst="rect">
            <a:avLst/>
          </a:prstGeom>
          <a:noFill/>
        </p:spPr>
        <p:txBody>
          <a:bodyPr wrap="none">
            <a:spAutoFit/>
          </a:bodyPr>
          <a:lstStyle/>
          <a:p>
            <a:pPr algn="ctr">
              <a:defRPr sz="1600" b="0" i="0">
                <a:solidFill>
                  <a:srgbClr val="1E2761"/>
                </a:solidFill>
                <a:latin typeface="Calibri Light"/>
              </a:defRPr>
            </a:pPr>
            <a:r>
              <a:t>→</a:t>
            </a:r>
          </a:p>
        </p:txBody>
      </p:sp>
      <p:sp>
        <p:nvSpPr>
          <p:cNvPr id="10" name="Rectangle 9"/>
          <p:cNvSpPr/>
          <p:nvPr/>
        </p:nvSpPr>
        <p:spPr>
          <a:xfrm>
            <a:off x="8961120" y="457200"/>
            <a:ext cx="2560320" cy="4572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548640"/>
            <a:ext cx="2560320" cy="457200"/>
          </a:xfrm>
          <a:prstGeom prst="rect">
            <a:avLst/>
          </a:prstGeom>
          <a:noFill/>
        </p:spPr>
        <p:txBody>
          <a:bodyPr wrap="none">
            <a:spAutoFit/>
          </a:bodyPr>
          <a:lstStyle/>
          <a:p>
            <a:pPr algn="ctr">
              <a:defRPr sz="1200" b="0" i="0">
                <a:solidFill>
                  <a:srgbClr val="1E2761"/>
                </a:solidFill>
                <a:latin typeface="Calibri Light"/>
              </a:defRPr>
            </a:pPr>
            <a:r>
              <a:t>Phase 3 · Launch</a:t>
            </a:r>
          </a:p>
        </p:txBody>
      </p:sp>
      <p:sp>
        <p:nvSpPr>
          <p:cNvPr id="12" name="TextBox 11"/>
          <p:cNvSpPr txBox="1"/>
          <p:nvPr/>
        </p:nvSpPr>
        <p:spPr>
          <a:xfrm>
            <a:off x="8686800" y="548640"/>
            <a:ext cx="274320" cy="457200"/>
          </a:xfrm>
          <a:prstGeom prst="rect">
            <a:avLst/>
          </a:prstGeom>
          <a:noFill/>
        </p:spPr>
        <p:txBody>
          <a:bodyPr wrap="none">
            <a:spAutoFit/>
          </a:bodyPr>
          <a:lstStyle/>
          <a:p>
            <a:pPr algn="ctr">
              <a:defRPr sz="1600" b="0" i="0">
                <a:solidFill>
                  <a:srgbClr val="1E2761"/>
                </a:solidFill>
                <a:latin typeface="Calibri Light"/>
              </a:defRPr>
            </a:pPr>
            <a:r>
              <a:t>→</a:t>
            </a:r>
          </a:p>
        </p:txBody>
      </p:sp>
      <p:sp>
        <p:nvSpPr>
          <p:cNvPr id="13" name="Rectangle 12"/>
          <p:cNvSpPr/>
          <p:nvPr/>
        </p:nvSpPr>
        <p:spPr>
          <a:xfrm>
            <a:off x="1828800" y="1371600"/>
            <a:ext cx="8531352" cy="36576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0" y="1371600"/>
            <a:ext cx="91440" cy="3657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1645920"/>
            <a:ext cx="7315200" cy="457200"/>
          </a:xfrm>
          <a:prstGeom prst="rect">
            <a:avLst/>
          </a:prstGeom>
          <a:noFill/>
        </p:spPr>
        <p:txBody>
          <a:bodyPr wrap="none">
            <a:spAutoFit/>
          </a:bodyPr>
          <a:lstStyle/>
          <a:p>
            <a:pPr>
              <a:defRPr sz="2400" b="1" i="0">
                <a:solidFill>
                  <a:srgbClr val="1E2761"/>
                </a:solidFill>
                <a:latin typeface="Calibri Bold"/>
              </a:defRPr>
            </a:pPr>
            <a:r>
              <a:t>📍 Phase 0 — Ignition</a:t>
            </a:r>
          </a:p>
        </p:txBody>
      </p:sp>
      <p:sp>
        <p:nvSpPr>
          <p:cNvPr id="16" name="TextBox 15"/>
          <p:cNvSpPr txBox="1"/>
          <p:nvPr/>
        </p:nvSpPr>
        <p:spPr>
          <a:xfrm>
            <a:off x="2103120" y="2103120"/>
            <a:ext cx="7315200" cy="274320"/>
          </a:xfrm>
          <a:prstGeom prst="rect">
            <a:avLst/>
          </a:prstGeom>
          <a:noFill/>
        </p:spPr>
        <p:txBody>
          <a:bodyPr wrap="none">
            <a:spAutoFit/>
          </a:bodyPr>
          <a:lstStyle/>
          <a:p>
            <a:pPr>
              <a:defRPr sz="1400" b="0" i="0">
                <a:solidFill>
                  <a:srgbClr val="5A6E8C"/>
                </a:solidFill>
                <a:latin typeface="Calibri Light"/>
              </a:defRPr>
            </a:pPr>
            <a:r>
              <a:t>Apr 3 – Apr 7, 2026</a:t>
            </a:r>
          </a:p>
        </p:txBody>
      </p:sp>
      <p:sp>
        <p:nvSpPr>
          <p:cNvPr id="17" name="TextBox 16"/>
          <p:cNvSpPr txBox="1"/>
          <p:nvPr/>
        </p:nvSpPr>
        <p:spPr>
          <a:xfrm>
            <a:off x="2103120" y="2560320"/>
            <a:ext cx="7315200" cy="457200"/>
          </a:xfrm>
          <a:prstGeom prst="rect">
            <a:avLst/>
          </a:prstGeom>
          <a:noFill/>
        </p:spPr>
        <p:txBody>
          <a:bodyPr wrap="none">
            <a:spAutoFit/>
          </a:bodyPr>
          <a:lstStyle/>
          <a:p>
            <a:pPr>
              <a:defRPr sz="1800" b="0" i="1">
                <a:solidFill>
                  <a:srgbClr val="1E2761"/>
                </a:solidFill>
                <a:latin typeface="Calibri"/>
              </a:defRPr>
            </a:pPr>
            <a:r>
              <a:t>Is the team operationally ready to execute?</a:t>
            </a:r>
          </a:p>
        </p:txBody>
      </p:sp>
      <p:sp>
        <p:nvSpPr>
          <p:cNvPr id="18" name="TextBox 17"/>
          <p:cNvSpPr txBox="1"/>
          <p:nvPr/>
        </p:nvSpPr>
        <p:spPr>
          <a:xfrm>
            <a:off x="2286000" y="3200400"/>
            <a:ext cx="7772400" cy="1371600"/>
          </a:xfrm>
          <a:prstGeom prst="rect">
            <a:avLst/>
          </a:prstGeom>
          <a:noFill/>
        </p:spPr>
        <p:txBody>
          <a:bodyPr wrap="none">
            <a:spAutoFit/>
          </a:bodyPr>
          <a:lstStyle/>
          <a:p>
            <a:pPr>
              <a:defRPr sz="1400" b="0" i="0">
                <a:solidFill>
                  <a:srgbClr val="1E2761"/>
                </a:solidFill>
                <a:latin typeface="Calibri Light"/>
              </a:defRPr>
            </a:pPr>
            <a:r>
              <a:t>North Star: Demo readiness + OS installed — binary by April 7</a:t>
            </a:r>
            <a:br/>
            <a:br/>
            <a:r>
              <a:t>Phase gate: This meeting. Exit criteria: all 3 cofounders in Notion with Q2 KRs authored.</a:t>
            </a:r>
            <a:br/>
            <a:br/>
            <a:r>
              <a:t>Your USP: Fully on-prem RAG — zero cloud dependency, NIS2-native</a:t>
            </a:r>
          </a:p>
        </p:txBody>
      </p:sp>
      <p:sp>
        <p:nvSpPr>
          <p:cNvPr id="19" name="Rectangle 18"/>
          <p:cNvSpPr/>
          <p:nvPr/>
        </p:nvSpPr>
        <p:spPr>
          <a:xfrm>
            <a:off x="1828800" y="5486400"/>
            <a:ext cx="8531352" cy="731520"/>
          </a:xfrm>
          <a:prstGeom prst="rect">
            <a:avLst/>
          </a:prstGeom>
          <a:solidFill>
            <a:srgbClr val="FDE2E3"/>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0" y="5486400"/>
            <a:ext cx="91440" cy="731520"/>
          </a:xfrm>
          <a:prstGeom prst="rect">
            <a:avLst/>
          </a:prstGeom>
          <a:solidFill>
            <a:srgbClr val="F96167"/>
          </a:solidFill>
          <a:ln w="12700">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03120" y="5669280"/>
            <a:ext cx="7315200" cy="457200"/>
          </a:xfrm>
          <a:prstGeom prst="rect">
            <a:avLst/>
          </a:prstGeom>
          <a:noFill/>
        </p:spPr>
        <p:txBody>
          <a:bodyPr wrap="none">
            <a:spAutoFit/>
          </a:bodyPr>
          <a:lstStyle/>
          <a:p>
            <a:pPr>
              <a:defRPr sz="1300" b="0" i="0">
                <a:solidFill>
                  <a:srgbClr val="1E2761"/>
                </a:solidFill>
                <a:latin typeface="Calibri Light"/>
              </a:defRPr>
            </a:pPr>
            <a:r>
              <a:t>⚡ This afternoon: Paver visit. Three possible outcomes → all are fine. Any result gets logged.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457200" y="457200"/>
            <a:ext cx="2560320" cy="4572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48640"/>
            <a:ext cx="2560320" cy="457200"/>
          </a:xfrm>
          <a:prstGeom prst="rect">
            <a:avLst/>
          </a:prstGeom>
          <a:noFill/>
        </p:spPr>
        <p:txBody>
          <a:bodyPr wrap="none">
            <a:spAutoFit/>
          </a:bodyPr>
          <a:lstStyle/>
          <a:p>
            <a:pPr algn="ctr">
              <a:defRPr sz="1200" b="0" i="0">
                <a:solidFill>
                  <a:srgbClr val="1E2761"/>
                </a:solidFill>
                <a:latin typeface="Calibri Light"/>
              </a:defRPr>
            </a:pPr>
            <a:r>
              <a:t>Phase 0 · Ignition</a:t>
            </a:r>
          </a:p>
        </p:txBody>
      </p:sp>
      <p:sp>
        <p:nvSpPr>
          <p:cNvPr id="4" name="TextBox 3"/>
          <p:cNvSpPr txBox="1"/>
          <p:nvPr/>
        </p:nvSpPr>
        <p:spPr>
          <a:xfrm>
            <a:off x="3017520" y="548640"/>
            <a:ext cx="274320" cy="457200"/>
          </a:xfrm>
          <a:prstGeom prst="rect">
            <a:avLst/>
          </a:prstGeom>
          <a:noFill/>
        </p:spPr>
        <p:txBody>
          <a:bodyPr wrap="none">
            <a:spAutoFit/>
          </a:bodyPr>
          <a:lstStyle/>
          <a:p>
            <a:pPr algn="ctr">
              <a:defRPr sz="1600" b="0" i="0">
                <a:solidFill>
                  <a:srgbClr val="1E2761"/>
                </a:solidFill>
                <a:latin typeface="Calibri Light"/>
              </a:defRPr>
            </a:pPr>
            <a:r>
              <a:t>→</a:t>
            </a:r>
          </a:p>
        </p:txBody>
      </p:sp>
      <p:sp>
        <p:nvSpPr>
          <p:cNvPr id="5" name="Rectangle 4"/>
          <p:cNvSpPr/>
          <p:nvPr/>
        </p:nvSpPr>
        <p:spPr>
          <a:xfrm>
            <a:off x="3291840" y="457200"/>
            <a:ext cx="2560320" cy="4572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91840" y="548640"/>
            <a:ext cx="2560320" cy="457200"/>
          </a:xfrm>
          <a:prstGeom prst="rect">
            <a:avLst/>
          </a:prstGeom>
          <a:noFill/>
        </p:spPr>
        <p:txBody>
          <a:bodyPr wrap="none">
            <a:spAutoFit/>
          </a:bodyPr>
          <a:lstStyle/>
          <a:p>
            <a:pPr algn="ctr">
              <a:defRPr sz="1200" b="1" i="0">
                <a:solidFill>
                  <a:srgbClr val="1E2761"/>
                </a:solidFill>
                <a:latin typeface="Calibri Bold"/>
              </a:defRPr>
            </a:pPr>
            <a:r>
              <a:t>Phase 1 · PoC Execution</a:t>
            </a:r>
          </a:p>
        </p:txBody>
      </p:sp>
      <p:sp>
        <p:nvSpPr>
          <p:cNvPr id="7" name="Rectangle 6"/>
          <p:cNvSpPr/>
          <p:nvPr/>
        </p:nvSpPr>
        <p:spPr>
          <a:xfrm>
            <a:off x="6126480" y="457200"/>
            <a:ext cx="2560320" cy="4572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548640"/>
            <a:ext cx="2560320" cy="457200"/>
          </a:xfrm>
          <a:prstGeom prst="rect">
            <a:avLst/>
          </a:prstGeom>
          <a:noFill/>
        </p:spPr>
        <p:txBody>
          <a:bodyPr wrap="none">
            <a:spAutoFit/>
          </a:bodyPr>
          <a:lstStyle/>
          <a:p>
            <a:pPr algn="ctr">
              <a:defRPr sz="1200" b="0" i="0">
                <a:solidFill>
                  <a:srgbClr val="1E2761"/>
                </a:solidFill>
                <a:latin typeface="Calibri Light"/>
              </a:defRPr>
            </a:pPr>
            <a:r>
              <a:t>Phase 2 · Pipeline</a:t>
            </a:r>
          </a:p>
        </p:txBody>
      </p:sp>
      <p:sp>
        <p:nvSpPr>
          <p:cNvPr id="9" name="TextBox 8"/>
          <p:cNvSpPr txBox="1"/>
          <p:nvPr/>
        </p:nvSpPr>
        <p:spPr>
          <a:xfrm>
            <a:off x="5852160" y="548640"/>
            <a:ext cx="274320" cy="457200"/>
          </a:xfrm>
          <a:prstGeom prst="rect">
            <a:avLst/>
          </a:prstGeom>
          <a:noFill/>
        </p:spPr>
        <p:txBody>
          <a:bodyPr wrap="none">
            <a:spAutoFit/>
          </a:bodyPr>
          <a:lstStyle/>
          <a:p>
            <a:pPr algn="ctr">
              <a:defRPr sz="1600" b="0" i="0">
                <a:solidFill>
                  <a:srgbClr val="1E2761"/>
                </a:solidFill>
                <a:latin typeface="Calibri Light"/>
              </a:defRPr>
            </a:pPr>
            <a:r>
              <a:t>→</a:t>
            </a:r>
          </a:p>
        </p:txBody>
      </p:sp>
      <p:sp>
        <p:nvSpPr>
          <p:cNvPr id="10" name="Rectangle 9"/>
          <p:cNvSpPr/>
          <p:nvPr/>
        </p:nvSpPr>
        <p:spPr>
          <a:xfrm>
            <a:off x="8961120" y="457200"/>
            <a:ext cx="2560320" cy="4572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548640"/>
            <a:ext cx="2560320" cy="457200"/>
          </a:xfrm>
          <a:prstGeom prst="rect">
            <a:avLst/>
          </a:prstGeom>
          <a:noFill/>
        </p:spPr>
        <p:txBody>
          <a:bodyPr wrap="none">
            <a:spAutoFit/>
          </a:bodyPr>
          <a:lstStyle/>
          <a:p>
            <a:pPr algn="ctr">
              <a:defRPr sz="1200" b="0" i="0">
                <a:solidFill>
                  <a:srgbClr val="1E2761"/>
                </a:solidFill>
                <a:latin typeface="Calibri Light"/>
              </a:defRPr>
            </a:pPr>
            <a:r>
              <a:t>Phase 3 · Launch</a:t>
            </a:r>
          </a:p>
        </p:txBody>
      </p:sp>
      <p:sp>
        <p:nvSpPr>
          <p:cNvPr id="12" name="TextBox 11"/>
          <p:cNvSpPr txBox="1"/>
          <p:nvPr/>
        </p:nvSpPr>
        <p:spPr>
          <a:xfrm>
            <a:off x="8686800" y="548640"/>
            <a:ext cx="274320" cy="457200"/>
          </a:xfrm>
          <a:prstGeom prst="rect">
            <a:avLst/>
          </a:prstGeom>
          <a:noFill/>
        </p:spPr>
        <p:txBody>
          <a:bodyPr wrap="none">
            <a:spAutoFit/>
          </a:bodyPr>
          <a:lstStyle/>
          <a:p>
            <a:pPr algn="ctr">
              <a:defRPr sz="1600" b="0" i="0">
                <a:solidFill>
                  <a:srgbClr val="1E2761"/>
                </a:solidFill>
                <a:latin typeface="Calibri Light"/>
              </a:defRPr>
            </a:pPr>
            <a:r>
              <a:t>→</a:t>
            </a:r>
          </a:p>
        </p:txBody>
      </p:sp>
      <p:sp>
        <p:nvSpPr>
          <p:cNvPr id="13" name="Rectangle 12"/>
          <p:cNvSpPr/>
          <p:nvPr/>
        </p:nvSpPr>
        <p:spPr>
          <a:xfrm>
            <a:off x="914400" y="1371600"/>
            <a:ext cx="10332720" cy="384048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1371600"/>
            <a:ext cx="91440" cy="38404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1645920"/>
            <a:ext cx="7315200" cy="457200"/>
          </a:xfrm>
          <a:prstGeom prst="rect">
            <a:avLst/>
          </a:prstGeom>
          <a:noFill/>
        </p:spPr>
        <p:txBody>
          <a:bodyPr wrap="none">
            <a:spAutoFit/>
          </a:bodyPr>
          <a:lstStyle/>
          <a:p>
            <a:pPr>
              <a:defRPr sz="2400" b="1" i="0">
                <a:solidFill>
                  <a:srgbClr val="1E2761"/>
                </a:solidFill>
                <a:latin typeface="Calibri Bold"/>
              </a:defRPr>
            </a:pPr>
            <a:r>
              <a:t>Phase 1 — PoC Execution</a:t>
            </a:r>
          </a:p>
        </p:txBody>
      </p:sp>
      <p:sp>
        <p:nvSpPr>
          <p:cNvPr id="16" name="TextBox 15"/>
          <p:cNvSpPr txBox="1"/>
          <p:nvPr/>
        </p:nvSpPr>
        <p:spPr>
          <a:xfrm>
            <a:off x="1188720" y="2103120"/>
            <a:ext cx="7315200" cy="274320"/>
          </a:xfrm>
          <a:prstGeom prst="rect">
            <a:avLst/>
          </a:prstGeom>
          <a:noFill/>
        </p:spPr>
        <p:txBody>
          <a:bodyPr wrap="none">
            <a:spAutoFit/>
          </a:bodyPr>
          <a:lstStyle/>
          <a:p>
            <a:pPr>
              <a:defRPr sz="1400" b="0" i="0">
                <a:solidFill>
                  <a:srgbClr val="5A6E8C"/>
                </a:solidFill>
                <a:latin typeface="Calibri Light"/>
              </a:defRPr>
            </a:pPr>
            <a:r>
              <a:t>Apr 7 → Jul 1, 2026</a:t>
            </a:r>
          </a:p>
        </p:txBody>
      </p:sp>
      <p:sp>
        <p:nvSpPr>
          <p:cNvPr id="17" name="TextBox 16"/>
          <p:cNvSpPr txBox="1"/>
          <p:nvPr/>
        </p:nvSpPr>
        <p:spPr>
          <a:xfrm>
            <a:off x="1188720" y="2468880"/>
            <a:ext cx="7315200" cy="457200"/>
          </a:xfrm>
          <a:prstGeom prst="rect">
            <a:avLst/>
          </a:prstGeom>
          <a:noFill/>
        </p:spPr>
        <p:txBody>
          <a:bodyPr wrap="none">
            <a:spAutoFit/>
          </a:bodyPr>
          <a:lstStyle/>
          <a:p>
            <a:pPr>
              <a:defRPr sz="1800" b="0" i="1">
                <a:solidFill>
                  <a:srgbClr val="1E2761"/>
                </a:solidFill>
                <a:latin typeface="Calibri"/>
              </a:defRPr>
            </a:pPr>
            <a:r>
              <a:t>Can we produce a result a client would pay for?</a:t>
            </a:r>
          </a:p>
        </p:txBody>
      </p:sp>
      <p:sp>
        <p:nvSpPr>
          <p:cNvPr id="18" name="TextBox 17"/>
          <p:cNvSpPr txBox="1"/>
          <p:nvPr/>
        </p:nvSpPr>
        <p:spPr>
          <a:xfrm>
            <a:off x="1188720" y="3017520"/>
            <a:ext cx="7315200" cy="457200"/>
          </a:xfrm>
          <a:prstGeom prst="rect">
            <a:avLst/>
          </a:prstGeom>
          <a:noFill/>
        </p:spPr>
        <p:txBody>
          <a:bodyPr wrap="none">
            <a:spAutoFit/>
          </a:bodyPr>
          <a:lstStyle/>
          <a:p>
            <a:pPr>
              <a:defRPr sz="1400" b="1" i="0">
                <a:solidFill>
                  <a:srgbClr val="1E2761"/>
                </a:solidFill>
                <a:latin typeface="Calibri Bold"/>
              </a:defRPr>
            </a:pPr>
            <a:r>
              <a:t>North Star: # of PoCs with documented, measurable outcome</a:t>
            </a:r>
          </a:p>
        </p:txBody>
      </p:sp>
      <p:sp>
        <p:nvSpPr>
          <p:cNvPr id="19" name="TextBox 18"/>
          <p:cNvSpPr txBox="1"/>
          <p:nvPr/>
        </p:nvSpPr>
        <p:spPr>
          <a:xfrm>
            <a:off x="1371600" y="3474720"/>
            <a:ext cx="5486400" cy="274320"/>
          </a:xfrm>
          <a:prstGeom prst="rect">
            <a:avLst/>
          </a:prstGeom>
          <a:noFill/>
        </p:spPr>
        <p:txBody>
          <a:bodyPr wrap="none">
            <a:spAutoFit/>
          </a:bodyPr>
          <a:lstStyle/>
          <a:p>
            <a:pPr>
              <a:defRPr sz="1400" b="0" i="0">
                <a:solidFill>
                  <a:srgbClr val="1E2761"/>
                </a:solidFill>
                <a:latin typeface="Calibri Light"/>
              </a:defRPr>
            </a:pPr>
            <a:r>
              <a:t>#1  PoC count with A score logged             0 / 2</a:t>
            </a:r>
          </a:p>
        </p:txBody>
      </p:sp>
      <p:sp>
        <p:nvSpPr>
          <p:cNvPr id="20" name="TextBox 19"/>
          <p:cNvSpPr txBox="1"/>
          <p:nvPr/>
        </p:nvSpPr>
        <p:spPr>
          <a:xfrm>
            <a:off x="1371600" y="3840480"/>
            <a:ext cx="5486400" cy="274320"/>
          </a:xfrm>
          <a:prstGeom prst="rect">
            <a:avLst/>
          </a:prstGeom>
          <a:noFill/>
        </p:spPr>
        <p:txBody>
          <a:bodyPr wrap="none">
            <a:spAutoFit/>
          </a:bodyPr>
          <a:lstStyle/>
          <a:p>
            <a:pPr>
              <a:defRPr sz="1400" b="0" i="0">
                <a:solidFill>
                  <a:srgbClr val="1E2761"/>
                </a:solidFill>
                <a:latin typeface="Calibri Light"/>
              </a:defRPr>
            </a:pPr>
            <a:r>
              <a:t>#2  Pipeline conversations / week             0</a:t>
            </a:r>
          </a:p>
        </p:txBody>
      </p:sp>
      <p:sp>
        <p:nvSpPr>
          <p:cNvPr id="21" name="TextBox 20"/>
          <p:cNvSpPr txBox="1"/>
          <p:nvPr/>
        </p:nvSpPr>
        <p:spPr>
          <a:xfrm>
            <a:off x="1371600" y="4206240"/>
            <a:ext cx="5486400" cy="274320"/>
          </a:xfrm>
          <a:prstGeom prst="rect">
            <a:avLst/>
          </a:prstGeom>
          <a:noFill/>
        </p:spPr>
        <p:txBody>
          <a:bodyPr wrap="none">
            <a:spAutoFit/>
          </a:bodyPr>
          <a:lstStyle/>
          <a:p>
            <a:pPr>
              <a:defRPr sz="1400" b="0" i="0">
                <a:solidFill>
                  <a:srgbClr val="1E2761"/>
                </a:solidFill>
                <a:latin typeface="Calibri Light"/>
              </a:defRPr>
            </a:pPr>
            <a:r>
              <a:t>#3  A score on Decfa corpus                   0.00</a:t>
            </a:r>
          </a:p>
        </p:txBody>
      </p:sp>
      <p:sp>
        <p:nvSpPr>
          <p:cNvPr id="22" name="TextBox 21"/>
          <p:cNvSpPr txBox="1"/>
          <p:nvPr/>
        </p:nvSpPr>
        <p:spPr>
          <a:xfrm>
            <a:off x="1188720" y="4663440"/>
            <a:ext cx="9144000" cy="274320"/>
          </a:xfrm>
          <a:prstGeom prst="rect">
            <a:avLst/>
          </a:prstGeom>
          <a:noFill/>
        </p:spPr>
        <p:txBody>
          <a:bodyPr wrap="none">
            <a:spAutoFit/>
          </a:bodyPr>
          <a:lstStyle/>
          <a:p>
            <a:pPr>
              <a:defRPr sz="1400" b="0" i="0">
                <a:solidFill>
                  <a:srgbClr val="1E2761"/>
                </a:solidFill>
                <a:latin typeface="Calibri Light"/>
              </a:defRPr>
            </a:pPr>
            <a:r>
              <a:t>Target: 5–7% WoW growth on pipeline conversations. A &gt; 0.80 on Decfa.</a:t>
            </a:r>
          </a:p>
        </p:txBody>
      </p:sp>
      <p:sp>
        <p:nvSpPr>
          <p:cNvPr id="23" name="Rectangle 22"/>
          <p:cNvSpPr/>
          <p:nvPr/>
        </p:nvSpPr>
        <p:spPr>
          <a:xfrm>
            <a:off x="914400" y="5486400"/>
            <a:ext cx="10332720" cy="73152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5669280"/>
            <a:ext cx="9144000" cy="457200"/>
          </a:xfrm>
          <a:prstGeom prst="rect">
            <a:avLst/>
          </a:prstGeom>
          <a:noFill/>
        </p:spPr>
        <p:txBody>
          <a:bodyPr wrap="none">
            <a:spAutoFit/>
          </a:bodyPr>
          <a:lstStyle/>
          <a:p>
            <a:pPr>
              <a:defRPr sz="1400" b="1" i="0">
                <a:solidFill>
                  <a:srgbClr val="1E2761"/>
                </a:solidFill>
                <a:latin typeface="Calibri Bold"/>
              </a:defRPr>
            </a:pPr>
            <a:r>
              <a:t>Gate: July 1 — Thesis defense. 2 PoCs with hard numbers → pivot from builder to seller.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The back half of 2026</a:t>
            </a:r>
          </a:p>
        </p:txBody>
      </p:sp>
      <p:sp>
        <p:nvSpPr>
          <p:cNvPr id="3" name="Rectangle 2"/>
          <p:cNvSpPr/>
          <p:nvPr/>
        </p:nvSpPr>
        <p:spPr>
          <a:xfrm>
            <a:off x="457200" y="1371600"/>
            <a:ext cx="5303520" cy="41148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4572000" cy="457200"/>
          </a:xfrm>
          <a:prstGeom prst="rect">
            <a:avLst/>
          </a:prstGeom>
          <a:noFill/>
        </p:spPr>
        <p:txBody>
          <a:bodyPr wrap="none">
            <a:spAutoFit/>
          </a:bodyPr>
          <a:lstStyle/>
          <a:p>
            <a:pPr>
              <a:defRPr sz="1800" b="1" i="0">
                <a:solidFill>
                  <a:srgbClr val="1E2761"/>
                </a:solidFill>
                <a:latin typeface="Calibri Bold"/>
              </a:defRPr>
            </a:pPr>
            <a:r>
              <a:t>Phase 2 — Pipeline Building</a:t>
            </a:r>
          </a:p>
        </p:txBody>
      </p:sp>
      <p:sp>
        <p:nvSpPr>
          <p:cNvPr id="5" name="TextBox 4"/>
          <p:cNvSpPr txBox="1"/>
          <p:nvPr/>
        </p:nvSpPr>
        <p:spPr>
          <a:xfrm>
            <a:off x="731520" y="2011680"/>
            <a:ext cx="4572000" cy="274320"/>
          </a:xfrm>
          <a:prstGeom prst="rect">
            <a:avLst/>
          </a:prstGeom>
          <a:noFill/>
        </p:spPr>
        <p:txBody>
          <a:bodyPr wrap="none">
            <a:spAutoFit/>
          </a:bodyPr>
          <a:lstStyle/>
          <a:p>
            <a:pPr>
              <a:defRPr sz="1300" b="0" i="0">
                <a:solidFill>
                  <a:srgbClr val="5A6E8C"/>
                </a:solidFill>
                <a:latin typeface="Calibri Light"/>
              </a:defRPr>
            </a:pPr>
            <a:r>
              <a:t>Jul 1 → Sep/Oct</a:t>
            </a:r>
          </a:p>
        </p:txBody>
      </p:sp>
      <p:sp>
        <p:nvSpPr>
          <p:cNvPr id="6" name="TextBox 5"/>
          <p:cNvSpPr txBox="1"/>
          <p:nvPr/>
        </p:nvSpPr>
        <p:spPr>
          <a:xfrm>
            <a:off x="731520" y="2468880"/>
            <a:ext cx="4754880" cy="457200"/>
          </a:xfrm>
          <a:prstGeom prst="rect">
            <a:avLst/>
          </a:prstGeom>
          <a:noFill/>
        </p:spPr>
        <p:txBody>
          <a:bodyPr wrap="none">
            <a:spAutoFit/>
          </a:bodyPr>
          <a:lstStyle/>
          <a:p>
            <a:pPr>
              <a:defRPr sz="1400" b="0" i="0">
                <a:solidFill>
                  <a:srgbClr val="1E2761"/>
                </a:solidFill>
                <a:latin typeface="Calibri Light"/>
              </a:defRPr>
            </a:pPr>
            <a:r>
              <a:t>North Star: # of LOIs / verbal Pioneer commitments (€199/mo)</a:t>
            </a:r>
          </a:p>
        </p:txBody>
      </p:sp>
      <p:sp>
        <p:nvSpPr>
          <p:cNvPr id="7" name="TextBox 6"/>
          <p:cNvSpPr txBox="1"/>
          <p:nvPr/>
        </p:nvSpPr>
        <p:spPr>
          <a:xfrm>
            <a:off x="914400" y="3017520"/>
            <a:ext cx="4572000" cy="914400"/>
          </a:xfrm>
          <a:prstGeom prst="rect">
            <a:avLst/>
          </a:prstGeom>
          <a:noFill/>
        </p:spPr>
        <p:txBody>
          <a:bodyPr wrap="none">
            <a:spAutoFit/>
          </a:bodyPr>
          <a:lstStyle/>
          <a:p>
            <a:pPr>
              <a:defRPr sz="1400" b="0" i="0">
                <a:solidFill>
                  <a:srgbClr val="1E2761"/>
                </a:solidFill>
                <a:latin typeface="Calibri Light"/>
              </a:defRPr>
            </a:pPr>
            <a:r>
              <a:t>• #1 LOI count (target: 10)</a:t>
            </a:r>
            <a:br/>
            <a:r>
              <a:t>• #2 Demos given per week (5–7% WoW)</a:t>
            </a:r>
            <a:br/>
            <a:r>
              <a:t>• #3 Demo → LOI conversion</a:t>
            </a:r>
          </a:p>
        </p:txBody>
      </p:sp>
      <p:sp>
        <p:nvSpPr>
          <p:cNvPr id="8" name="TextBox 7"/>
          <p:cNvSpPr txBox="1"/>
          <p:nvPr/>
        </p:nvSpPr>
        <p:spPr>
          <a:xfrm>
            <a:off x="731520" y="4114800"/>
            <a:ext cx="4572000" cy="274320"/>
          </a:xfrm>
          <a:prstGeom prst="rect">
            <a:avLst/>
          </a:prstGeom>
          <a:noFill/>
        </p:spPr>
        <p:txBody>
          <a:bodyPr wrap="none">
            <a:spAutoFit/>
          </a:bodyPr>
          <a:lstStyle/>
          <a:p>
            <a:pPr>
              <a:defRPr sz="1400" b="1" i="0">
                <a:solidFill>
                  <a:srgbClr val="1E2761"/>
                </a:solidFill>
                <a:latin typeface="Calibri Bold"/>
              </a:defRPr>
            </a:pPr>
            <a:r>
              <a:t>Gate: 10 verbal Pioneers before constitution</a:t>
            </a:r>
          </a:p>
        </p:txBody>
      </p:sp>
      <p:sp>
        <p:nvSpPr>
          <p:cNvPr id="9" name="TextBox 8"/>
          <p:cNvSpPr txBox="1"/>
          <p:nvPr/>
        </p:nvSpPr>
        <p:spPr>
          <a:xfrm>
            <a:off x="731520" y="4572000"/>
            <a:ext cx="4754880" cy="457200"/>
          </a:xfrm>
          <a:prstGeom prst="rect">
            <a:avLst/>
          </a:prstGeom>
          <a:noFill/>
        </p:spPr>
        <p:txBody>
          <a:bodyPr wrap="none">
            <a:spAutoFit/>
          </a:bodyPr>
          <a:lstStyle/>
          <a:p>
            <a:pPr>
              <a:defRPr sz="1200" b="0" i="1">
                <a:solidFill>
                  <a:srgbClr val="5A6E8C"/>
                </a:solidFill>
                <a:latin typeface="Calibri Light"/>
              </a:defRPr>
            </a:pPr>
            <a:r>
              <a:t>YC insight: Charging before you can charge. A founder who said yes twice is far more likely to convert than a cold lead.</a:t>
            </a:r>
          </a:p>
        </p:txBody>
      </p:sp>
      <p:sp>
        <p:nvSpPr>
          <p:cNvPr id="10" name="Rectangle 9"/>
          <p:cNvSpPr/>
          <p:nvPr/>
        </p:nvSpPr>
        <p:spPr>
          <a:xfrm>
            <a:off x="6400800" y="1371600"/>
            <a:ext cx="5303520" cy="41148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645920"/>
            <a:ext cx="4572000" cy="457200"/>
          </a:xfrm>
          <a:prstGeom prst="rect">
            <a:avLst/>
          </a:prstGeom>
          <a:noFill/>
        </p:spPr>
        <p:txBody>
          <a:bodyPr wrap="none">
            <a:spAutoFit/>
          </a:bodyPr>
          <a:lstStyle/>
          <a:p>
            <a:pPr>
              <a:defRPr sz="1800" b="1" i="0">
                <a:solidFill>
                  <a:srgbClr val="1E2761"/>
                </a:solidFill>
                <a:latin typeface="Calibri Bold"/>
              </a:defRPr>
            </a:pPr>
            <a:r>
              <a:t>Phase 3 — Constitution + Launch</a:t>
            </a:r>
          </a:p>
        </p:txBody>
      </p:sp>
      <p:sp>
        <p:nvSpPr>
          <p:cNvPr id="12" name="TextBox 11"/>
          <p:cNvSpPr txBox="1"/>
          <p:nvPr/>
        </p:nvSpPr>
        <p:spPr>
          <a:xfrm>
            <a:off x="6675120" y="2011680"/>
            <a:ext cx="4572000" cy="274320"/>
          </a:xfrm>
          <a:prstGeom prst="rect">
            <a:avLst/>
          </a:prstGeom>
          <a:noFill/>
        </p:spPr>
        <p:txBody>
          <a:bodyPr wrap="none">
            <a:spAutoFit/>
          </a:bodyPr>
          <a:lstStyle/>
          <a:p>
            <a:pPr>
              <a:defRPr sz="1300" b="0" i="0">
                <a:solidFill>
                  <a:srgbClr val="5A6E8C"/>
                </a:solidFill>
                <a:latin typeface="Calibri Light"/>
              </a:defRPr>
            </a:pPr>
            <a:r>
              <a:t>Oct → Dec (Q4)</a:t>
            </a:r>
          </a:p>
        </p:txBody>
      </p:sp>
      <p:sp>
        <p:nvSpPr>
          <p:cNvPr id="13" name="TextBox 12"/>
          <p:cNvSpPr txBox="1"/>
          <p:nvPr/>
        </p:nvSpPr>
        <p:spPr>
          <a:xfrm>
            <a:off x="6675120" y="2468880"/>
            <a:ext cx="4754880" cy="457200"/>
          </a:xfrm>
          <a:prstGeom prst="rect">
            <a:avLst/>
          </a:prstGeom>
          <a:noFill/>
        </p:spPr>
        <p:txBody>
          <a:bodyPr wrap="none">
            <a:spAutoFit/>
          </a:bodyPr>
          <a:lstStyle/>
          <a:p>
            <a:pPr>
              <a:defRPr sz="1400" b="0" i="0">
                <a:solidFill>
                  <a:srgbClr val="1E2761"/>
                </a:solidFill>
                <a:latin typeface="Calibri Light"/>
              </a:defRPr>
            </a:pPr>
            <a:r>
              <a:t>North Star: ARR (€/month, WoW %)</a:t>
            </a:r>
          </a:p>
        </p:txBody>
      </p:sp>
      <p:sp>
        <p:nvSpPr>
          <p:cNvPr id="14" name="TextBox 13"/>
          <p:cNvSpPr txBox="1"/>
          <p:nvPr/>
        </p:nvSpPr>
        <p:spPr>
          <a:xfrm>
            <a:off x="6675120" y="2926080"/>
            <a:ext cx="4754880" cy="457200"/>
          </a:xfrm>
          <a:prstGeom prst="rect">
            <a:avLst/>
          </a:prstGeom>
          <a:noFill/>
        </p:spPr>
        <p:txBody>
          <a:bodyPr wrap="none">
            <a:spAutoFit/>
          </a:bodyPr>
          <a:lstStyle/>
          <a:p>
            <a:pPr>
              <a:defRPr sz="1400" b="0" i="0">
                <a:solidFill>
                  <a:srgbClr val="1E2761"/>
                </a:solidFill>
                <a:latin typeface="Calibri Light"/>
              </a:defRPr>
            </a:pPr>
            <a:r>
              <a:t>Launch state: 10 × €199 = €1,990 MRR on day 1 of legal existence</a:t>
            </a:r>
          </a:p>
        </p:txBody>
      </p:sp>
      <p:sp>
        <p:nvSpPr>
          <p:cNvPr id="15" name="TextBox 14"/>
          <p:cNvSpPr txBox="1"/>
          <p:nvPr/>
        </p:nvSpPr>
        <p:spPr>
          <a:xfrm>
            <a:off x="6858000" y="3383280"/>
            <a:ext cx="4572000" cy="731520"/>
          </a:xfrm>
          <a:prstGeom prst="rect">
            <a:avLst/>
          </a:prstGeom>
          <a:noFill/>
        </p:spPr>
        <p:txBody>
          <a:bodyPr wrap="none">
            <a:spAutoFit/>
          </a:bodyPr>
          <a:lstStyle/>
          <a:p>
            <a:pPr>
              <a:defRPr sz="1400" b="0" i="0">
                <a:solidFill>
                  <a:srgbClr val="1E2761"/>
                </a:solidFill>
                <a:latin typeface="Calibri Light"/>
              </a:defRPr>
            </a:pPr>
            <a:r>
              <a:t>• #1 ARR (5–7% WoW target)</a:t>
            </a:r>
            <a:br/>
            <a:r>
              <a:t>• #2 Active users per PoC</a:t>
            </a:r>
            <a:br/>
            <a:r>
              <a:t>• #3 Expansion pipeline</a:t>
            </a:r>
          </a:p>
        </p:txBody>
      </p:sp>
      <p:sp>
        <p:nvSpPr>
          <p:cNvPr id="16" name="TextBox 15"/>
          <p:cNvSpPr txBox="1"/>
          <p:nvPr/>
        </p:nvSpPr>
        <p:spPr>
          <a:xfrm>
            <a:off x="6675120" y="4297680"/>
            <a:ext cx="4572000" cy="457200"/>
          </a:xfrm>
          <a:prstGeom prst="rect">
            <a:avLst/>
          </a:prstGeom>
          <a:noFill/>
        </p:spPr>
        <p:txBody>
          <a:bodyPr wrap="none">
            <a:spAutoFit/>
          </a:bodyPr>
          <a:lstStyle/>
          <a:p>
            <a:pPr>
              <a:defRPr sz="1400" b="1" i="0">
                <a:solidFill>
                  <a:srgbClr val="1E2761"/>
                </a:solidFill>
                <a:latin typeface="Calibri Bold"/>
              </a:defRPr>
            </a:pPr>
            <a:r>
              <a:t>Gate: End Q4 with first upsell conversation opened</a:t>
            </a:r>
          </a:p>
        </p:txBody>
      </p:sp>
      <p:sp>
        <p:nvSpPr>
          <p:cNvPr id="17" name="Rectangle 16"/>
          <p:cNvSpPr/>
          <p:nvPr/>
        </p:nvSpPr>
        <p:spPr>
          <a:xfrm>
            <a:off x="457200" y="5943600"/>
            <a:ext cx="11274552" cy="548640"/>
          </a:xfrm>
          <a:prstGeom prst="rect">
            <a:avLst/>
          </a:prstGeom>
          <a:solidFill>
            <a:srgbClr val="1E2761"/>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6035040"/>
            <a:ext cx="10332720" cy="457200"/>
          </a:xfrm>
          <a:prstGeom prst="rect">
            <a:avLst/>
          </a:prstGeom>
          <a:noFill/>
        </p:spPr>
        <p:txBody>
          <a:bodyPr wrap="none">
            <a:spAutoFit/>
          </a:bodyPr>
          <a:lstStyle/>
          <a:p>
            <a:pPr algn="ctr">
              <a:defRPr sz="1400" b="0" i="0">
                <a:solidFill>
                  <a:srgbClr val="FFFFFF"/>
                </a:solidFill>
                <a:latin typeface="Calibri Light"/>
              </a:defRPr>
            </a:pPr>
            <a:r>
              <a:t>Yearly goal: Constitute XC Gradient with 10 paying Pioneer clients by Q4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7315200" cy="457200"/>
          </a:xfrm>
          <a:prstGeom prst="rect">
            <a:avLst/>
          </a:prstGeom>
          <a:noFill/>
        </p:spPr>
        <p:txBody>
          <a:bodyPr wrap="none">
            <a:spAutoFit/>
          </a:bodyPr>
          <a:lstStyle/>
          <a:p>
            <a:pPr>
              <a:defRPr sz="2200" b="1" i="0">
                <a:solidFill>
                  <a:srgbClr val="1E2761"/>
                </a:solidFill>
                <a:latin typeface="Calibri Bold"/>
              </a:defRPr>
            </a:pPr>
            <a:r>
              <a:t>Every task traces up to this</a:t>
            </a:r>
          </a:p>
        </p:txBody>
      </p:sp>
      <p:sp>
        <p:nvSpPr>
          <p:cNvPr id="3" name="TextBox 2"/>
          <p:cNvSpPr txBox="1"/>
          <p:nvPr/>
        </p:nvSpPr>
        <p:spPr>
          <a:xfrm>
            <a:off x="457200" y="1097280"/>
            <a:ext cx="7315200" cy="5486400"/>
          </a:xfrm>
          <a:prstGeom prst="rect">
            <a:avLst/>
          </a:prstGeom>
          <a:noFill/>
        </p:spPr>
        <p:txBody>
          <a:bodyPr wrap="none">
            <a:spAutoFit/>
          </a:bodyPr>
          <a:lstStyle/>
          <a:p>
            <a:pPr>
              <a:defRPr sz="1400" b="0" i="0">
                <a:solidFill>
                  <a:srgbClr val="1E2761"/>
                </a:solidFill>
                <a:latin typeface="Calibri Light"/>
              </a:defRPr>
            </a:pPr>
            <a:r>
              <a:t>🏆  YEARLY GOAL</a:t>
            </a:r>
            <a:br/>
            <a:r>
              <a:t>    Constitute XC Gradient with 10 paying Pioneers by Q4 2026</a:t>
            </a:r>
            <a:br/>
            <a:r>
              <a:t>    │</a:t>
            </a:r>
            <a:br/>
            <a:r>
              <a:t>    ├── Q2 2026  (CURRENT — Apr–Jun)</a:t>
            </a:r>
            <a:br/>
            <a:r>
              <a:t>    │   Company: 2 PoCs A&gt;0.80 · 5 qualified leads · Thesis Jul 1</a:t>
            </a:r>
            <a:br/>
            <a:r>
              <a:t>    │   │</a:t>
            </a:r>
            <a:br/>
            <a:r>
              <a:t>    │   ├── ORIOL    KR1: Notion OS live Apr 7</a:t>
            </a:r>
            <a:br/>
            <a:r>
              <a:t>    │   │            KR2: 5 pipeline conversations</a:t>
            </a:r>
            <a:br/>
            <a:r>
              <a:t>    │   │            KR3: Thesis defended Jul 1</a:t>
            </a:r>
            <a:br/>
            <a:r>
              <a:t>    │   │</a:t>
            </a:r>
            <a:br/>
            <a:r>
              <a:t>    │   ├── ARNAU    KR1: </a:t>
            </a:r>
            <a:br/>
            <a:r>
              <a:t>    │   │            KR2: </a:t>
            </a:r>
            <a:br/>
            <a:r>
              <a:t>    │   │            KR3: </a:t>
            </a:r>
            <a:br/>
            <a:r>
              <a:t>    │   │</a:t>
            </a:r>
            <a:br/>
            <a:r>
              <a:t>    │   └── ADAM     KR1: </a:t>
            </a:r>
            <a:br/>
            <a:r>
              <a:t>    │                KR2: </a:t>
            </a:r>
            <a:br/>
            <a:r>
              <a:t>    │                KR3: </a:t>
            </a:r>
            <a:br/>
            <a:r>
              <a:t>    │</a:t>
            </a:r>
            <a:br/>
            <a:r>
              <a:t>    ├── Q3 2026  (stub)   "Build 10 Pioneer LOIs"</a:t>
            </a:r>
            <a:br/>
            <a:r>
              <a:t>    └── Q4 2026  (stub)   "Launch constituted company"</a:t>
            </a:r>
            <a:br/>
          </a:p>
        </p:txBody>
      </p:sp>
      <p:sp>
        <p:nvSpPr>
          <p:cNvPr id="4" name="Rectangle 3"/>
          <p:cNvSpPr/>
          <p:nvPr/>
        </p:nvSpPr>
        <p:spPr>
          <a:xfrm>
            <a:off x="8229600" y="1097280"/>
            <a:ext cx="3474720" cy="9144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0" y="1097280"/>
            <a:ext cx="91440" cy="9144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0" y="1280160"/>
            <a:ext cx="3108960" cy="731520"/>
          </a:xfrm>
          <a:prstGeom prst="rect">
            <a:avLst/>
          </a:prstGeom>
          <a:noFill/>
        </p:spPr>
        <p:txBody>
          <a:bodyPr wrap="none">
            <a:spAutoFit/>
          </a:bodyPr>
          <a:lstStyle/>
          <a:p>
            <a:pPr>
              <a:defRPr sz="1300" b="0" i="1">
                <a:solidFill>
                  <a:srgbClr val="1E2761"/>
                </a:solidFill>
                <a:latin typeface="Calibri Light"/>
              </a:defRPr>
            </a:pPr>
            <a:r>
              <a:t>Arnau and Adam's KRs are blank. We fill them together in the next 15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0" y="914400"/>
            <a:ext cx="2743200" cy="3657600"/>
          </a:xfrm>
          <a:prstGeom prst="rect">
            <a:avLst/>
          </a:prstGeom>
          <a:noFill/>
        </p:spPr>
        <p:txBody>
          <a:bodyPr wrap="none">
            <a:spAutoFit/>
          </a:bodyPr>
          <a:lstStyle/>
          <a:p>
            <a:pPr algn="ctr">
              <a:defRPr sz="12000" b="1" i="0">
                <a:solidFill>
                  <a:srgbClr val="2A3882"/>
                </a:solidFill>
                <a:latin typeface="Calibri Bold"/>
              </a:defRPr>
            </a:pPr>
            <a:r>
              <a:t>03</a:t>
            </a:r>
          </a:p>
        </p:txBody>
      </p:sp>
      <p:sp>
        <p:nvSpPr>
          <p:cNvPr id="3" name="TextBox 2"/>
          <p:cNvSpPr txBox="1"/>
          <p:nvPr/>
        </p:nvSpPr>
        <p:spPr>
          <a:xfrm>
            <a:off x="1828800" y="2743200"/>
            <a:ext cx="8531352" cy="914400"/>
          </a:xfrm>
          <a:prstGeom prst="rect">
            <a:avLst/>
          </a:prstGeom>
          <a:noFill/>
        </p:spPr>
        <p:txBody>
          <a:bodyPr wrap="none">
            <a:spAutoFit/>
          </a:bodyPr>
          <a:lstStyle/>
          <a:p>
            <a:pPr algn="ctr">
              <a:defRPr sz="4400" b="1" i="0">
                <a:solidFill>
                  <a:srgbClr val="FFFFFF"/>
                </a:solidFill>
                <a:latin typeface="Calibri Bold"/>
              </a:defRPr>
            </a:pPr>
            <a:r>
              <a:t>How We Work Every Day</a:t>
            </a:r>
          </a:p>
        </p:txBody>
      </p:sp>
      <p:sp>
        <p:nvSpPr>
          <p:cNvPr id="4" name="TextBox 3"/>
          <p:cNvSpPr txBox="1"/>
          <p:nvPr/>
        </p:nvSpPr>
        <p:spPr>
          <a:xfrm>
            <a:off x="1828800" y="3657600"/>
            <a:ext cx="8531352" cy="457200"/>
          </a:xfrm>
          <a:prstGeom prst="rect">
            <a:avLst/>
          </a:prstGeom>
          <a:noFill/>
        </p:spPr>
        <p:txBody>
          <a:bodyPr wrap="none">
            <a:spAutoFit/>
          </a:bodyPr>
          <a:lstStyle/>
          <a:p>
            <a:pPr algn="ctr">
              <a:defRPr sz="2000" b="0" i="0">
                <a:solidFill>
                  <a:srgbClr val="CADCFC"/>
                </a:solidFill>
                <a:latin typeface="Calibri"/>
              </a:defRPr>
            </a:pPr>
            <a:r>
              <a:t>The daily log, sprint cards, and streak system</a:t>
            </a:r>
          </a:p>
        </p:txBody>
      </p:sp>
      <p:sp>
        <p:nvSpPr>
          <p:cNvPr id="5" name="Rectangle 4"/>
          <p:cNvSpPr/>
          <p:nvPr/>
        </p:nvSpPr>
        <p:spPr>
          <a:xfrm>
            <a:off x="3657600" y="4389120"/>
            <a:ext cx="4873752" cy="27432"/>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5 minutes. Every day. No exceptions.</a:t>
            </a:r>
          </a:p>
        </p:txBody>
      </p:sp>
      <p:sp>
        <p:nvSpPr>
          <p:cNvPr id="3" name="Rectangle 2"/>
          <p:cNvSpPr/>
          <p:nvPr/>
        </p:nvSpPr>
        <p:spPr>
          <a:xfrm>
            <a:off x="457200" y="1371600"/>
            <a:ext cx="365760" cy="365760"/>
          </a:xfrm>
          <a:prstGeom prst="rect">
            <a:avLst/>
          </a:prstGeom>
          <a:solidFill>
            <a:srgbClr val="69F0AE"/>
          </a:solidFill>
          <a:ln w="12700">
            <a:solidFill>
              <a:srgbClr val="69F0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325880"/>
            <a:ext cx="4114800" cy="274320"/>
          </a:xfrm>
          <a:prstGeom prst="rect">
            <a:avLst/>
          </a:prstGeom>
          <a:noFill/>
        </p:spPr>
        <p:txBody>
          <a:bodyPr wrap="none">
            <a:spAutoFit/>
          </a:bodyPr>
          <a:lstStyle/>
          <a:p>
            <a:pPr>
              <a:defRPr sz="1600" b="1" i="0">
                <a:solidFill>
                  <a:srgbClr val="1E2761"/>
                </a:solidFill>
                <a:latin typeface="Calibri Bold"/>
              </a:defRPr>
            </a:pPr>
            <a:r>
              <a:t>Fill before closing Notion</a:t>
            </a:r>
          </a:p>
        </p:txBody>
      </p:sp>
      <p:sp>
        <p:nvSpPr>
          <p:cNvPr id="5" name="TextBox 4"/>
          <p:cNvSpPr txBox="1"/>
          <p:nvPr/>
        </p:nvSpPr>
        <p:spPr>
          <a:xfrm>
            <a:off x="1005840" y="1645920"/>
            <a:ext cx="4114800" cy="731520"/>
          </a:xfrm>
          <a:prstGeom prst="rect">
            <a:avLst/>
          </a:prstGeom>
          <a:noFill/>
        </p:spPr>
        <p:txBody>
          <a:bodyPr wrap="none">
            <a:spAutoFit/>
          </a:bodyPr>
          <a:lstStyle/>
          <a:p>
            <a:pPr>
              <a:defRPr sz="1400" b="0" i="0">
                <a:solidFill>
                  <a:srgbClr val="5A6E8C"/>
                </a:solidFill>
                <a:latin typeface="Calibri Light"/>
              </a:defRPr>
            </a:pPr>
            <a:r>
              <a:t>If you worked today, you log today. Missing a day resets your streak to zero.</a:t>
            </a:r>
          </a:p>
        </p:txBody>
      </p:sp>
      <p:sp>
        <p:nvSpPr>
          <p:cNvPr id="6" name="Rectangle 5"/>
          <p:cNvSpPr/>
          <p:nvPr/>
        </p:nvSpPr>
        <p:spPr>
          <a:xfrm>
            <a:off x="457200" y="2743200"/>
            <a:ext cx="365760" cy="36576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97480"/>
            <a:ext cx="4114800" cy="274320"/>
          </a:xfrm>
          <a:prstGeom prst="rect">
            <a:avLst/>
          </a:prstGeom>
          <a:noFill/>
        </p:spPr>
        <p:txBody>
          <a:bodyPr wrap="none">
            <a:spAutoFit/>
          </a:bodyPr>
          <a:lstStyle/>
          <a:p>
            <a:pPr>
              <a:defRPr sz="1600" b="1" i="0">
                <a:solidFill>
                  <a:srgbClr val="1E2761"/>
                </a:solidFill>
                <a:latin typeface="Calibri Bold"/>
              </a:defRPr>
            </a:pPr>
            <a:r>
              <a:t>TOMORROW max 3 items</a:t>
            </a:r>
          </a:p>
        </p:txBody>
      </p:sp>
      <p:sp>
        <p:nvSpPr>
          <p:cNvPr id="8" name="TextBox 7"/>
          <p:cNvSpPr txBox="1"/>
          <p:nvPr/>
        </p:nvSpPr>
        <p:spPr>
          <a:xfrm>
            <a:off x="1005840" y="3017520"/>
            <a:ext cx="4114800" cy="731520"/>
          </a:xfrm>
          <a:prstGeom prst="rect">
            <a:avLst/>
          </a:prstGeom>
          <a:noFill/>
        </p:spPr>
        <p:txBody>
          <a:bodyPr wrap="none">
            <a:spAutoFit/>
          </a:bodyPr>
          <a:lstStyle/>
          <a:p>
            <a:pPr>
              <a:defRPr sz="1400" b="0" i="0">
                <a:solidFill>
                  <a:srgbClr val="5A6E8C"/>
                </a:solidFill>
                <a:latin typeface="Calibri Light"/>
              </a:defRPr>
            </a:pPr>
            <a:r>
              <a:t>Forces prioritization. If you have 10 things tomorrow, you don't have a plan — you have a list.</a:t>
            </a:r>
          </a:p>
        </p:txBody>
      </p:sp>
      <p:sp>
        <p:nvSpPr>
          <p:cNvPr id="9" name="Rectangle 8"/>
          <p:cNvSpPr/>
          <p:nvPr/>
        </p:nvSpPr>
        <p:spPr>
          <a:xfrm>
            <a:off x="457200" y="4114800"/>
            <a:ext cx="365760" cy="365760"/>
          </a:xfrm>
          <a:prstGeom prst="rect">
            <a:avLst/>
          </a:prstGeom>
          <a:solidFill>
            <a:srgbClr val="F96167"/>
          </a:solidFill>
          <a:ln w="12700">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69080"/>
            <a:ext cx="4114800" cy="274320"/>
          </a:xfrm>
          <a:prstGeom prst="rect">
            <a:avLst/>
          </a:prstGeom>
          <a:noFill/>
        </p:spPr>
        <p:txBody>
          <a:bodyPr wrap="none">
            <a:spAutoFit/>
          </a:bodyPr>
          <a:lstStyle/>
          <a:p>
            <a:pPr>
              <a:defRPr sz="1600" b="1" i="0">
                <a:solidFill>
                  <a:srgbClr val="1E2761"/>
                </a:solidFill>
                <a:latin typeface="Calibri Bold"/>
              </a:defRPr>
            </a:pPr>
            <a:r>
              <a:t>BLOCKERS must be visible</a:t>
            </a:r>
          </a:p>
        </p:txBody>
      </p:sp>
      <p:sp>
        <p:nvSpPr>
          <p:cNvPr id="11" name="TextBox 10"/>
          <p:cNvSpPr txBox="1"/>
          <p:nvPr/>
        </p:nvSpPr>
        <p:spPr>
          <a:xfrm>
            <a:off x="1005840" y="4389120"/>
            <a:ext cx="4114800" cy="731520"/>
          </a:xfrm>
          <a:prstGeom prst="rect">
            <a:avLst/>
          </a:prstGeom>
          <a:noFill/>
        </p:spPr>
        <p:txBody>
          <a:bodyPr wrap="none">
            <a:spAutoFit/>
          </a:bodyPr>
          <a:lstStyle/>
          <a:p>
            <a:pPr>
              <a:defRPr sz="1400" b="0" i="0">
                <a:solidFill>
                  <a:srgbClr val="5A6E8C"/>
                </a:solidFill>
                <a:latin typeface="Calibri Light"/>
              </a:defRPr>
            </a:pPr>
            <a:r>
              <a:t>If something is blocking you, the other two need to see it. That's the whole point of the system.</a:t>
            </a:r>
          </a:p>
        </p:txBody>
      </p:sp>
      <p:sp>
        <p:nvSpPr>
          <p:cNvPr id="12" name="Rectangle 11"/>
          <p:cNvSpPr/>
          <p:nvPr/>
        </p:nvSpPr>
        <p:spPr>
          <a:xfrm>
            <a:off x="5943600" y="1371600"/>
            <a:ext cx="5486400" cy="4572000"/>
          </a:xfrm>
          <a:prstGeom prst="rect">
            <a:avLst/>
          </a:prstGeom>
          <a:solidFill>
            <a:srgbClr val="F0F2F5"/>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0" y="1371600"/>
            <a:ext cx="91440" cy="4572000"/>
          </a:xfrm>
          <a:prstGeom prst="rect">
            <a:avLst/>
          </a:prstGeom>
          <a:solidFill>
            <a:srgbClr val="1E2761"/>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645920"/>
            <a:ext cx="4572000" cy="457200"/>
          </a:xfrm>
          <a:prstGeom prst="rect">
            <a:avLst/>
          </a:prstGeom>
          <a:noFill/>
        </p:spPr>
        <p:txBody>
          <a:bodyPr wrap="none">
            <a:spAutoFit/>
          </a:bodyPr>
          <a:lstStyle/>
          <a:p>
            <a:pPr>
              <a:defRPr sz="1400" b="1" i="0">
                <a:solidFill>
                  <a:srgbClr val="1E2761"/>
                </a:solidFill>
                <a:latin typeface="Calibri Bold"/>
              </a:defRPr>
            </a:pPr>
            <a:r>
              <a:t>📅  2026-04-07  ·  Oriol</a:t>
            </a:r>
            <a:br/>
            <a:r>
              <a:t>🔗  Sprint: W15</a:t>
            </a:r>
          </a:p>
        </p:txBody>
      </p:sp>
      <p:sp>
        <p:nvSpPr>
          <p:cNvPr id="15" name="TextBox 14"/>
          <p:cNvSpPr txBox="1"/>
          <p:nvPr/>
        </p:nvSpPr>
        <p:spPr>
          <a:xfrm>
            <a:off x="6217920" y="2286000"/>
            <a:ext cx="4572000" cy="731520"/>
          </a:xfrm>
          <a:prstGeom prst="rect">
            <a:avLst/>
          </a:prstGeom>
          <a:noFill/>
        </p:spPr>
        <p:txBody>
          <a:bodyPr wrap="none">
            <a:spAutoFit/>
          </a:bodyPr>
          <a:lstStyle/>
          <a:p>
            <a:pPr>
              <a:defRPr sz="1400" b="0" i="0">
                <a:solidFill>
                  <a:srgbClr val="1E2761"/>
                </a:solidFill>
                <a:latin typeface="Calibri Light"/>
              </a:defRPr>
            </a:pPr>
            <a:r>
              <a:t>✅  DONE TODAY</a:t>
            </a:r>
            <a:br/>
            <a:r>
              <a:t>    · Pain point map finalized</a:t>
            </a:r>
            <a:br/>
            <a:r>
              <a:t>    · Paver visit — outcome: qualified lead</a:t>
            </a:r>
            <a:br/>
            <a:r>
              <a:t>    · Logged 2 decisions</a:t>
            </a:r>
          </a:p>
        </p:txBody>
      </p:sp>
      <p:sp>
        <p:nvSpPr>
          <p:cNvPr id="16" name="TextBox 15"/>
          <p:cNvSpPr txBox="1"/>
          <p:nvPr/>
        </p:nvSpPr>
        <p:spPr>
          <a:xfrm>
            <a:off x="6217920" y="3200400"/>
            <a:ext cx="4572000" cy="548640"/>
          </a:xfrm>
          <a:prstGeom prst="rect">
            <a:avLst/>
          </a:prstGeom>
          <a:noFill/>
        </p:spPr>
        <p:txBody>
          <a:bodyPr wrap="none">
            <a:spAutoFit/>
          </a:bodyPr>
          <a:lstStyle/>
          <a:p>
            <a:pPr>
              <a:defRPr sz="1400" b="0" i="0">
                <a:solidFill>
                  <a:srgbClr val="1E2761"/>
                </a:solidFill>
                <a:latin typeface="Calibri Light"/>
              </a:defRPr>
            </a:pPr>
            <a:r>
              <a:t>⏭️  TOMORROW</a:t>
            </a:r>
            <a:br/>
            <a:r>
              <a:t>    · W15 sprint card with Arnau + Adam</a:t>
            </a:r>
            <a:br/>
            <a:r>
              <a:t>    · Decfa demo prep check</a:t>
            </a:r>
          </a:p>
        </p:txBody>
      </p:sp>
      <p:sp>
        <p:nvSpPr>
          <p:cNvPr id="17" name="TextBox 16"/>
          <p:cNvSpPr txBox="1"/>
          <p:nvPr/>
        </p:nvSpPr>
        <p:spPr>
          <a:xfrm>
            <a:off x="6217920" y="3931920"/>
            <a:ext cx="4572000" cy="365760"/>
          </a:xfrm>
          <a:prstGeom prst="rect">
            <a:avLst/>
          </a:prstGeom>
          <a:noFill/>
        </p:spPr>
        <p:txBody>
          <a:bodyPr wrap="none">
            <a:spAutoFit/>
          </a:bodyPr>
          <a:lstStyle/>
          <a:p>
            <a:pPr>
              <a:defRPr sz="1400" b="0" i="0">
                <a:solidFill>
                  <a:srgbClr val="1E2761"/>
                </a:solidFill>
                <a:latin typeface="Calibri Light"/>
              </a:defRPr>
            </a:pPr>
            <a:r>
              <a:t>⚡  BLOCKERS</a:t>
            </a:r>
            <a:br/>
            <a:r>
              <a:t>    · Need Arnau: Decfa corpus loaded by Thu?</a:t>
            </a:r>
          </a:p>
        </p:txBody>
      </p:sp>
      <p:sp>
        <p:nvSpPr>
          <p:cNvPr id="18" name="TextBox 17"/>
          <p:cNvSpPr txBox="1"/>
          <p:nvPr/>
        </p:nvSpPr>
        <p:spPr>
          <a:xfrm>
            <a:off x="6217920" y="4572000"/>
            <a:ext cx="4572000" cy="365760"/>
          </a:xfrm>
          <a:prstGeom prst="rect">
            <a:avLst/>
          </a:prstGeom>
          <a:noFill/>
        </p:spPr>
        <p:txBody>
          <a:bodyPr wrap="none">
            <a:spAutoFit/>
          </a:bodyPr>
          <a:lstStyle/>
          <a:p>
            <a:pPr>
              <a:defRPr sz="1400" b="0" i="0">
                <a:solidFill>
                  <a:srgbClr val="1E2761"/>
                </a:solidFill>
                <a:latin typeface="Calibri Light"/>
              </a:defRPr>
            </a:pPr>
            <a:r>
              <a:t>📊  GOAL PROGRESS</a:t>
            </a:r>
            <a:br/>
            <a:r>
              <a:t>    · Notion OS  80% → 100%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The accountability layer</a:t>
            </a:r>
          </a:p>
        </p:txBody>
      </p:sp>
      <p:sp>
        <p:nvSpPr>
          <p:cNvPr id="3" name="Rectangle 2"/>
          <p:cNvSpPr/>
          <p:nvPr/>
        </p:nvSpPr>
        <p:spPr>
          <a:xfrm>
            <a:off x="457200" y="1371600"/>
            <a:ext cx="5943600" cy="41148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0"/>
            <a:ext cx="91440" cy="41148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4572000" cy="274320"/>
          </a:xfrm>
          <a:prstGeom prst="rect">
            <a:avLst/>
          </a:prstGeom>
          <a:noFill/>
        </p:spPr>
        <p:txBody>
          <a:bodyPr wrap="none">
            <a:spAutoFit/>
          </a:bodyPr>
          <a:lstStyle/>
          <a:p>
            <a:pPr>
              <a:defRPr sz="1400" b="1" i="0">
                <a:solidFill>
                  <a:srgbClr val="1E2761"/>
                </a:solidFill>
                <a:latin typeface="Calibri Bold"/>
              </a:defRPr>
            </a:pPr>
            <a:r>
              <a:t>W15 — Apr 7–13 · Arnau</a:t>
            </a:r>
          </a:p>
        </p:txBody>
      </p:sp>
      <p:sp>
        <p:nvSpPr>
          <p:cNvPr id="6" name="TextBox 5"/>
          <p:cNvSpPr txBox="1"/>
          <p:nvPr/>
        </p:nvSpPr>
        <p:spPr>
          <a:xfrm>
            <a:off x="731520" y="2103120"/>
            <a:ext cx="5486400" cy="914400"/>
          </a:xfrm>
          <a:prstGeom prst="rect">
            <a:avLst/>
          </a:prstGeom>
          <a:noFill/>
        </p:spPr>
        <p:txBody>
          <a:bodyPr wrap="none">
            <a:spAutoFit/>
          </a:bodyPr>
          <a:lstStyle/>
          <a:p>
            <a:pPr>
              <a:defRPr sz="1400" b="0" i="0">
                <a:solidFill>
                  <a:srgbClr val="1E2761"/>
                </a:solidFill>
                <a:latin typeface="Calibri Light"/>
              </a:defRPr>
            </a:pPr>
            <a:r>
              <a:t>RAG running on Decfa          0%    🔴 Not started</a:t>
            </a:r>
            <a:br/>
            <a:r>
              <a:t>Network topology            100%    ✅ Done</a:t>
            </a:r>
            <a:br/>
            <a:r>
              <a:t>Latency benchmark &lt; 3s        0%    🔴 Not started</a:t>
            </a:r>
          </a:p>
        </p:txBody>
      </p:sp>
      <p:sp>
        <p:nvSpPr>
          <p:cNvPr id="7" name="Rectangle 6"/>
          <p:cNvSpPr/>
          <p:nvPr/>
        </p:nvSpPr>
        <p:spPr>
          <a:xfrm>
            <a:off x="731520" y="2377440"/>
            <a:ext cx="4572000" cy="45720"/>
          </a:xfrm>
          <a:prstGeom prst="rect">
            <a:avLst/>
          </a:prstGeom>
          <a:solidFill>
            <a:srgbClr val="F96167"/>
          </a:solidFill>
          <a:ln w="12700">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43200"/>
            <a:ext cx="4572000" cy="45720"/>
          </a:xfrm>
          <a:prstGeom prst="rect">
            <a:avLst/>
          </a:prstGeom>
          <a:solidFill>
            <a:srgbClr val="69F0AE"/>
          </a:solidFill>
          <a:ln w="12700">
            <a:solidFill>
              <a:srgbClr val="69F0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108960"/>
            <a:ext cx="4572000" cy="45720"/>
          </a:xfrm>
          <a:prstGeom prst="rect">
            <a:avLst/>
          </a:prstGeom>
          <a:solidFill>
            <a:srgbClr val="F96167"/>
          </a:solidFill>
          <a:ln w="12700">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114800"/>
            <a:ext cx="4572000" cy="457200"/>
          </a:xfrm>
          <a:prstGeom prst="rect">
            <a:avLst/>
          </a:prstGeom>
          <a:noFill/>
        </p:spPr>
        <p:txBody>
          <a:bodyPr wrap="none">
            <a:spAutoFit/>
          </a:bodyPr>
          <a:lstStyle/>
          <a:p>
            <a:pPr>
              <a:defRPr sz="1400" b="0" i="0">
                <a:solidFill>
                  <a:srgbClr val="1E2761"/>
                </a:solidFill>
                <a:latin typeface="Calibri Light"/>
              </a:defRPr>
            </a:pPr>
            <a:r>
              <a:t>Week outcome (filled Friday EOD): ___</a:t>
            </a:r>
          </a:p>
        </p:txBody>
      </p:sp>
      <p:sp>
        <p:nvSpPr>
          <p:cNvPr id="11" name="Rectangle 10"/>
          <p:cNvSpPr/>
          <p:nvPr/>
        </p:nvSpPr>
        <p:spPr>
          <a:xfrm>
            <a:off x="6858000" y="1371600"/>
            <a:ext cx="4846320" cy="41148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0" y="1371600"/>
            <a:ext cx="91440" cy="41148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0" y="1645920"/>
            <a:ext cx="3657600" cy="274320"/>
          </a:xfrm>
          <a:prstGeom prst="rect">
            <a:avLst/>
          </a:prstGeom>
          <a:noFill/>
        </p:spPr>
        <p:txBody>
          <a:bodyPr wrap="none">
            <a:spAutoFit/>
          </a:bodyPr>
          <a:lstStyle/>
          <a:p>
            <a:pPr>
              <a:defRPr sz="1400" b="1" i="0">
                <a:solidFill>
                  <a:srgbClr val="1E2761"/>
                </a:solidFill>
                <a:latin typeface="Calibri Bold"/>
              </a:defRPr>
            </a:pPr>
            <a:r>
              <a:t>Daily log streaks</a:t>
            </a:r>
          </a:p>
        </p:txBody>
      </p:sp>
      <p:sp>
        <p:nvSpPr>
          <p:cNvPr id="14" name="TextBox 13"/>
          <p:cNvSpPr txBox="1"/>
          <p:nvPr/>
        </p:nvSpPr>
        <p:spPr>
          <a:xfrm>
            <a:off x="7132320" y="2103120"/>
            <a:ext cx="3657600" cy="914400"/>
          </a:xfrm>
          <a:prstGeom prst="rect">
            <a:avLst/>
          </a:prstGeom>
          <a:noFill/>
        </p:spPr>
        <p:txBody>
          <a:bodyPr wrap="none">
            <a:spAutoFit/>
          </a:bodyPr>
          <a:lstStyle/>
          <a:p>
            <a:pPr>
              <a:defRPr sz="1400" b="0" i="0">
                <a:solidFill>
                  <a:srgbClr val="1E2761"/>
                </a:solidFill>
                <a:latin typeface="Calibri Light"/>
              </a:defRPr>
            </a:pPr>
            <a:r>
              <a:t>Oriol   🔥  1 day    Best: 1</a:t>
            </a:r>
            <a:br/>
            <a:r>
              <a:t>Arnau   🔥  0 days   Best: 0</a:t>
            </a:r>
            <a:br/>
            <a:r>
              <a:t>Adam    🔥  0 days   Best: 0</a:t>
            </a:r>
          </a:p>
        </p:txBody>
      </p:sp>
      <p:sp>
        <p:nvSpPr>
          <p:cNvPr id="15" name="TextBox 14"/>
          <p:cNvSpPr txBox="1"/>
          <p:nvPr/>
        </p:nvSpPr>
        <p:spPr>
          <a:xfrm>
            <a:off x="7132320" y="4114800"/>
            <a:ext cx="4114800" cy="731520"/>
          </a:xfrm>
          <a:prstGeom prst="rect">
            <a:avLst/>
          </a:prstGeom>
          <a:noFill/>
        </p:spPr>
        <p:txBody>
          <a:bodyPr wrap="none">
            <a:spAutoFit/>
          </a:bodyPr>
          <a:lstStyle/>
          <a:p>
            <a:pPr>
              <a:defRPr sz="1200" b="0" i="0">
                <a:solidFill>
                  <a:srgbClr val="5A6E8C"/>
                </a:solidFill>
                <a:latin typeface="Calibri Light"/>
              </a:defRPr>
            </a:pPr>
            <a:r>
              <a:t>⚠️ Warning appears at 7pm if no log submitted today. Missing a day → streak resets to zero. Weekends count if submitted.</a:t>
            </a:r>
          </a:p>
        </p:txBody>
      </p:sp>
      <p:sp>
        <p:nvSpPr>
          <p:cNvPr id="16" name="Rectangle 15"/>
          <p:cNvSpPr/>
          <p:nvPr/>
        </p:nvSpPr>
        <p:spPr>
          <a:xfrm>
            <a:off x="457200" y="5943600"/>
            <a:ext cx="11247120" cy="548640"/>
          </a:xfrm>
          <a:prstGeom prst="rect">
            <a:avLst/>
          </a:prstGeom>
          <a:solidFill>
            <a:srgbClr val="FFFFFF"/>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035040"/>
            <a:ext cx="10058400" cy="457200"/>
          </a:xfrm>
          <a:prstGeom prst="rect">
            <a:avLst/>
          </a:prstGeom>
          <a:noFill/>
        </p:spPr>
        <p:txBody>
          <a:bodyPr wrap="none">
            <a:spAutoFit/>
          </a:bodyPr>
          <a:lstStyle/>
          <a:p>
            <a:pPr>
              <a:defRPr sz="1300" b="0" i="1">
                <a:solidFill>
                  <a:srgbClr val="1E2761"/>
                </a:solidFill>
                <a:latin typeface="Calibri Light"/>
              </a:defRPr>
            </a:pPr>
            <a:r>
              <a:t>Gamification rule: we compete on discipline, not output quality. No ranking by performance. Perverse incentives by design avoided.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Define nearer things more completely</a:t>
            </a:r>
          </a:p>
        </p:txBody>
      </p:sp>
      <p:sp>
        <p:nvSpPr>
          <p:cNvPr id="3" name="TextBox 2"/>
          <p:cNvSpPr txBox="1"/>
          <p:nvPr/>
        </p:nvSpPr>
        <p:spPr>
          <a:xfrm>
            <a:off x="457200" y="914400"/>
            <a:ext cx="10972800" cy="457200"/>
          </a:xfrm>
          <a:prstGeom prst="rect">
            <a:avLst/>
          </a:prstGeom>
          <a:noFill/>
        </p:spPr>
        <p:txBody>
          <a:bodyPr wrap="none">
            <a:spAutoFit/>
          </a:bodyPr>
          <a:lstStyle/>
          <a:p>
            <a:pPr algn="ctr">
              <a:defRPr sz="1400" b="0" i="0">
                <a:solidFill>
                  <a:srgbClr val="5A6E8C"/>
                </a:solidFill>
                <a:latin typeface="Calibri Light"/>
              </a:defRPr>
            </a:pPr>
            <a:r>
              <a:t>Top-down cascading — you can only define a smaller goal correctly once you know the bigger goal it serves</a:t>
            </a:r>
          </a:p>
        </p:txBody>
      </p:sp>
      <p:sp>
        <p:nvSpPr>
          <p:cNvPr id="4" name="Rectangle 3"/>
          <p:cNvSpPr/>
          <p:nvPr/>
        </p:nvSpPr>
        <p:spPr>
          <a:xfrm>
            <a:off x="914400" y="1645920"/>
            <a:ext cx="10332720" cy="548640"/>
          </a:xfrm>
          <a:prstGeom prst="rect">
            <a:avLst/>
          </a:prstGeom>
          <a:solidFill>
            <a:srgbClr val="1E2761"/>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737360"/>
            <a:ext cx="9144000" cy="457200"/>
          </a:xfrm>
          <a:prstGeom prst="rect">
            <a:avLst/>
          </a:prstGeom>
          <a:noFill/>
        </p:spPr>
        <p:txBody>
          <a:bodyPr wrap="none">
            <a:spAutoFit/>
          </a:bodyPr>
          <a:lstStyle/>
          <a:p>
            <a:pPr>
              <a:defRPr sz="1400" b="1" i="0">
                <a:solidFill>
                  <a:srgbClr val="FFFFFF"/>
                </a:solidFill>
                <a:latin typeface="Calibri Bold"/>
              </a:defRPr>
            </a:pPr>
            <a:r>
              <a:t>Cadence                 Duration    Who       Purpose</a:t>
            </a:r>
          </a:p>
        </p:txBody>
      </p:sp>
      <p:sp>
        <p:nvSpPr>
          <p:cNvPr id="6" name="TextBox 5"/>
          <p:cNvSpPr txBox="1"/>
          <p:nvPr/>
        </p:nvSpPr>
        <p:spPr>
          <a:xfrm>
            <a:off x="1371600" y="2377440"/>
            <a:ext cx="1828800" cy="457200"/>
          </a:xfrm>
          <a:prstGeom prst="rect">
            <a:avLst/>
          </a:prstGeom>
          <a:noFill/>
        </p:spPr>
        <p:txBody>
          <a:bodyPr wrap="none">
            <a:spAutoFit/>
          </a:bodyPr>
          <a:lstStyle/>
          <a:p>
            <a:pPr>
              <a:defRPr sz="1400" b="0" i="0">
                <a:solidFill>
                  <a:srgbClr val="1E2761"/>
                </a:solidFill>
                <a:latin typeface="Calibri Light"/>
              </a:defRPr>
            </a:pPr>
            <a:r>
              <a:t>Daily EOD log</a:t>
            </a:r>
          </a:p>
        </p:txBody>
      </p:sp>
      <p:sp>
        <p:nvSpPr>
          <p:cNvPr id="7" name="TextBox 6"/>
          <p:cNvSpPr txBox="1"/>
          <p:nvPr/>
        </p:nvSpPr>
        <p:spPr>
          <a:xfrm>
            <a:off x="3657600" y="2377440"/>
            <a:ext cx="1371600" cy="457200"/>
          </a:xfrm>
          <a:prstGeom prst="rect">
            <a:avLst/>
          </a:prstGeom>
          <a:noFill/>
        </p:spPr>
        <p:txBody>
          <a:bodyPr wrap="none">
            <a:spAutoFit/>
          </a:bodyPr>
          <a:lstStyle/>
          <a:p>
            <a:pPr>
              <a:defRPr sz="1400" b="0" i="0">
                <a:solidFill>
                  <a:srgbClr val="1E2761"/>
                </a:solidFill>
                <a:latin typeface="Calibri Light"/>
              </a:defRPr>
            </a:pPr>
            <a:r>
              <a:t>5 min</a:t>
            </a:r>
          </a:p>
        </p:txBody>
      </p:sp>
      <p:sp>
        <p:nvSpPr>
          <p:cNvPr id="8" name="TextBox 7"/>
          <p:cNvSpPr txBox="1"/>
          <p:nvPr/>
        </p:nvSpPr>
        <p:spPr>
          <a:xfrm>
            <a:off x="5029200" y="2377440"/>
            <a:ext cx="1371600" cy="457200"/>
          </a:xfrm>
          <a:prstGeom prst="rect">
            <a:avLst/>
          </a:prstGeom>
          <a:noFill/>
        </p:spPr>
        <p:txBody>
          <a:bodyPr wrap="none">
            <a:spAutoFit/>
          </a:bodyPr>
          <a:lstStyle/>
          <a:p>
            <a:pPr>
              <a:defRPr sz="1400" b="0" i="0">
                <a:solidFill>
                  <a:srgbClr val="1E2761"/>
                </a:solidFill>
                <a:latin typeface="Calibri Light"/>
              </a:defRPr>
            </a:pPr>
            <a:r>
              <a:t>Solo</a:t>
            </a:r>
          </a:p>
        </p:txBody>
      </p:sp>
      <p:sp>
        <p:nvSpPr>
          <p:cNvPr id="9" name="TextBox 8"/>
          <p:cNvSpPr txBox="1"/>
          <p:nvPr/>
        </p:nvSpPr>
        <p:spPr>
          <a:xfrm>
            <a:off x="6400800" y="2377440"/>
            <a:ext cx="4114800" cy="457200"/>
          </a:xfrm>
          <a:prstGeom prst="rect">
            <a:avLst/>
          </a:prstGeom>
          <a:noFill/>
        </p:spPr>
        <p:txBody>
          <a:bodyPr wrap="none">
            <a:spAutoFit/>
          </a:bodyPr>
          <a:lstStyle/>
          <a:p>
            <a:pPr>
              <a:defRPr sz="1400" b="0" i="0">
                <a:solidFill>
                  <a:srgbClr val="1E2761"/>
                </a:solidFill>
                <a:latin typeface="Calibri Light"/>
              </a:defRPr>
            </a:pPr>
            <a:r>
              <a:t>Log done / tomorrow / blockers</a:t>
            </a:r>
          </a:p>
        </p:txBody>
      </p:sp>
      <p:sp>
        <p:nvSpPr>
          <p:cNvPr id="10" name="Rectangle 9"/>
          <p:cNvSpPr/>
          <p:nvPr/>
        </p:nvSpPr>
        <p:spPr>
          <a:xfrm>
            <a:off x="914400" y="2834640"/>
            <a:ext cx="10332720" cy="640080"/>
          </a:xfrm>
          <a:prstGeom prst="rect">
            <a:avLst/>
          </a:prstGeom>
          <a:solidFill>
            <a:srgbClr val="EEF1F6"/>
          </a:solidFill>
          <a:ln w="12700">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3017520"/>
            <a:ext cx="1828800" cy="457200"/>
          </a:xfrm>
          <a:prstGeom prst="rect">
            <a:avLst/>
          </a:prstGeom>
          <a:noFill/>
        </p:spPr>
        <p:txBody>
          <a:bodyPr wrap="none">
            <a:spAutoFit/>
          </a:bodyPr>
          <a:lstStyle/>
          <a:p>
            <a:pPr>
              <a:defRPr sz="1400" b="0" i="0">
                <a:solidFill>
                  <a:srgbClr val="1E2761"/>
                </a:solidFill>
                <a:latin typeface="Calibri Light"/>
              </a:defRPr>
            </a:pPr>
            <a:r>
              <a:t>Weekly sync</a:t>
            </a:r>
          </a:p>
        </p:txBody>
      </p:sp>
      <p:sp>
        <p:nvSpPr>
          <p:cNvPr id="12" name="TextBox 11"/>
          <p:cNvSpPr txBox="1"/>
          <p:nvPr/>
        </p:nvSpPr>
        <p:spPr>
          <a:xfrm>
            <a:off x="3657600" y="3017520"/>
            <a:ext cx="1371600" cy="457200"/>
          </a:xfrm>
          <a:prstGeom prst="rect">
            <a:avLst/>
          </a:prstGeom>
          <a:noFill/>
        </p:spPr>
        <p:txBody>
          <a:bodyPr wrap="none">
            <a:spAutoFit/>
          </a:bodyPr>
          <a:lstStyle/>
          <a:p>
            <a:pPr>
              <a:defRPr sz="1400" b="0" i="0">
                <a:solidFill>
                  <a:srgbClr val="1E2761"/>
                </a:solidFill>
                <a:latin typeface="Calibri Light"/>
              </a:defRPr>
            </a:pPr>
            <a:r>
              <a:t>60 min</a:t>
            </a:r>
          </a:p>
        </p:txBody>
      </p:sp>
      <p:sp>
        <p:nvSpPr>
          <p:cNvPr id="13" name="TextBox 12"/>
          <p:cNvSpPr txBox="1"/>
          <p:nvPr/>
        </p:nvSpPr>
        <p:spPr>
          <a:xfrm>
            <a:off x="5029200" y="3017520"/>
            <a:ext cx="1371600" cy="457200"/>
          </a:xfrm>
          <a:prstGeom prst="rect">
            <a:avLst/>
          </a:prstGeom>
          <a:noFill/>
        </p:spPr>
        <p:txBody>
          <a:bodyPr wrap="none">
            <a:spAutoFit/>
          </a:bodyPr>
          <a:lstStyle/>
          <a:p>
            <a:pPr>
              <a:defRPr sz="1400" b="0" i="0">
                <a:solidFill>
                  <a:srgbClr val="1E2761"/>
                </a:solidFill>
                <a:latin typeface="Calibri Light"/>
              </a:defRPr>
            </a:pPr>
            <a:r>
              <a:t>All 3</a:t>
            </a:r>
          </a:p>
        </p:txBody>
      </p:sp>
      <p:sp>
        <p:nvSpPr>
          <p:cNvPr id="14" name="TextBox 13"/>
          <p:cNvSpPr txBox="1"/>
          <p:nvPr/>
        </p:nvSpPr>
        <p:spPr>
          <a:xfrm>
            <a:off x="6400800" y="3017520"/>
            <a:ext cx="4114800" cy="457200"/>
          </a:xfrm>
          <a:prstGeom prst="rect">
            <a:avLst/>
          </a:prstGeom>
          <a:noFill/>
        </p:spPr>
        <p:txBody>
          <a:bodyPr wrap="none">
            <a:spAutoFit/>
          </a:bodyPr>
          <a:lstStyle/>
          <a:p>
            <a:pPr>
              <a:defRPr sz="1400" b="0" i="0">
                <a:solidFill>
                  <a:srgbClr val="1E2761"/>
                </a:solidFill>
                <a:latin typeface="Calibri Light"/>
              </a:defRPr>
            </a:pPr>
            <a:r>
              <a:t>Present week, align sprint cards</a:t>
            </a:r>
          </a:p>
        </p:txBody>
      </p:sp>
      <p:sp>
        <p:nvSpPr>
          <p:cNvPr id="15" name="TextBox 14"/>
          <p:cNvSpPr txBox="1"/>
          <p:nvPr/>
        </p:nvSpPr>
        <p:spPr>
          <a:xfrm>
            <a:off x="1371600" y="3657600"/>
            <a:ext cx="1828800" cy="457200"/>
          </a:xfrm>
          <a:prstGeom prst="rect">
            <a:avLst/>
          </a:prstGeom>
          <a:noFill/>
        </p:spPr>
        <p:txBody>
          <a:bodyPr wrap="none">
            <a:spAutoFit/>
          </a:bodyPr>
          <a:lstStyle/>
          <a:p>
            <a:pPr>
              <a:defRPr sz="1400" b="0" i="0">
                <a:solidFill>
                  <a:srgbClr val="1E2761"/>
                </a:solidFill>
                <a:latin typeface="Calibri Light"/>
              </a:defRPr>
            </a:pPr>
            <a:r>
              <a:t>Monthly close</a:t>
            </a:r>
          </a:p>
        </p:txBody>
      </p:sp>
      <p:sp>
        <p:nvSpPr>
          <p:cNvPr id="16" name="TextBox 15"/>
          <p:cNvSpPr txBox="1"/>
          <p:nvPr/>
        </p:nvSpPr>
        <p:spPr>
          <a:xfrm>
            <a:off x="3657600" y="3657600"/>
            <a:ext cx="1371600" cy="457200"/>
          </a:xfrm>
          <a:prstGeom prst="rect">
            <a:avLst/>
          </a:prstGeom>
          <a:noFill/>
        </p:spPr>
        <p:txBody>
          <a:bodyPr wrap="none">
            <a:spAutoFit/>
          </a:bodyPr>
          <a:lstStyle/>
          <a:p>
            <a:pPr>
              <a:defRPr sz="1400" b="0" i="0">
                <a:solidFill>
                  <a:srgbClr val="1E2761"/>
                </a:solidFill>
                <a:latin typeface="Calibri Light"/>
              </a:defRPr>
            </a:pPr>
            <a:r>
              <a:t>90 min</a:t>
            </a:r>
          </a:p>
        </p:txBody>
      </p:sp>
      <p:sp>
        <p:nvSpPr>
          <p:cNvPr id="17" name="TextBox 16"/>
          <p:cNvSpPr txBox="1"/>
          <p:nvPr/>
        </p:nvSpPr>
        <p:spPr>
          <a:xfrm>
            <a:off x="5029200" y="3657600"/>
            <a:ext cx="1371600" cy="457200"/>
          </a:xfrm>
          <a:prstGeom prst="rect">
            <a:avLst/>
          </a:prstGeom>
          <a:noFill/>
        </p:spPr>
        <p:txBody>
          <a:bodyPr wrap="none">
            <a:spAutoFit/>
          </a:bodyPr>
          <a:lstStyle/>
          <a:p>
            <a:pPr>
              <a:defRPr sz="1400" b="0" i="0">
                <a:solidFill>
                  <a:srgbClr val="1E2761"/>
                </a:solidFill>
                <a:latin typeface="Calibri Light"/>
              </a:defRPr>
            </a:pPr>
            <a:r>
              <a:t>All 3</a:t>
            </a:r>
          </a:p>
        </p:txBody>
      </p:sp>
      <p:sp>
        <p:nvSpPr>
          <p:cNvPr id="18" name="TextBox 17"/>
          <p:cNvSpPr txBox="1"/>
          <p:nvPr/>
        </p:nvSpPr>
        <p:spPr>
          <a:xfrm>
            <a:off x="6400800" y="3657600"/>
            <a:ext cx="4114800" cy="457200"/>
          </a:xfrm>
          <a:prstGeom prst="rect">
            <a:avLst/>
          </a:prstGeom>
          <a:noFill/>
        </p:spPr>
        <p:txBody>
          <a:bodyPr wrap="none">
            <a:spAutoFit/>
          </a:bodyPr>
          <a:lstStyle/>
          <a:p>
            <a:pPr>
              <a:defRPr sz="1400" b="0" i="0">
                <a:solidFill>
                  <a:srgbClr val="1E2761"/>
                </a:solidFill>
                <a:latin typeface="Calibri Light"/>
              </a:defRPr>
            </a:pPr>
            <a:r>
              <a:t>Review month, define next month</a:t>
            </a:r>
          </a:p>
        </p:txBody>
      </p:sp>
      <p:sp>
        <p:nvSpPr>
          <p:cNvPr id="19" name="Rectangle 18"/>
          <p:cNvSpPr/>
          <p:nvPr/>
        </p:nvSpPr>
        <p:spPr>
          <a:xfrm>
            <a:off x="914400" y="4114799"/>
            <a:ext cx="10332720" cy="640080"/>
          </a:xfrm>
          <a:prstGeom prst="rect">
            <a:avLst/>
          </a:prstGeom>
          <a:solidFill>
            <a:srgbClr val="EEF1F6"/>
          </a:solidFill>
          <a:ln w="12700">
            <a:solidFill>
              <a:srgbClr val="EEF1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4297679"/>
            <a:ext cx="1828800" cy="457200"/>
          </a:xfrm>
          <a:prstGeom prst="rect">
            <a:avLst/>
          </a:prstGeom>
          <a:noFill/>
        </p:spPr>
        <p:txBody>
          <a:bodyPr wrap="none">
            <a:spAutoFit/>
          </a:bodyPr>
          <a:lstStyle/>
          <a:p>
            <a:pPr>
              <a:defRPr sz="1400" b="0" i="0">
                <a:solidFill>
                  <a:srgbClr val="1E2761"/>
                </a:solidFill>
                <a:latin typeface="Calibri Light"/>
              </a:defRPr>
            </a:pPr>
            <a:r>
              <a:t>Quarterly OKR</a:t>
            </a:r>
          </a:p>
        </p:txBody>
      </p:sp>
      <p:sp>
        <p:nvSpPr>
          <p:cNvPr id="21" name="TextBox 20"/>
          <p:cNvSpPr txBox="1"/>
          <p:nvPr/>
        </p:nvSpPr>
        <p:spPr>
          <a:xfrm>
            <a:off x="3657600" y="4297679"/>
            <a:ext cx="1371600" cy="457200"/>
          </a:xfrm>
          <a:prstGeom prst="rect">
            <a:avLst/>
          </a:prstGeom>
          <a:noFill/>
        </p:spPr>
        <p:txBody>
          <a:bodyPr wrap="none">
            <a:spAutoFit/>
          </a:bodyPr>
          <a:lstStyle/>
          <a:p>
            <a:pPr>
              <a:defRPr sz="1400" b="0" i="0">
                <a:solidFill>
                  <a:srgbClr val="1E2761"/>
                </a:solidFill>
                <a:latin typeface="Calibri Light"/>
              </a:defRPr>
            </a:pPr>
            <a:r>
              <a:t>Half day</a:t>
            </a:r>
          </a:p>
        </p:txBody>
      </p:sp>
      <p:sp>
        <p:nvSpPr>
          <p:cNvPr id="22" name="TextBox 21"/>
          <p:cNvSpPr txBox="1"/>
          <p:nvPr/>
        </p:nvSpPr>
        <p:spPr>
          <a:xfrm>
            <a:off x="5029200" y="4297679"/>
            <a:ext cx="1371600" cy="457200"/>
          </a:xfrm>
          <a:prstGeom prst="rect">
            <a:avLst/>
          </a:prstGeom>
          <a:noFill/>
        </p:spPr>
        <p:txBody>
          <a:bodyPr wrap="none">
            <a:spAutoFit/>
          </a:bodyPr>
          <a:lstStyle/>
          <a:p>
            <a:pPr>
              <a:defRPr sz="1400" b="0" i="0">
                <a:solidFill>
                  <a:srgbClr val="1E2761"/>
                </a:solidFill>
                <a:latin typeface="Calibri Light"/>
              </a:defRPr>
            </a:pPr>
            <a:r>
              <a:t>All 3</a:t>
            </a:r>
          </a:p>
        </p:txBody>
      </p:sp>
      <p:sp>
        <p:nvSpPr>
          <p:cNvPr id="23" name="TextBox 22"/>
          <p:cNvSpPr txBox="1"/>
          <p:nvPr/>
        </p:nvSpPr>
        <p:spPr>
          <a:xfrm>
            <a:off x="6400800" y="4297679"/>
            <a:ext cx="4114800" cy="457200"/>
          </a:xfrm>
          <a:prstGeom prst="rect">
            <a:avLst/>
          </a:prstGeom>
          <a:noFill/>
        </p:spPr>
        <p:txBody>
          <a:bodyPr wrap="none">
            <a:spAutoFit/>
          </a:bodyPr>
          <a:lstStyle/>
          <a:p>
            <a:pPr>
              <a:defRPr sz="1400" b="0" i="0">
                <a:solidFill>
                  <a:srgbClr val="1E2761"/>
                </a:solidFill>
                <a:latin typeface="Calibri Light"/>
              </a:defRPr>
            </a:pPr>
            <a:r>
              <a:t>Review Q, define next Q + 3 months</a:t>
            </a:r>
          </a:p>
        </p:txBody>
      </p:sp>
      <p:sp>
        <p:nvSpPr>
          <p:cNvPr id="24" name="TextBox 23"/>
          <p:cNvSpPr txBox="1"/>
          <p:nvPr/>
        </p:nvSpPr>
        <p:spPr>
          <a:xfrm>
            <a:off x="1371600" y="4937760"/>
            <a:ext cx="1828800" cy="457200"/>
          </a:xfrm>
          <a:prstGeom prst="rect">
            <a:avLst/>
          </a:prstGeom>
          <a:noFill/>
        </p:spPr>
        <p:txBody>
          <a:bodyPr wrap="none">
            <a:spAutoFit/>
          </a:bodyPr>
          <a:lstStyle/>
          <a:p>
            <a:pPr>
              <a:defRPr sz="1400" b="0" i="0">
                <a:solidFill>
                  <a:srgbClr val="1E2761"/>
                </a:solidFill>
                <a:latin typeface="Calibri Light"/>
              </a:defRPr>
            </a:pPr>
            <a:r>
              <a:t>Annual planning</a:t>
            </a:r>
          </a:p>
        </p:txBody>
      </p:sp>
      <p:sp>
        <p:nvSpPr>
          <p:cNvPr id="25" name="TextBox 24"/>
          <p:cNvSpPr txBox="1"/>
          <p:nvPr/>
        </p:nvSpPr>
        <p:spPr>
          <a:xfrm>
            <a:off x="3657600" y="4937760"/>
            <a:ext cx="1371600" cy="457200"/>
          </a:xfrm>
          <a:prstGeom prst="rect">
            <a:avLst/>
          </a:prstGeom>
          <a:noFill/>
        </p:spPr>
        <p:txBody>
          <a:bodyPr wrap="none">
            <a:spAutoFit/>
          </a:bodyPr>
          <a:lstStyle/>
          <a:p>
            <a:pPr>
              <a:defRPr sz="1400" b="0" i="0">
                <a:solidFill>
                  <a:srgbClr val="1E2761"/>
                </a:solidFill>
                <a:latin typeface="Calibri Light"/>
              </a:defRPr>
            </a:pPr>
            <a:r>
              <a:t>Full day</a:t>
            </a:r>
          </a:p>
        </p:txBody>
      </p:sp>
      <p:sp>
        <p:nvSpPr>
          <p:cNvPr id="26" name="TextBox 25"/>
          <p:cNvSpPr txBox="1"/>
          <p:nvPr/>
        </p:nvSpPr>
        <p:spPr>
          <a:xfrm>
            <a:off x="5029200" y="4937760"/>
            <a:ext cx="1371600" cy="457200"/>
          </a:xfrm>
          <a:prstGeom prst="rect">
            <a:avLst/>
          </a:prstGeom>
          <a:noFill/>
        </p:spPr>
        <p:txBody>
          <a:bodyPr wrap="none">
            <a:spAutoFit/>
          </a:bodyPr>
          <a:lstStyle/>
          <a:p>
            <a:pPr>
              <a:defRPr sz="1400" b="0" i="0">
                <a:solidFill>
                  <a:srgbClr val="1E2761"/>
                </a:solidFill>
                <a:latin typeface="Calibri Light"/>
              </a:defRPr>
            </a:pPr>
            <a:r>
              <a:t>All 3</a:t>
            </a:r>
          </a:p>
        </p:txBody>
      </p:sp>
      <p:sp>
        <p:nvSpPr>
          <p:cNvPr id="27" name="TextBox 26"/>
          <p:cNvSpPr txBox="1"/>
          <p:nvPr/>
        </p:nvSpPr>
        <p:spPr>
          <a:xfrm>
            <a:off x="6400800" y="4937760"/>
            <a:ext cx="4114800" cy="457200"/>
          </a:xfrm>
          <a:prstGeom prst="rect">
            <a:avLst/>
          </a:prstGeom>
          <a:noFill/>
        </p:spPr>
        <p:txBody>
          <a:bodyPr wrap="none">
            <a:spAutoFit/>
          </a:bodyPr>
          <a:lstStyle/>
          <a:p>
            <a:pPr>
              <a:defRPr sz="1400" b="0" i="0">
                <a:solidFill>
                  <a:srgbClr val="1E2761"/>
                </a:solidFill>
                <a:latin typeface="Calibri Light"/>
              </a:defRPr>
            </a:pPr>
            <a:r>
              <a:t>Yearly goal, stub all 4 quarters</a:t>
            </a:r>
          </a:p>
        </p:txBody>
      </p:sp>
      <p:sp>
        <p:nvSpPr>
          <p:cNvPr id="28" name="Rectangle 27"/>
          <p:cNvSpPr/>
          <p:nvPr/>
        </p:nvSpPr>
        <p:spPr>
          <a:xfrm>
            <a:off x="914400" y="5669280"/>
            <a:ext cx="10332720" cy="73152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4400" y="5669280"/>
            <a:ext cx="91440" cy="73152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8720" y="5943600"/>
            <a:ext cx="9144000" cy="457200"/>
          </a:xfrm>
          <a:prstGeom prst="rect">
            <a:avLst/>
          </a:prstGeom>
          <a:noFill/>
        </p:spPr>
        <p:txBody>
          <a:bodyPr wrap="none">
            <a:spAutoFit/>
          </a:bodyPr>
          <a:lstStyle/>
          <a:p>
            <a:pPr>
              <a:defRPr sz="1400" b="0" i="1">
                <a:solidFill>
                  <a:srgbClr val="1E2761"/>
                </a:solidFill>
                <a:latin typeface="Calibri Light"/>
              </a:defRPr>
            </a:pPr>
            <a:r>
              <a:t>Q3 and Q4 are always stubs. Detailing Q4 in April is wasted planning — the world will have changed by then.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0" y="914400"/>
            <a:ext cx="2743200" cy="3657600"/>
          </a:xfrm>
          <a:prstGeom prst="rect">
            <a:avLst/>
          </a:prstGeom>
          <a:noFill/>
        </p:spPr>
        <p:txBody>
          <a:bodyPr wrap="none">
            <a:spAutoFit/>
          </a:bodyPr>
          <a:lstStyle/>
          <a:p>
            <a:pPr algn="ctr">
              <a:defRPr sz="12000" b="1" i="0">
                <a:solidFill>
                  <a:srgbClr val="384298"/>
                </a:solidFill>
                <a:latin typeface="Calibri Bold"/>
              </a:defRPr>
            </a:pPr>
            <a:r>
              <a:t>04</a:t>
            </a:r>
          </a:p>
        </p:txBody>
      </p:sp>
      <p:sp>
        <p:nvSpPr>
          <p:cNvPr id="3" name="TextBox 2"/>
          <p:cNvSpPr txBox="1"/>
          <p:nvPr/>
        </p:nvSpPr>
        <p:spPr>
          <a:xfrm>
            <a:off x="1828800" y="2743200"/>
            <a:ext cx="8531352" cy="914400"/>
          </a:xfrm>
          <a:prstGeom prst="rect">
            <a:avLst/>
          </a:prstGeom>
          <a:noFill/>
        </p:spPr>
        <p:txBody>
          <a:bodyPr wrap="none">
            <a:spAutoFit/>
          </a:bodyPr>
          <a:lstStyle/>
          <a:p>
            <a:pPr algn="ctr">
              <a:defRPr sz="4400" b="1" i="0">
                <a:solidFill>
                  <a:srgbClr val="FFFFFF"/>
                </a:solidFill>
                <a:latin typeface="Calibri Bold"/>
              </a:defRPr>
            </a:pPr>
            <a:r>
              <a:t>Our Communication Layer</a:t>
            </a:r>
          </a:p>
        </p:txBody>
      </p:sp>
      <p:sp>
        <p:nvSpPr>
          <p:cNvPr id="4" name="TextBox 3"/>
          <p:cNvSpPr txBox="1"/>
          <p:nvPr/>
        </p:nvSpPr>
        <p:spPr>
          <a:xfrm>
            <a:off x="1828800" y="3657600"/>
            <a:ext cx="8531352" cy="457200"/>
          </a:xfrm>
          <a:prstGeom prst="rect">
            <a:avLst/>
          </a:prstGeom>
          <a:noFill/>
        </p:spPr>
        <p:txBody>
          <a:bodyPr wrap="none">
            <a:spAutoFit/>
          </a:bodyPr>
          <a:lstStyle/>
          <a:p>
            <a:pPr algn="ctr">
              <a:defRPr sz="2000" b="0" i="0">
                <a:solidFill>
                  <a:srgbClr val="CADCFC"/>
                </a:solidFill>
                <a:latin typeface="Calibri"/>
              </a:defRPr>
            </a:pPr>
            <a:r>
              <a:t>Discord is working memory. Notion is long-term memory.</a:t>
            </a:r>
          </a:p>
        </p:txBody>
      </p:sp>
      <p:sp>
        <p:nvSpPr>
          <p:cNvPr id="5" name="Rectangle 4"/>
          <p:cNvSpPr/>
          <p:nvPr/>
        </p:nvSpPr>
        <p:spPr>
          <a:xfrm>
            <a:off x="3657600" y="4389120"/>
            <a:ext cx="4873752" cy="27432"/>
          </a:xfrm>
          <a:prstGeom prst="rect">
            <a:avLst/>
          </a:prstGeom>
          <a:solidFill>
            <a:srgbClr val="5865F2"/>
          </a:solidFill>
          <a:ln w="12700">
            <a:solidFill>
              <a:srgbClr val="586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One channel, one job</a:t>
            </a:r>
          </a:p>
        </p:txBody>
      </p:sp>
      <p:sp>
        <p:nvSpPr>
          <p:cNvPr id="3" name="Rectangle 2"/>
          <p:cNvSpPr/>
          <p:nvPr/>
        </p:nvSpPr>
        <p:spPr>
          <a:xfrm>
            <a:off x="457200" y="1371600"/>
            <a:ext cx="4114800" cy="4114800"/>
          </a:xfrm>
          <a:prstGeom prst="rect">
            <a:avLst/>
          </a:prstGeom>
          <a:solidFill>
            <a:srgbClr val="2B2D31"/>
          </a:solidFill>
          <a:ln w="12700">
            <a:solidFill>
              <a:srgbClr val="2B2D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657600" cy="3657600"/>
          </a:xfrm>
          <a:prstGeom prst="rect">
            <a:avLst/>
          </a:prstGeom>
          <a:noFill/>
        </p:spPr>
        <p:txBody>
          <a:bodyPr wrap="none">
            <a:spAutoFit/>
          </a:bodyPr>
          <a:lstStyle/>
          <a:p>
            <a:pPr>
              <a:defRPr sz="1400" b="0" i="0">
                <a:solidFill>
                  <a:srgbClr val="FFFFFF"/>
                </a:solidFill>
                <a:latin typeface="Calibri Light"/>
              </a:defRPr>
            </a:pPr>
            <a:r>
              <a:t>XC GRADIENT</a:t>
            </a:r>
            <a:br/>
            <a:br/>
            <a:r>
              <a:t># 📢 announcements    ← decisions</a:t>
            </a:r>
            <a:br/>
            <a:r>
              <a:t># 🚨 blockers         ← 24h SLA</a:t>
            </a:r>
            <a:br/>
            <a:r>
              <a:t># 🛠️ product-cto      ← Arnau</a:t>
            </a:r>
            <a:br/>
            <a:r>
              <a:t># 📊 gtm-coo          ← Adam</a:t>
            </a:r>
            <a:br/>
            <a:r>
              <a:t># 💰 finance-cfo      ← Oriol</a:t>
            </a:r>
            <a:br/>
            <a:r>
              <a:t># 🔗 resources        ← links</a:t>
            </a:r>
            <a:br/>
            <a:r>
              <a:t># 💬 general          ← misc</a:t>
            </a:r>
            <a:br/>
            <a:br/>
            <a:r>
              <a:t>VOICE</a:t>
            </a:r>
            <a:br/>
            <a:r>
              <a:t>🔊 The War Room       ← syncs</a:t>
            </a:r>
            <a:br/>
            <a:r>
              <a:t>🎧 Deep Work          ← silent</a:t>
            </a:r>
          </a:p>
        </p:txBody>
      </p:sp>
      <p:sp>
        <p:nvSpPr>
          <p:cNvPr id="5" name="TextBox 4"/>
          <p:cNvSpPr txBox="1"/>
          <p:nvPr/>
        </p:nvSpPr>
        <p:spPr>
          <a:xfrm>
            <a:off x="5029200" y="1371600"/>
            <a:ext cx="5486400" cy="3200400"/>
          </a:xfrm>
          <a:prstGeom prst="rect">
            <a:avLst/>
          </a:prstGeom>
          <a:noFill/>
        </p:spPr>
        <p:txBody>
          <a:bodyPr wrap="none">
            <a:spAutoFit/>
          </a:bodyPr>
          <a:lstStyle/>
          <a:p>
            <a:pPr>
              <a:defRPr sz="1400" b="0" i="0">
                <a:solidFill>
                  <a:srgbClr val="F96167"/>
                </a:solidFill>
                <a:latin typeface="Calibri Light"/>
              </a:defRPr>
            </a:pPr>
            <a:r>
              <a:t>[Missing Image: /mnt/user-data/uploads/1775550409325_image.png]</a:t>
            </a:r>
          </a:p>
        </p:txBody>
      </p:sp>
      <p:sp>
        <p:nvSpPr>
          <p:cNvPr id="6" name="Rectangle 5"/>
          <p:cNvSpPr/>
          <p:nvPr/>
        </p:nvSpPr>
        <p:spPr>
          <a:xfrm>
            <a:off x="457200" y="5943600"/>
            <a:ext cx="11247120" cy="5486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943600"/>
            <a:ext cx="91440" cy="548640"/>
          </a:xfrm>
          <a:prstGeom prst="rect">
            <a:avLst/>
          </a:prstGeom>
          <a:solidFill>
            <a:srgbClr val="F96167"/>
          </a:solidFill>
          <a:ln w="12700">
            <a:solidFill>
              <a:srgbClr val="F96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035040"/>
            <a:ext cx="10058400" cy="457200"/>
          </a:xfrm>
          <a:prstGeom prst="rect">
            <a:avLst/>
          </a:prstGeom>
          <a:noFill/>
        </p:spPr>
        <p:txBody>
          <a:bodyPr wrap="none">
            <a:spAutoFit/>
          </a:bodyPr>
          <a:lstStyle/>
          <a:p>
            <a:pPr>
              <a:defRPr sz="1300" b="0" i="0">
                <a:solidFill>
                  <a:srgbClr val="1E2761"/>
                </a:solidFill>
                <a:latin typeface="Calibri Light"/>
              </a:defRPr>
            </a:pPr>
            <a:r>
              <a:t>The key discipline: when a thread resolves into a decision → #announcements + Decision Log in Notion. Discord is ephemeral. Notion is permanent.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Drive: binary blobs only</a:t>
            </a:r>
          </a:p>
        </p:txBody>
      </p:sp>
      <p:sp>
        <p:nvSpPr>
          <p:cNvPr id="3" name="Rectangle 2"/>
          <p:cNvSpPr/>
          <p:nvPr/>
        </p:nvSpPr>
        <p:spPr>
          <a:xfrm>
            <a:off x="914400" y="1371600"/>
            <a:ext cx="6858000" cy="45720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371600"/>
            <a:ext cx="91440" cy="45720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645920"/>
            <a:ext cx="5486400" cy="457200"/>
          </a:xfrm>
          <a:prstGeom prst="rect">
            <a:avLst/>
          </a:prstGeom>
          <a:noFill/>
        </p:spPr>
        <p:txBody>
          <a:bodyPr wrap="none">
            <a:spAutoFit/>
          </a:bodyPr>
          <a:lstStyle/>
          <a:p>
            <a:pPr>
              <a:defRPr sz="1800" b="1" i="0">
                <a:solidFill>
                  <a:srgbClr val="1E2761"/>
                </a:solidFill>
                <a:latin typeface="Calibri Bold"/>
              </a:defRPr>
            </a:pPr>
            <a:r>
              <a:t>What goes in Drive</a:t>
            </a:r>
          </a:p>
        </p:txBody>
      </p:sp>
      <p:sp>
        <p:nvSpPr>
          <p:cNvPr id="6" name="TextBox 5"/>
          <p:cNvSpPr txBox="1"/>
          <p:nvPr/>
        </p:nvSpPr>
        <p:spPr>
          <a:xfrm>
            <a:off x="1188720" y="2194560"/>
            <a:ext cx="6400800" cy="914400"/>
          </a:xfrm>
          <a:prstGeom prst="rect">
            <a:avLst/>
          </a:prstGeom>
          <a:noFill/>
        </p:spPr>
        <p:txBody>
          <a:bodyPr wrap="none">
            <a:spAutoFit/>
          </a:bodyPr>
          <a:lstStyle/>
          <a:p>
            <a:pPr>
              <a:defRPr sz="1400" b="0" i="0">
                <a:solidFill>
                  <a:srgbClr val="1E2761"/>
                </a:solidFill>
                <a:latin typeface="Calibri Light"/>
              </a:defRPr>
            </a:pPr>
            <a:r>
              <a:t>✅ PPT decks — Weekly sync presentations</a:t>
            </a:r>
            <a:br/>
            <a:r>
              <a:t>✅ Contracts &amp; legal — NDAs, PoC agreements</a:t>
            </a:r>
            <a:br/>
            <a:r>
              <a:t>✅ Invoices &amp; receipts — Financial paper trail</a:t>
            </a:r>
            <a:br/>
            <a:r>
              <a:t>✅ Large exports — Datasets, financial exports</a:t>
            </a:r>
          </a:p>
        </p:txBody>
      </p:sp>
      <p:sp>
        <p:nvSpPr>
          <p:cNvPr id="7" name="Rectangle 6"/>
          <p:cNvSpPr/>
          <p:nvPr/>
        </p:nvSpPr>
        <p:spPr>
          <a:xfrm>
            <a:off x="1188720" y="3200400"/>
            <a:ext cx="6309360" cy="18288"/>
          </a:xfrm>
          <a:prstGeom prst="rect">
            <a:avLst/>
          </a:prstGeom>
          <a:solidFill>
            <a:srgbClr val="5A6E8C"/>
          </a:solidFill>
          <a:ln w="12700">
            <a:solidFill>
              <a:srgbClr val="5A6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474720"/>
            <a:ext cx="5486400" cy="457200"/>
          </a:xfrm>
          <a:prstGeom prst="rect">
            <a:avLst/>
          </a:prstGeom>
          <a:noFill/>
        </p:spPr>
        <p:txBody>
          <a:bodyPr wrap="none">
            <a:spAutoFit/>
          </a:bodyPr>
          <a:lstStyle/>
          <a:p>
            <a:pPr>
              <a:defRPr sz="1800" b="1" i="0">
                <a:solidFill>
                  <a:srgbClr val="1E2761"/>
                </a:solidFill>
                <a:latin typeface="Calibri Bold"/>
              </a:defRPr>
            </a:pPr>
            <a:r>
              <a:t>What does NOT go in Drive</a:t>
            </a:r>
          </a:p>
        </p:txBody>
      </p:sp>
      <p:sp>
        <p:nvSpPr>
          <p:cNvPr id="9" name="TextBox 8"/>
          <p:cNvSpPr txBox="1"/>
          <p:nvPr/>
        </p:nvSpPr>
        <p:spPr>
          <a:xfrm>
            <a:off x="1188720" y="4023360"/>
            <a:ext cx="6400800" cy="914400"/>
          </a:xfrm>
          <a:prstGeom prst="rect">
            <a:avLst/>
          </a:prstGeom>
          <a:noFill/>
        </p:spPr>
        <p:txBody>
          <a:bodyPr wrap="none">
            <a:spAutoFit/>
          </a:bodyPr>
          <a:lstStyle/>
          <a:p>
            <a:pPr>
              <a:defRPr sz="1400" b="0" i="0">
                <a:solidFill>
                  <a:srgbClr val="1E2761"/>
                </a:solidFill>
                <a:latin typeface="Calibri Light"/>
              </a:defRPr>
            </a:pPr>
            <a:r>
              <a:t>❌ Meeting notes — Those go in Notion Weekly Syncs</a:t>
            </a:r>
            <a:br/>
            <a:r>
              <a:t>❌ Decisions — Those go in Notion Decision Log</a:t>
            </a:r>
            <a:br/>
            <a:r>
              <a:t>❌ Goal tracking — That's Notion Goals &amp; OKRs</a:t>
            </a:r>
          </a:p>
        </p:txBody>
      </p:sp>
      <p:sp>
        <p:nvSpPr>
          <p:cNvPr id="10" name="Rectangle 9"/>
          <p:cNvSpPr/>
          <p:nvPr/>
        </p:nvSpPr>
        <p:spPr>
          <a:xfrm>
            <a:off x="8229600" y="1371600"/>
            <a:ext cx="3474720" cy="2743200"/>
          </a:xfrm>
          <a:prstGeom prst="rect">
            <a:avLst/>
          </a:prstGeom>
          <a:solidFill>
            <a:srgbClr val="F0F2F5"/>
          </a:solidFill>
          <a:ln w="12700">
            <a:solidFill>
              <a:srgbClr val="F0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554480"/>
            <a:ext cx="3108960" cy="2286000"/>
          </a:xfrm>
          <a:prstGeom prst="rect">
            <a:avLst/>
          </a:prstGeom>
          <a:noFill/>
        </p:spPr>
        <p:txBody>
          <a:bodyPr wrap="none">
            <a:spAutoFit/>
          </a:bodyPr>
          <a:lstStyle/>
          <a:p>
            <a:pPr>
              <a:defRPr sz="1000" b="0" i="0">
                <a:solidFill>
                  <a:srgbClr val="1E2761"/>
                </a:solidFill>
                <a:latin typeface="Calibri Light"/>
              </a:defRPr>
            </a:pPr>
            <a:r>
              <a:t>Drive/</a:t>
            </a:r>
            <a:br/>
            <a:r>
              <a:t>├── Weekly Syncs/</a:t>
            </a:r>
            <a:br/>
            <a:r>
              <a:t>│   └── 2026-W15_2026-04-07/</a:t>
            </a:r>
            <a:br/>
            <a:r>
              <a:t>│       ├── oriol_w15.pptx</a:t>
            </a:r>
            <a:br/>
            <a:r>
              <a:t>│       ├── arnau_w15.pptx</a:t>
            </a:r>
            <a:br/>
            <a:r>
              <a:t>│       ├── adam_w15.pptx</a:t>
            </a:r>
            <a:br/>
            <a:r>
              <a:t>│       └── adam_notes.txt</a:t>
            </a:r>
            <a:br/>
            <a:r>
              <a:t>├── Contracts/</a:t>
            </a:r>
            <a:br/>
            <a:r>
              <a:t>├── Finance/</a:t>
            </a:r>
            <a:br/>
            <a:r>
              <a:t>└── Thesis/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0" y="914400"/>
            <a:ext cx="2743200" cy="3657600"/>
          </a:xfrm>
          <a:prstGeom prst="rect">
            <a:avLst/>
          </a:prstGeom>
          <a:noFill/>
        </p:spPr>
        <p:txBody>
          <a:bodyPr wrap="none">
            <a:spAutoFit/>
          </a:bodyPr>
          <a:lstStyle/>
          <a:p>
            <a:pPr algn="ctr">
              <a:defRPr sz="12000" b="1" i="0">
                <a:solidFill>
                  <a:srgbClr val="2A3882"/>
                </a:solidFill>
                <a:latin typeface="Calibri Bold"/>
              </a:defRPr>
            </a:pPr>
            <a:r>
              <a:t>06</a:t>
            </a:r>
          </a:p>
        </p:txBody>
      </p:sp>
      <p:sp>
        <p:nvSpPr>
          <p:cNvPr id="3" name="TextBox 2"/>
          <p:cNvSpPr txBox="1"/>
          <p:nvPr/>
        </p:nvSpPr>
        <p:spPr>
          <a:xfrm>
            <a:off x="1828800" y="2743200"/>
            <a:ext cx="8531352" cy="914400"/>
          </a:xfrm>
          <a:prstGeom prst="rect">
            <a:avLst/>
          </a:prstGeom>
          <a:noFill/>
        </p:spPr>
        <p:txBody>
          <a:bodyPr wrap="none">
            <a:spAutoFit/>
          </a:bodyPr>
          <a:lstStyle/>
          <a:p>
            <a:pPr algn="ctr">
              <a:defRPr sz="4400" b="1" i="0">
                <a:solidFill>
                  <a:srgbClr val="FFFFFF"/>
                </a:solidFill>
                <a:latin typeface="Calibri Bold"/>
              </a:defRPr>
            </a:pPr>
            <a:r>
              <a:t>Never Lose a Decision Again</a:t>
            </a:r>
          </a:p>
        </p:txBody>
      </p:sp>
      <p:sp>
        <p:nvSpPr>
          <p:cNvPr id="4" name="TextBox 3"/>
          <p:cNvSpPr txBox="1"/>
          <p:nvPr/>
        </p:nvSpPr>
        <p:spPr>
          <a:xfrm>
            <a:off x="1828800" y="3657600"/>
            <a:ext cx="8531352" cy="457200"/>
          </a:xfrm>
          <a:prstGeom prst="rect">
            <a:avLst/>
          </a:prstGeom>
          <a:noFill/>
        </p:spPr>
        <p:txBody>
          <a:bodyPr wrap="none">
            <a:spAutoFit/>
          </a:bodyPr>
          <a:lstStyle/>
          <a:p>
            <a:pPr algn="ctr">
              <a:defRPr sz="2000" b="0" i="0">
                <a:solidFill>
                  <a:srgbClr val="CADCFC"/>
                </a:solidFill>
                <a:latin typeface="Calibri"/>
              </a:defRPr>
            </a:pPr>
            <a:r>
              <a:t>The meeting archive pipeline + AI transcription system</a:t>
            </a:r>
          </a:p>
        </p:txBody>
      </p:sp>
      <p:sp>
        <p:nvSpPr>
          <p:cNvPr id="5" name="Rectangle 4"/>
          <p:cNvSpPr/>
          <p:nvPr/>
        </p:nvSpPr>
        <p:spPr>
          <a:xfrm>
            <a:off x="3657600" y="4389120"/>
            <a:ext cx="4873752" cy="27432"/>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From PPTs to permanent knowledge</a:t>
            </a:r>
          </a:p>
        </p:txBody>
      </p:sp>
      <p:sp>
        <p:nvSpPr>
          <p:cNvPr id="3" name="Rectangle 2"/>
          <p:cNvSpPr/>
          <p:nvPr/>
        </p:nvSpPr>
        <p:spPr>
          <a:xfrm>
            <a:off x="457200" y="1828800"/>
            <a:ext cx="2011680" cy="1371600"/>
          </a:xfrm>
          <a:prstGeom prst="rect">
            <a:avLst/>
          </a:prstGeom>
          <a:solidFill>
            <a:srgbClr val="DDDDDD"/>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828800" cy="457200"/>
          </a:xfrm>
          <a:prstGeom prst="rect">
            <a:avLst/>
          </a:prstGeom>
          <a:noFill/>
        </p:spPr>
        <p:txBody>
          <a:bodyPr wrap="none">
            <a:spAutoFit/>
          </a:bodyPr>
          <a:lstStyle/>
          <a:p>
            <a:pPr algn="ctr">
              <a:defRPr sz="1400" b="1" i="0">
                <a:solidFill>
                  <a:srgbClr val="1E2761"/>
                </a:solidFill>
                <a:latin typeface="Calibri Bold"/>
              </a:defRPr>
            </a:pPr>
            <a:r>
              <a:t>3 PPTs + Notes</a:t>
            </a:r>
          </a:p>
        </p:txBody>
      </p:sp>
      <p:sp>
        <p:nvSpPr>
          <p:cNvPr id="5" name="TextBox 4"/>
          <p:cNvSpPr txBox="1"/>
          <p:nvPr/>
        </p:nvSpPr>
        <p:spPr>
          <a:xfrm>
            <a:off x="548640" y="2560320"/>
            <a:ext cx="1828800" cy="457200"/>
          </a:xfrm>
          <a:prstGeom prst="rect">
            <a:avLst/>
          </a:prstGeom>
          <a:noFill/>
        </p:spPr>
        <p:txBody>
          <a:bodyPr wrap="none">
            <a:spAutoFit/>
          </a:bodyPr>
          <a:lstStyle/>
          <a:p>
            <a:pPr algn="ctr">
              <a:defRPr sz="1200" b="0" i="0">
                <a:solidFill>
                  <a:srgbClr val="1E2761"/>
                </a:solidFill>
                <a:latin typeface="Calibri Light"/>
              </a:defRPr>
            </a:pPr>
            <a:r>
              <a:t>Uploaded to Drive</a:t>
            </a:r>
          </a:p>
        </p:txBody>
      </p:sp>
      <p:sp>
        <p:nvSpPr>
          <p:cNvPr id="6" name="TextBox 5"/>
          <p:cNvSpPr txBox="1"/>
          <p:nvPr/>
        </p:nvSpPr>
        <p:spPr>
          <a:xfrm>
            <a:off x="2560320" y="2286000"/>
            <a:ext cx="274320" cy="457200"/>
          </a:xfrm>
          <a:prstGeom prst="rect">
            <a:avLst/>
          </a:prstGeom>
          <a:noFill/>
        </p:spPr>
        <p:txBody>
          <a:bodyPr wrap="none">
            <a:spAutoFit/>
          </a:bodyPr>
          <a:lstStyle/>
          <a:p>
            <a:pPr>
              <a:defRPr sz="2000" b="1" i="0">
                <a:solidFill>
                  <a:srgbClr val="1E2761"/>
                </a:solidFill>
                <a:latin typeface="Calibri Bold"/>
              </a:defRPr>
            </a:pPr>
            <a:r>
              <a:t>→</a:t>
            </a:r>
          </a:p>
        </p:txBody>
      </p:sp>
      <p:sp>
        <p:nvSpPr>
          <p:cNvPr id="7" name="Rectangle 6"/>
          <p:cNvSpPr/>
          <p:nvPr/>
        </p:nvSpPr>
        <p:spPr>
          <a:xfrm>
            <a:off x="2743200" y="1828800"/>
            <a:ext cx="2011680" cy="1371600"/>
          </a:xfrm>
          <a:prstGeom prst="rect">
            <a:avLst/>
          </a:prstGeom>
          <a:solidFill>
            <a:srgbClr val="CADCFC"/>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34640" y="2103120"/>
            <a:ext cx="1828800" cy="457200"/>
          </a:xfrm>
          <a:prstGeom prst="rect">
            <a:avLst/>
          </a:prstGeom>
          <a:noFill/>
        </p:spPr>
        <p:txBody>
          <a:bodyPr wrap="none">
            <a:spAutoFit/>
          </a:bodyPr>
          <a:lstStyle/>
          <a:p>
            <a:pPr algn="ctr">
              <a:defRPr sz="1400" b="1" i="0">
                <a:solidFill>
                  <a:srgbClr val="1E2761"/>
                </a:solidFill>
                <a:latin typeface="Calibri Bold"/>
              </a:defRPr>
            </a:pPr>
            <a:r>
              <a:t>Claude API</a:t>
            </a:r>
          </a:p>
        </p:txBody>
      </p:sp>
      <p:sp>
        <p:nvSpPr>
          <p:cNvPr id="9" name="TextBox 8"/>
          <p:cNvSpPr txBox="1"/>
          <p:nvPr/>
        </p:nvSpPr>
        <p:spPr>
          <a:xfrm>
            <a:off x="2834640" y="2560320"/>
            <a:ext cx="1828800" cy="457200"/>
          </a:xfrm>
          <a:prstGeom prst="rect">
            <a:avLst/>
          </a:prstGeom>
          <a:noFill/>
        </p:spPr>
        <p:txBody>
          <a:bodyPr wrap="none">
            <a:spAutoFit/>
          </a:bodyPr>
          <a:lstStyle/>
          <a:p>
            <a:pPr algn="ctr">
              <a:defRPr sz="1200" b="0" i="0">
                <a:solidFill>
                  <a:srgbClr val="1E2761"/>
                </a:solidFill>
                <a:latin typeface="Calibri Light"/>
              </a:defRPr>
            </a:pPr>
            <a:r>
              <a:t>All inputs processed</a:t>
            </a:r>
          </a:p>
        </p:txBody>
      </p:sp>
      <p:sp>
        <p:nvSpPr>
          <p:cNvPr id="10" name="TextBox 9"/>
          <p:cNvSpPr txBox="1"/>
          <p:nvPr/>
        </p:nvSpPr>
        <p:spPr>
          <a:xfrm>
            <a:off x="4846320" y="2286000"/>
            <a:ext cx="274320" cy="457200"/>
          </a:xfrm>
          <a:prstGeom prst="rect">
            <a:avLst/>
          </a:prstGeom>
          <a:noFill/>
        </p:spPr>
        <p:txBody>
          <a:bodyPr wrap="none">
            <a:spAutoFit/>
          </a:bodyPr>
          <a:lstStyle/>
          <a:p>
            <a:pPr>
              <a:defRPr sz="2000" b="1" i="0">
                <a:solidFill>
                  <a:srgbClr val="1E2761"/>
                </a:solidFill>
                <a:latin typeface="Calibri Bold"/>
              </a:defRPr>
            </a:pPr>
            <a:r>
              <a:t>→</a:t>
            </a:r>
          </a:p>
        </p:txBody>
      </p:sp>
      <p:sp>
        <p:nvSpPr>
          <p:cNvPr id="11" name="Rectangle 10"/>
          <p:cNvSpPr/>
          <p:nvPr/>
        </p:nvSpPr>
        <p:spPr>
          <a:xfrm>
            <a:off x="5029200" y="1828800"/>
            <a:ext cx="2011680" cy="137160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2103120"/>
            <a:ext cx="1828800" cy="457200"/>
          </a:xfrm>
          <a:prstGeom prst="rect">
            <a:avLst/>
          </a:prstGeom>
          <a:noFill/>
        </p:spPr>
        <p:txBody>
          <a:bodyPr wrap="none">
            <a:spAutoFit/>
          </a:bodyPr>
          <a:lstStyle/>
          <a:p>
            <a:pPr algn="ctr">
              <a:defRPr sz="1400" b="1" i="0">
                <a:solidFill>
                  <a:srgbClr val="1E2761"/>
                </a:solidFill>
                <a:latin typeface="Calibri Bold"/>
              </a:defRPr>
            </a:pPr>
            <a:r>
              <a:t>AI Processing</a:t>
            </a:r>
          </a:p>
        </p:txBody>
      </p:sp>
      <p:sp>
        <p:nvSpPr>
          <p:cNvPr id="13" name="TextBox 12"/>
          <p:cNvSpPr txBox="1"/>
          <p:nvPr/>
        </p:nvSpPr>
        <p:spPr>
          <a:xfrm>
            <a:off x="5120640" y="2560320"/>
            <a:ext cx="1828800" cy="457200"/>
          </a:xfrm>
          <a:prstGeom prst="rect">
            <a:avLst/>
          </a:prstGeom>
          <a:noFill/>
        </p:spPr>
        <p:txBody>
          <a:bodyPr wrap="none">
            <a:spAutoFit/>
          </a:bodyPr>
          <a:lstStyle/>
          <a:p>
            <a:pPr algn="ctr">
              <a:defRPr sz="1200" b="0" i="0">
                <a:solidFill>
                  <a:srgbClr val="1E2761"/>
                </a:solidFill>
                <a:latin typeface="Calibri Light"/>
              </a:defRPr>
            </a:pPr>
            <a:r>
              <a:t>Classify, clean</a:t>
            </a:r>
          </a:p>
        </p:txBody>
      </p:sp>
      <p:sp>
        <p:nvSpPr>
          <p:cNvPr id="14" name="TextBox 13"/>
          <p:cNvSpPr txBox="1"/>
          <p:nvPr/>
        </p:nvSpPr>
        <p:spPr>
          <a:xfrm>
            <a:off x="7132320" y="2286000"/>
            <a:ext cx="274320" cy="457200"/>
          </a:xfrm>
          <a:prstGeom prst="rect">
            <a:avLst/>
          </a:prstGeom>
          <a:noFill/>
        </p:spPr>
        <p:txBody>
          <a:bodyPr wrap="none">
            <a:spAutoFit/>
          </a:bodyPr>
          <a:lstStyle/>
          <a:p>
            <a:pPr>
              <a:defRPr sz="2000" b="1" i="0">
                <a:solidFill>
                  <a:srgbClr val="1E2761"/>
                </a:solidFill>
                <a:latin typeface="Calibri Bold"/>
              </a:defRPr>
            </a:pPr>
            <a:r>
              <a:t>→</a:t>
            </a:r>
          </a:p>
        </p:txBody>
      </p:sp>
      <p:sp>
        <p:nvSpPr>
          <p:cNvPr id="15" name="Rectangle 14"/>
          <p:cNvSpPr/>
          <p:nvPr/>
        </p:nvSpPr>
        <p:spPr>
          <a:xfrm>
            <a:off x="7315200" y="1828800"/>
            <a:ext cx="2011680" cy="1371600"/>
          </a:xfrm>
          <a:prstGeom prst="rect">
            <a:avLst/>
          </a:prstGeom>
          <a:solidFill>
            <a:srgbClr val="69F0AE"/>
          </a:solidFill>
          <a:ln w="12700">
            <a:solidFill>
              <a:srgbClr val="69F0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03120"/>
            <a:ext cx="1828800" cy="457200"/>
          </a:xfrm>
          <a:prstGeom prst="rect">
            <a:avLst/>
          </a:prstGeom>
          <a:noFill/>
        </p:spPr>
        <p:txBody>
          <a:bodyPr wrap="none">
            <a:spAutoFit/>
          </a:bodyPr>
          <a:lstStyle/>
          <a:p>
            <a:pPr algn="ctr">
              <a:defRPr sz="1400" b="1" i="0">
                <a:solidFill>
                  <a:srgbClr val="1E2761"/>
                </a:solidFill>
                <a:latin typeface="Calibri Bold"/>
              </a:defRPr>
            </a:pPr>
            <a:r>
              <a:t>Structured Output</a:t>
            </a:r>
          </a:p>
        </p:txBody>
      </p:sp>
      <p:sp>
        <p:nvSpPr>
          <p:cNvPr id="17" name="TextBox 16"/>
          <p:cNvSpPr txBox="1"/>
          <p:nvPr/>
        </p:nvSpPr>
        <p:spPr>
          <a:xfrm>
            <a:off x="7406640" y="2560320"/>
            <a:ext cx="1828800" cy="457200"/>
          </a:xfrm>
          <a:prstGeom prst="rect">
            <a:avLst/>
          </a:prstGeom>
          <a:noFill/>
        </p:spPr>
        <p:txBody>
          <a:bodyPr wrap="none">
            <a:spAutoFit/>
          </a:bodyPr>
          <a:lstStyle/>
          <a:p>
            <a:pPr algn="ctr">
              <a:defRPr sz="1200" b="0" i="0">
                <a:solidFill>
                  <a:srgbClr val="1E2761"/>
                </a:solidFill>
                <a:latin typeface="Calibri Light"/>
              </a:defRPr>
            </a:pPr>
            <a:r>
              <a:t>4 artifacts gen</a:t>
            </a:r>
          </a:p>
        </p:txBody>
      </p:sp>
      <p:sp>
        <p:nvSpPr>
          <p:cNvPr id="18" name="TextBox 17"/>
          <p:cNvSpPr txBox="1"/>
          <p:nvPr/>
        </p:nvSpPr>
        <p:spPr>
          <a:xfrm>
            <a:off x="9418320" y="2286000"/>
            <a:ext cx="274320" cy="457200"/>
          </a:xfrm>
          <a:prstGeom prst="rect">
            <a:avLst/>
          </a:prstGeom>
          <a:noFill/>
        </p:spPr>
        <p:txBody>
          <a:bodyPr wrap="none">
            <a:spAutoFit/>
          </a:bodyPr>
          <a:lstStyle/>
          <a:p>
            <a:pPr>
              <a:defRPr sz="2000" b="1" i="0">
                <a:solidFill>
                  <a:srgbClr val="1E2761"/>
                </a:solidFill>
                <a:latin typeface="Calibri Bold"/>
              </a:defRPr>
            </a:pPr>
            <a:r>
              <a:t>→</a:t>
            </a:r>
          </a:p>
        </p:txBody>
      </p:sp>
      <p:sp>
        <p:nvSpPr>
          <p:cNvPr id="19" name="Rectangle 18"/>
          <p:cNvSpPr/>
          <p:nvPr/>
        </p:nvSpPr>
        <p:spPr>
          <a:xfrm>
            <a:off x="9601200" y="1828800"/>
            <a:ext cx="2011680" cy="1371600"/>
          </a:xfrm>
          <a:prstGeom prst="rect">
            <a:avLst/>
          </a:prstGeom>
          <a:solidFill>
            <a:srgbClr val="1E2761"/>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2103120"/>
            <a:ext cx="1828800" cy="457200"/>
          </a:xfrm>
          <a:prstGeom prst="rect">
            <a:avLst/>
          </a:prstGeom>
          <a:noFill/>
        </p:spPr>
        <p:txBody>
          <a:bodyPr wrap="none">
            <a:spAutoFit/>
          </a:bodyPr>
          <a:lstStyle/>
          <a:p>
            <a:pPr algn="ctr">
              <a:defRPr sz="1400" b="1" i="0">
                <a:solidFill>
                  <a:srgbClr val="FFFFFF"/>
                </a:solidFill>
                <a:latin typeface="Calibri Bold"/>
              </a:defRPr>
            </a:pPr>
            <a:r>
              <a:t>Notion</a:t>
            </a:r>
          </a:p>
        </p:txBody>
      </p:sp>
      <p:sp>
        <p:nvSpPr>
          <p:cNvPr id="21" name="TextBox 20"/>
          <p:cNvSpPr txBox="1"/>
          <p:nvPr/>
        </p:nvSpPr>
        <p:spPr>
          <a:xfrm>
            <a:off x="9692640" y="2560320"/>
            <a:ext cx="1828800" cy="457200"/>
          </a:xfrm>
          <a:prstGeom prst="rect">
            <a:avLst/>
          </a:prstGeom>
          <a:noFill/>
        </p:spPr>
        <p:txBody>
          <a:bodyPr wrap="none">
            <a:spAutoFit/>
          </a:bodyPr>
          <a:lstStyle/>
          <a:p>
            <a:pPr algn="ctr">
              <a:defRPr sz="1200" b="0" i="0">
                <a:solidFill>
                  <a:srgbClr val="FFFFFF"/>
                </a:solidFill>
                <a:latin typeface="Calibri Light"/>
              </a:defRPr>
            </a:pPr>
            <a:r>
              <a:t>Pasted to Sync page</a:t>
            </a:r>
          </a:p>
        </p:txBody>
      </p:sp>
      <p:sp>
        <p:nvSpPr>
          <p:cNvPr id="22" name="Rectangle 21"/>
          <p:cNvSpPr/>
          <p:nvPr/>
        </p:nvSpPr>
        <p:spPr>
          <a:xfrm>
            <a:off x="1371600" y="4114800"/>
            <a:ext cx="2011680" cy="9144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4206240"/>
            <a:ext cx="1828800" cy="457200"/>
          </a:xfrm>
          <a:prstGeom prst="rect">
            <a:avLst/>
          </a:prstGeom>
          <a:noFill/>
        </p:spPr>
        <p:txBody>
          <a:bodyPr wrap="none">
            <a:spAutoFit/>
          </a:bodyPr>
          <a:lstStyle/>
          <a:p>
            <a:pPr algn="ctr">
              <a:defRPr sz="1200" b="1" i="0">
                <a:solidFill>
                  <a:srgbClr val="1E2761"/>
                </a:solidFill>
                <a:latin typeface="Calibri Bold"/>
              </a:defRPr>
            </a:pPr>
            <a:r>
              <a:t>Executive summary</a:t>
            </a:r>
          </a:p>
        </p:txBody>
      </p:sp>
      <p:sp>
        <p:nvSpPr>
          <p:cNvPr id="24" name="TextBox 23"/>
          <p:cNvSpPr txBox="1"/>
          <p:nvPr/>
        </p:nvSpPr>
        <p:spPr>
          <a:xfrm>
            <a:off x="1463040" y="4572000"/>
            <a:ext cx="1828800" cy="457200"/>
          </a:xfrm>
          <a:prstGeom prst="rect">
            <a:avLst/>
          </a:prstGeom>
          <a:noFill/>
        </p:spPr>
        <p:txBody>
          <a:bodyPr wrap="none">
            <a:spAutoFit/>
          </a:bodyPr>
          <a:lstStyle/>
          <a:p>
            <a:pPr algn="ctr">
              <a:defRPr sz="1100" b="0" i="0">
                <a:solidFill>
                  <a:srgbClr val="5A6E8C"/>
                </a:solidFill>
                <a:latin typeface="Calibri Light"/>
              </a:defRPr>
            </a:pPr>
            <a:r>
              <a:t>5 bullets, decisions only</a:t>
            </a:r>
          </a:p>
        </p:txBody>
      </p:sp>
      <p:sp>
        <p:nvSpPr>
          <p:cNvPr id="25" name="Rectangle 24"/>
          <p:cNvSpPr/>
          <p:nvPr/>
        </p:nvSpPr>
        <p:spPr>
          <a:xfrm>
            <a:off x="3657600" y="4114800"/>
            <a:ext cx="2011680" cy="9144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49039" y="4206240"/>
            <a:ext cx="1828800" cy="457200"/>
          </a:xfrm>
          <a:prstGeom prst="rect">
            <a:avLst/>
          </a:prstGeom>
          <a:noFill/>
        </p:spPr>
        <p:txBody>
          <a:bodyPr wrap="none">
            <a:spAutoFit/>
          </a:bodyPr>
          <a:lstStyle/>
          <a:p>
            <a:pPr algn="ctr">
              <a:defRPr sz="1200" b="1" i="0">
                <a:solidFill>
                  <a:srgbClr val="1E2761"/>
                </a:solidFill>
                <a:latin typeface="Calibri Bold"/>
              </a:defRPr>
            </a:pPr>
            <a:r>
              <a:t>Full writeup</a:t>
            </a:r>
          </a:p>
        </p:txBody>
      </p:sp>
      <p:sp>
        <p:nvSpPr>
          <p:cNvPr id="27" name="TextBox 26"/>
          <p:cNvSpPr txBox="1"/>
          <p:nvPr/>
        </p:nvSpPr>
        <p:spPr>
          <a:xfrm>
            <a:off x="3749039" y="4572000"/>
            <a:ext cx="1828800" cy="457200"/>
          </a:xfrm>
          <a:prstGeom prst="rect">
            <a:avLst/>
          </a:prstGeom>
          <a:noFill/>
        </p:spPr>
        <p:txBody>
          <a:bodyPr wrap="none">
            <a:spAutoFit/>
          </a:bodyPr>
          <a:lstStyle/>
          <a:p>
            <a:pPr algn="ctr">
              <a:defRPr sz="1100" b="0" i="0">
                <a:solidFill>
                  <a:srgbClr val="5A6E8C"/>
                </a:solidFill>
                <a:latin typeface="Calibri Light"/>
              </a:defRPr>
            </a:pPr>
            <a:r>
              <a:t>~400 words, structured</a:t>
            </a:r>
          </a:p>
        </p:txBody>
      </p:sp>
      <p:sp>
        <p:nvSpPr>
          <p:cNvPr id="28" name="Rectangle 27"/>
          <p:cNvSpPr/>
          <p:nvPr/>
        </p:nvSpPr>
        <p:spPr>
          <a:xfrm>
            <a:off x="5943600" y="4114800"/>
            <a:ext cx="2011680" cy="9144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0" y="4206240"/>
            <a:ext cx="1828800" cy="457200"/>
          </a:xfrm>
          <a:prstGeom prst="rect">
            <a:avLst/>
          </a:prstGeom>
          <a:noFill/>
        </p:spPr>
        <p:txBody>
          <a:bodyPr wrap="none">
            <a:spAutoFit/>
          </a:bodyPr>
          <a:lstStyle/>
          <a:p>
            <a:pPr algn="ctr">
              <a:defRPr sz="1200" b="1" i="0">
                <a:solidFill>
                  <a:srgbClr val="1E2761"/>
                </a:solidFill>
                <a:latin typeface="Calibri Bold"/>
              </a:defRPr>
            </a:pPr>
            <a:r>
              <a:t>Action items</a:t>
            </a:r>
          </a:p>
        </p:txBody>
      </p:sp>
      <p:sp>
        <p:nvSpPr>
          <p:cNvPr id="30" name="TextBox 29"/>
          <p:cNvSpPr txBox="1"/>
          <p:nvPr/>
        </p:nvSpPr>
        <p:spPr>
          <a:xfrm>
            <a:off x="6035040" y="4572000"/>
            <a:ext cx="1828800" cy="457200"/>
          </a:xfrm>
          <a:prstGeom prst="rect">
            <a:avLst/>
          </a:prstGeom>
          <a:noFill/>
        </p:spPr>
        <p:txBody>
          <a:bodyPr wrap="none">
            <a:spAutoFit/>
          </a:bodyPr>
          <a:lstStyle/>
          <a:p>
            <a:pPr algn="ctr">
              <a:defRPr sz="1100" b="0" i="0">
                <a:solidFill>
                  <a:srgbClr val="5A6E8C"/>
                </a:solidFill>
                <a:latin typeface="Calibri Light"/>
              </a:defRPr>
            </a:pPr>
            <a:r>
              <a:t>Owner + deadline + goal</a:t>
            </a:r>
          </a:p>
        </p:txBody>
      </p:sp>
      <p:sp>
        <p:nvSpPr>
          <p:cNvPr id="31" name="Rectangle 30"/>
          <p:cNvSpPr/>
          <p:nvPr/>
        </p:nvSpPr>
        <p:spPr>
          <a:xfrm>
            <a:off x="8229600" y="4114800"/>
            <a:ext cx="2011680" cy="91440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40" y="4206240"/>
            <a:ext cx="1828800" cy="457200"/>
          </a:xfrm>
          <a:prstGeom prst="rect">
            <a:avLst/>
          </a:prstGeom>
          <a:noFill/>
        </p:spPr>
        <p:txBody>
          <a:bodyPr wrap="none">
            <a:spAutoFit/>
          </a:bodyPr>
          <a:lstStyle/>
          <a:p>
            <a:pPr algn="ctr">
              <a:defRPr sz="1200" b="1" i="0">
                <a:solidFill>
                  <a:srgbClr val="1E2761"/>
                </a:solidFill>
                <a:latin typeface="Calibri Bold"/>
              </a:defRPr>
            </a:pPr>
            <a:r>
              <a:t>Decision log</a:t>
            </a:r>
          </a:p>
        </p:txBody>
      </p:sp>
      <p:sp>
        <p:nvSpPr>
          <p:cNvPr id="33" name="TextBox 32"/>
          <p:cNvSpPr txBox="1"/>
          <p:nvPr/>
        </p:nvSpPr>
        <p:spPr>
          <a:xfrm>
            <a:off x="8321040" y="4572000"/>
            <a:ext cx="1828800" cy="457200"/>
          </a:xfrm>
          <a:prstGeom prst="rect">
            <a:avLst/>
          </a:prstGeom>
          <a:noFill/>
        </p:spPr>
        <p:txBody>
          <a:bodyPr wrap="none">
            <a:spAutoFit/>
          </a:bodyPr>
          <a:lstStyle/>
          <a:p>
            <a:pPr algn="ctr">
              <a:defRPr sz="1100" b="0" i="0">
                <a:solidFill>
                  <a:srgbClr val="5A6E8C"/>
                </a:solidFill>
                <a:latin typeface="Calibri Light"/>
              </a:defRPr>
            </a:pPr>
            <a:r>
              <a:t>Pre-formatted for paste</a:t>
            </a:r>
          </a:p>
        </p:txBody>
      </p:sp>
      <p:sp>
        <p:nvSpPr>
          <p:cNvPr id="34" name="TextBox 33"/>
          <p:cNvSpPr txBox="1"/>
          <p:nvPr/>
        </p:nvSpPr>
        <p:spPr>
          <a:xfrm>
            <a:off x="457200" y="5943600"/>
            <a:ext cx="10972800" cy="457200"/>
          </a:xfrm>
          <a:prstGeom prst="rect">
            <a:avLst/>
          </a:prstGeom>
          <a:noFill/>
        </p:spPr>
        <p:txBody>
          <a:bodyPr wrap="none">
            <a:spAutoFit/>
          </a:bodyPr>
          <a:lstStyle/>
          <a:p>
            <a:pPr algn="ctr">
              <a:defRPr sz="1300" b="0" i="1">
                <a:solidFill>
                  <a:srgbClr val="5A6E8C"/>
                </a:solidFill>
                <a:latin typeface="Calibri Light"/>
              </a:defRPr>
            </a:pPr>
            <a:r>
              <a:t>In 6 months: open any week, read a clean account of what was decided, who owned what, and what happened. Without wading through 3 PPTs.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457200" y="457200"/>
            <a:ext cx="10972800" cy="457200"/>
          </a:xfrm>
          <a:prstGeom prst="rect">
            <a:avLst/>
          </a:prstGeom>
          <a:noFill/>
        </p:spPr>
        <p:txBody>
          <a:bodyPr wrap="none">
            <a:spAutoFit/>
          </a:bodyPr>
          <a:lstStyle/>
          <a:p>
            <a:pPr algn="ctr">
              <a:defRPr sz="2600" b="1" i="0">
                <a:solidFill>
                  <a:srgbClr val="1E2761"/>
                </a:solidFill>
                <a:latin typeface="Calibri Bold"/>
              </a:defRPr>
            </a:pPr>
            <a:r>
              <a:t>How it works — the full system</a:t>
            </a:r>
          </a:p>
        </p:txBody>
      </p:sp>
      <p:sp>
        <p:nvSpPr>
          <p:cNvPr id="3" name="TextBox 2"/>
          <p:cNvSpPr txBox="1"/>
          <p:nvPr/>
        </p:nvSpPr>
        <p:spPr>
          <a:xfrm>
            <a:off x="457200" y="1371600"/>
            <a:ext cx="4572000" cy="274320"/>
          </a:xfrm>
          <a:prstGeom prst="rect">
            <a:avLst/>
          </a:prstGeom>
          <a:noFill/>
        </p:spPr>
        <p:txBody>
          <a:bodyPr wrap="none">
            <a:spAutoFit/>
          </a:bodyPr>
          <a:lstStyle/>
          <a:p>
            <a:pPr>
              <a:defRPr sz="1600" b="1" i="0">
                <a:solidFill>
                  <a:srgbClr val="1E2761"/>
                </a:solidFill>
                <a:latin typeface="Calibri Bold"/>
              </a:defRPr>
            </a:pPr>
            <a:r>
              <a:t>1. During the meeting</a:t>
            </a:r>
          </a:p>
        </p:txBody>
      </p:sp>
      <p:sp>
        <p:nvSpPr>
          <p:cNvPr id="4" name="TextBox 3"/>
          <p:cNvSpPr txBox="1"/>
          <p:nvPr/>
        </p:nvSpPr>
        <p:spPr>
          <a:xfrm>
            <a:off x="457200" y="1645920"/>
            <a:ext cx="4572000" cy="548640"/>
          </a:xfrm>
          <a:prstGeom prst="rect">
            <a:avLst/>
          </a:prstGeom>
          <a:noFill/>
        </p:spPr>
        <p:txBody>
          <a:bodyPr wrap="none">
            <a:spAutoFit/>
          </a:bodyPr>
          <a:lstStyle/>
          <a:p>
            <a:pPr>
              <a:defRPr sz="1400" b="0" i="0">
                <a:solidFill>
                  <a:srgbClr val="5A6E8C"/>
                </a:solidFill>
                <a:latin typeface="Calibri Light"/>
              </a:defRPr>
            </a:pPr>
            <a:r>
              <a:t>Adam takes handwritten notes on paper. No typing into Notion — stay present.</a:t>
            </a:r>
          </a:p>
        </p:txBody>
      </p:sp>
      <p:sp>
        <p:nvSpPr>
          <p:cNvPr id="5" name="TextBox 4"/>
          <p:cNvSpPr txBox="1"/>
          <p:nvPr/>
        </p:nvSpPr>
        <p:spPr>
          <a:xfrm>
            <a:off x="457200" y="2194560"/>
            <a:ext cx="4572000" cy="274320"/>
          </a:xfrm>
          <a:prstGeom prst="rect">
            <a:avLst/>
          </a:prstGeom>
          <a:noFill/>
        </p:spPr>
        <p:txBody>
          <a:bodyPr wrap="none">
            <a:spAutoFit/>
          </a:bodyPr>
          <a:lstStyle/>
          <a:p>
            <a:pPr>
              <a:defRPr sz="1600" b="1" i="0">
                <a:solidFill>
                  <a:srgbClr val="1E2761"/>
                </a:solidFill>
                <a:latin typeface="Calibri Bold"/>
              </a:defRPr>
            </a:pPr>
            <a:r>
              <a:t>2. After meeting (same day)</a:t>
            </a:r>
          </a:p>
        </p:txBody>
      </p:sp>
      <p:sp>
        <p:nvSpPr>
          <p:cNvPr id="6" name="TextBox 5"/>
          <p:cNvSpPr txBox="1"/>
          <p:nvPr/>
        </p:nvSpPr>
        <p:spPr>
          <a:xfrm>
            <a:off x="457200" y="2468879"/>
            <a:ext cx="4572000" cy="548640"/>
          </a:xfrm>
          <a:prstGeom prst="rect">
            <a:avLst/>
          </a:prstGeom>
          <a:noFill/>
        </p:spPr>
        <p:txBody>
          <a:bodyPr wrap="none">
            <a:spAutoFit/>
          </a:bodyPr>
          <a:lstStyle/>
          <a:p>
            <a:pPr>
              <a:defRPr sz="1400" b="0" i="0">
                <a:solidFill>
                  <a:srgbClr val="5A6E8C"/>
                </a:solidFill>
                <a:latin typeface="Calibri Light"/>
              </a:defRPr>
            </a:pPr>
            <a:r>
              <a:t>Adam types up raw notes as plain text. Upload to Drive with the 3 PPTs.</a:t>
            </a:r>
          </a:p>
        </p:txBody>
      </p:sp>
      <p:sp>
        <p:nvSpPr>
          <p:cNvPr id="7" name="TextBox 6"/>
          <p:cNvSpPr txBox="1"/>
          <p:nvPr/>
        </p:nvSpPr>
        <p:spPr>
          <a:xfrm>
            <a:off x="457200" y="3017520"/>
            <a:ext cx="4572000" cy="274320"/>
          </a:xfrm>
          <a:prstGeom prst="rect">
            <a:avLst/>
          </a:prstGeom>
          <a:noFill/>
        </p:spPr>
        <p:txBody>
          <a:bodyPr wrap="none">
            <a:spAutoFit/>
          </a:bodyPr>
          <a:lstStyle/>
          <a:p>
            <a:pPr>
              <a:defRPr sz="1600" b="1" i="0">
                <a:solidFill>
                  <a:srgbClr val="1E2761"/>
                </a:solidFill>
                <a:latin typeface="Calibri Bold"/>
              </a:defRPr>
            </a:pPr>
            <a:r>
              <a:t>3. Oriol runs pipeline</a:t>
            </a:r>
          </a:p>
        </p:txBody>
      </p:sp>
      <p:sp>
        <p:nvSpPr>
          <p:cNvPr id="8" name="TextBox 7"/>
          <p:cNvSpPr txBox="1"/>
          <p:nvPr/>
        </p:nvSpPr>
        <p:spPr>
          <a:xfrm>
            <a:off x="457200" y="3291839"/>
            <a:ext cx="4572000" cy="548640"/>
          </a:xfrm>
          <a:prstGeom prst="rect">
            <a:avLst/>
          </a:prstGeom>
          <a:noFill/>
        </p:spPr>
        <p:txBody>
          <a:bodyPr wrap="none">
            <a:spAutoFit/>
          </a:bodyPr>
          <a:lstStyle/>
          <a:p>
            <a:pPr>
              <a:defRPr sz="1400" b="0" i="0">
                <a:solidFill>
                  <a:srgbClr val="5A6E8C"/>
                </a:solidFill>
                <a:latin typeface="Calibri Light"/>
              </a:defRPr>
            </a:pPr>
            <a:r>
              <a:t>Feed all 4 inputs to Claude with structured prompt. ~2 minutes to run.</a:t>
            </a:r>
          </a:p>
        </p:txBody>
      </p:sp>
      <p:sp>
        <p:nvSpPr>
          <p:cNvPr id="9" name="TextBox 8"/>
          <p:cNvSpPr txBox="1"/>
          <p:nvPr/>
        </p:nvSpPr>
        <p:spPr>
          <a:xfrm>
            <a:off x="457200" y="3840480"/>
            <a:ext cx="4572000" cy="274320"/>
          </a:xfrm>
          <a:prstGeom prst="rect">
            <a:avLst/>
          </a:prstGeom>
          <a:noFill/>
        </p:spPr>
        <p:txBody>
          <a:bodyPr wrap="none">
            <a:spAutoFit/>
          </a:bodyPr>
          <a:lstStyle/>
          <a:p>
            <a:pPr>
              <a:defRPr sz="1600" b="1" i="0">
                <a:solidFill>
                  <a:srgbClr val="1E2761"/>
                </a:solidFill>
                <a:latin typeface="Calibri Bold"/>
              </a:defRPr>
            </a:pPr>
            <a:r>
              <a:t>4. Paste to Notion</a:t>
            </a:r>
          </a:p>
        </p:txBody>
      </p:sp>
      <p:sp>
        <p:nvSpPr>
          <p:cNvPr id="10" name="TextBox 9"/>
          <p:cNvSpPr txBox="1"/>
          <p:nvPr/>
        </p:nvSpPr>
        <p:spPr>
          <a:xfrm>
            <a:off x="457200" y="4114800"/>
            <a:ext cx="4572000" cy="548640"/>
          </a:xfrm>
          <a:prstGeom prst="rect">
            <a:avLst/>
          </a:prstGeom>
          <a:noFill/>
        </p:spPr>
        <p:txBody>
          <a:bodyPr wrap="none">
            <a:spAutoFit/>
          </a:bodyPr>
          <a:lstStyle/>
          <a:p>
            <a:pPr>
              <a:defRPr sz="1400" b="0" i="0">
                <a:solidFill>
                  <a:srgbClr val="5A6E8C"/>
                </a:solidFill>
                <a:latin typeface="Calibri Light"/>
              </a:defRPr>
            </a:pPr>
            <a:r>
              <a:t>Copy the 4 artifacts into the Weekly Sync Notion page. Link the Drive folder.</a:t>
            </a:r>
          </a:p>
        </p:txBody>
      </p:sp>
      <p:sp>
        <p:nvSpPr>
          <p:cNvPr id="11" name="TextBox 10"/>
          <p:cNvSpPr txBox="1"/>
          <p:nvPr/>
        </p:nvSpPr>
        <p:spPr>
          <a:xfrm>
            <a:off x="457200" y="4663440"/>
            <a:ext cx="4572000" cy="274320"/>
          </a:xfrm>
          <a:prstGeom prst="rect">
            <a:avLst/>
          </a:prstGeom>
          <a:noFill/>
        </p:spPr>
        <p:txBody>
          <a:bodyPr wrap="none">
            <a:spAutoFit/>
          </a:bodyPr>
          <a:lstStyle/>
          <a:p>
            <a:pPr>
              <a:defRPr sz="1600" b="1" i="0">
                <a:solidFill>
                  <a:srgbClr val="1E2761"/>
                </a:solidFill>
                <a:latin typeface="Calibri Bold"/>
              </a:defRPr>
            </a:pPr>
            <a:r>
              <a:t>5. Future reference</a:t>
            </a:r>
          </a:p>
        </p:txBody>
      </p:sp>
      <p:sp>
        <p:nvSpPr>
          <p:cNvPr id="12" name="TextBox 11"/>
          <p:cNvSpPr txBox="1"/>
          <p:nvPr/>
        </p:nvSpPr>
        <p:spPr>
          <a:xfrm>
            <a:off x="457200" y="4937760"/>
            <a:ext cx="4572000" cy="548640"/>
          </a:xfrm>
          <a:prstGeom prst="rect">
            <a:avLst/>
          </a:prstGeom>
          <a:noFill/>
        </p:spPr>
        <p:txBody>
          <a:bodyPr wrap="none">
            <a:spAutoFit/>
          </a:bodyPr>
          <a:lstStyle/>
          <a:p>
            <a:pPr>
              <a:defRPr sz="1400" b="0" i="0">
                <a:solidFill>
                  <a:srgbClr val="5A6E8C"/>
                </a:solidFill>
                <a:latin typeface="Calibri Light"/>
              </a:defRPr>
            </a:pPr>
            <a:r>
              <a:t>Any sync is searchable, readable, and linked to the Decision Log forever.</a:t>
            </a:r>
          </a:p>
        </p:txBody>
      </p:sp>
      <p:sp>
        <p:nvSpPr>
          <p:cNvPr id="13" name="Rectangle 12"/>
          <p:cNvSpPr/>
          <p:nvPr/>
        </p:nvSpPr>
        <p:spPr>
          <a:xfrm>
            <a:off x="5486400" y="1371600"/>
            <a:ext cx="6217920" cy="4114800"/>
          </a:xfrm>
          <a:prstGeom prst="rect">
            <a:avLst/>
          </a:prstGeom>
          <a:solidFill>
            <a:srgbClr val="F0F2F5"/>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0" y="1371600"/>
            <a:ext cx="91440" cy="4114800"/>
          </a:xfrm>
          <a:prstGeom prst="rect">
            <a:avLst/>
          </a:prstGeom>
          <a:solidFill>
            <a:srgbClr val="1E2761"/>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1645920"/>
            <a:ext cx="5486400" cy="3657600"/>
          </a:xfrm>
          <a:prstGeom prst="rect">
            <a:avLst/>
          </a:prstGeom>
          <a:noFill/>
        </p:spPr>
        <p:txBody>
          <a:bodyPr wrap="none">
            <a:spAutoFit/>
          </a:bodyPr>
          <a:lstStyle/>
          <a:p>
            <a:pPr>
              <a:defRPr sz="1300" b="0" i="0">
                <a:solidFill>
                  <a:srgbClr val="1E2761"/>
                </a:solidFill>
                <a:latin typeface="Calibri Light"/>
              </a:defRPr>
            </a:pPr>
            <a:r>
              <a:t>📅 Weekly Syncs / 2026-W15</a:t>
            </a:r>
            <a:br/>
            <a:br/>
            <a:r>
              <a:t>AI Summary</a:t>
            </a:r>
            <a:br/>
            <a:r>
              <a:t>  · Paver visit: qualified lead, demo scheduled Apr 14</a:t>
            </a:r>
            <a:br/>
            <a:r>
              <a:t>  · Arnau: RAG on Decfa targeted Apr 18</a:t>
            </a:r>
            <a:br/>
            <a:r>
              <a:t>  · Decision: skip Slack permanently</a:t>
            </a:r>
            <a:br/>
            <a:br/>
            <a:r>
              <a:t>Action Items</a:t>
            </a:r>
            <a:br/>
            <a:r>
              <a:t>  ☐ [Arnau] RAG demo on Decfa → Apr 18</a:t>
            </a:r>
            <a:br/>
            <a:r>
              <a:t>  ☐ [Adam] Paver follow-up email → Apr 8</a:t>
            </a:r>
            <a:br/>
            <a:r>
              <a:t>  ☐ [Oriol] Decision Log entries → today</a:t>
            </a:r>
            <a:br/>
            <a:br/>
            <a:r>
              <a:t>Decision Log links</a:t>
            </a:r>
            <a:br/>
            <a:r>
              <a:t>  → On-prem as hard constraint (reconfirmed)</a:t>
            </a:r>
            <a:br/>
            <a:r>
              <a:t>  → Slack permanently skipped</a:t>
            </a:r>
            <a:br/>
            <a:br/>
            <a:r>
              <a:t>📁 Drive: 2026-W15 folder</a:t>
            </a:r>
          </a:p>
        </p:txBody>
      </p:sp>
      <p:sp>
        <p:nvSpPr>
          <p:cNvPr id="16" name="Rectangle 15"/>
          <p:cNvSpPr/>
          <p:nvPr/>
        </p:nvSpPr>
        <p:spPr>
          <a:xfrm>
            <a:off x="457200" y="5943600"/>
            <a:ext cx="11247120" cy="5486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5943600"/>
            <a:ext cx="91440" cy="54864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035040"/>
            <a:ext cx="10058400" cy="457200"/>
          </a:xfrm>
          <a:prstGeom prst="rect">
            <a:avLst/>
          </a:prstGeom>
          <a:noFill/>
        </p:spPr>
        <p:txBody>
          <a:bodyPr wrap="none">
            <a:spAutoFit/>
          </a:bodyPr>
          <a:lstStyle/>
          <a:p>
            <a:pPr>
              <a:defRPr sz="1300" b="0" i="0">
                <a:solidFill>
                  <a:srgbClr val="1E2761"/>
                </a:solidFill>
                <a:latin typeface="Calibri Light"/>
              </a:defRPr>
            </a:pPr>
            <a:r>
              <a:t>Future upgrade: Whisper local transcription (runs on our RTX 3090s) for automatic voice-to-text from The War Room. Zero cloud, fully on-prem.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457200"/>
            <a:ext cx="10972800" cy="731520"/>
          </a:xfrm>
          <a:prstGeom prst="rect">
            <a:avLst/>
          </a:prstGeom>
          <a:noFill/>
        </p:spPr>
        <p:txBody>
          <a:bodyPr wrap="none">
            <a:spAutoFit/>
          </a:bodyPr>
          <a:lstStyle/>
          <a:p>
            <a:pPr algn="ctr">
              <a:defRPr sz="3600" b="1" i="0">
                <a:solidFill>
                  <a:srgbClr val="FFFFFF"/>
                </a:solidFill>
                <a:latin typeface="Calibri Bold"/>
              </a:defRPr>
            </a:pPr>
            <a:r>
              <a:t>Before we leave this room</a:t>
            </a:r>
          </a:p>
        </p:txBody>
      </p:sp>
      <p:sp>
        <p:nvSpPr>
          <p:cNvPr id="3" name="Rectangle 2"/>
          <p:cNvSpPr/>
          <p:nvPr/>
        </p:nvSpPr>
        <p:spPr>
          <a:xfrm>
            <a:off x="1828800" y="1463040"/>
            <a:ext cx="8531352" cy="109728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1463040"/>
            <a:ext cx="91440" cy="10972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1737360"/>
            <a:ext cx="914400" cy="457200"/>
          </a:xfrm>
          <a:prstGeom prst="rect">
            <a:avLst/>
          </a:prstGeom>
          <a:noFill/>
        </p:spPr>
        <p:txBody>
          <a:bodyPr wrap="none">
            <a:spAutoFit/>
          </a:bodyPr>
          <a:lstStyle/>
          <a:p>
            <a:pPr>
              <a:defRPr sz="3200" b="1" i="0">
                <a:solidFill>
                  <a:srgbClr val="4FC3F7"/>
                </a:solidFill>
                <a:latin typeface="Calibri Bold"/>
              </a:defRPr>
            </a:pPr>
            <a:r>
              <a:t>01</a:t>
            </a:r>
          </a:p>
        </p:txBody>
      </p:sp>
      <p:sp>
        <p:nvSpPr>
          <p:cNvPr id="6" name="TextBox 5"/>
          <p:cNvSpPr txBox="1"/>
          <p:nvPr/>
        </p:nvSpPr>
        <p:spPr>
          <a:xfrm>
            <a:off x="3200400" y="1645920"/>
            <a:ext cx="6858000" cy="457200"/>
          </a:xfrm>
          <a:prstGeom prst="rect">
            <a:avLst/>
          </a:prstGeom>
          <a:noFill/>
        </p:spPr>
        <p:txBody>
          <a:bodyPr wrap="none">
            <a:spAutoFit/>
          </a:bodyPr>
          <a:lstStyle/>
          <a:p>
            <a:pPr>
              <a:defRPr sz="2000" b="1" i="0">
                <a:solidFill>
                  <a:srgbClr val="1E2761"/>
                </a:solidFill>
                <a:latin typeface="Calibri Bold"/>
              </a:defRPr>
            </a:pPr>
            <a:r>
              <a:t>Fill your Q2 KRs in Notion — right now</a:t>
            </a:r>
          </a:p>
        </p:txBody>
      </p:sp>
      <p:sp>
        <p:nvSpPr>
          <p:cNvPr id="7" name="TextBox 6"/>
          <p:cNvSpPr txBox="1"/>
          <p:nvPr/>
        </p:nvSpPr>
        <p:spPr>
          <a:xfrm>
            <a:off x="3200400" y="2011680"/>
            <a:ext cx="6858000" cy="457200"/>
          </a:xfrm>
          <a:prstGeom prst="rect">
            <a:avLst/>
          </a:prstGeom>
          <a:noFill/>
        </p:spPr>
        <p:txBody>
          <a:bodyPr wrap="none">
            <a:spAutoFit/>
          </a:bodyPr>
          <a:lstStyle/>
          <a:p>
            <a:pPr>
              <a:defRPr sz="1400" b="0" i="0">
                <a:solidFill>
                  <a:srgbClr val="5A6E8C"/>
                </a:solidFill>
                <a:latin typeface="Calibri Light"/>
              </a:defRPr>
            </a:pPr>
            <a:r>
              <a:t>Goals &amp; OKRs → Q2 2026 → your name. 3 KRs. You define them.</a:t>
            </a:r>
          </a:p>
        </p:txBody>
      </p:sp>
      <p:sp>
        <p:nvSpPr>
          <p:cNvPr id="8" name="Rectangle 7"/>
          <p:cNvSpPr/>
          <p:nvPr/>
        </p:nvSpPr>
        <p:spPr>
          <a:xfrm>
            <a:off x="1828800" y="2834640"/>
            <a:ext cx="8531352" cy="109728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2834640"/>
            <a:ext cx="91440" cy="10972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3108960"/>
            <a:ext cx="914400" cy="457200"/>
          </a:xfrm>
          <a:prstGeom prst="rect">
            <a:avLst/>
          </a:prstGeom>
          <a:noFill/>
        </p:spPr>
        <p:txBody>
          <a:bodyPr wrap="none">
            <a:spAutoFit/>
          </a:bodyPr>
          <a:lstStyle/>
          <a:p>
            <a:pPr>
              <a:defRPr sz="3200" b="1" i="0">
                <a:solidFill>
                  <a:srgbClr val="4FC3F7"/>
                </a:solidFill>
                <a:latin typeface="Calibri Bold"/>
              </a:defRPr>
            </a:pPr>
            <a:r>
              <a:t>02</a:t>
            </a:r>
          </a:p>
        </p:txBody>
      </p:sp>
      <p:sp>
        <p:nvSpPr>
          <p:cNvPr id="11" name="TextBox 10"/>
          <p:cNvSpPr txBox="1"/>
          <p:nvPr/>
        </p:nvSpPr>
        <p:spPr>
          <a:xfrm>
            <a:off x="3200400" y="3017520"/>
            <a:ext cx="6858000" cy="457200"/>
          </a:xfrm>
          <a:prstGeom prst="rect">
            <a:avLst/>
          </a:prstGeom>
          <a:noFill/>
        </p:spPr>
        <p:txBody>
          <a:bodyPr wrap="none">
            <a:spAutoFit/>
          </a:bodyPr>
          <a:lstStyle/>
          <a:p>
            <a:pPr>
              <a:defRPr sz="2000" b="1" i="0">
                <a:solidFill>
                  <a:srgbClr val="1E2761"/>
                </a:solidFill>
                <a:latin typeface="Calibri Bold"/>
              </a:defRPr>
            </a:pPr>
            <a:r>
              <a:t>Build your W15 sprint card</a:t>
            </a:r>
          </a:p>
        </p:txBody>
      </p:sp>
      <p:sp>
        <p:nvSpPr>
          <p:cNvPr id="12" name="TextBox 11"/>
          <p:cNvSpPr txBox="1"/>
          <p:nvPr/>
        </p:nvSpPr>
        <p:spPr>
          <a:xfrm>
            <a:off x="3200400" y="3383280"/>
            <a:ext cx="6858000" cy="457200"/>
          </a:xfrm>
          <a:prstGeom prst="rect">
            <a:avLst/>
          </a:prstGeom>
          <a:noFill/>
        </p:spPr>
        <p:txBody>
          <a:bodyPr wrap="none">
            <a:spAutoFit/>
          </a:bodyPr>
          <a:lstStyle/>
          <a:p>
            <a:pPr>
              <a:defRPr sz="1400" b="0" i="0">
                <a:solidFill>
                  <a:srgbClr val="5A6E8C"/>
                </a:solidFill>
                <a:latin typeface="Calibri Light"/>
              </a:defRPr>
            </a:pPr>
            <a:r>
              <a:t>Sprint Goals → W15 → your 2–3 goals for this week with % and status.</a:t>
            </a:r>
          </a:p>
        </p:txBody>
      </p:sp>
      <p:sp>
        <p:nvSpPr>
          <p:cNvPr id="13" name="Rectangle 12"/>
          <p:cNvSpPr/>
          <p:nvPr/>
        </p:nvSpPr>
        <p:spPr>
          <a:xfrm>
            <a:off x="1828800" y="4206240"/>
            <a:ext cx="8531352" cy="109728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0" y="4206240"/>
            <a:ext cx="91440" cy="109728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0" y="4480559"/>
            <a:ext cx="914400" cy="457200"/>
          </a:xfrm>
          <a:prstGeom prst="rect">
            <a:avLst/>
          </a:prstGeom>
          <a:noFill/>
        </p:spPr>
        <p:txBody>
          <a:bodyPr wrap="none">
            <a:spAutoFit/>
          </a:bodyPr>
          <a:lstStyle/>
          <a:p>
            <a:pPr>
              <a:defRPr sz="3200" b="1" i="0">
                <a:solidFill>
                  <a:srgbClr val="4FC3F7"/>
                </a:solidFill>
                <a:latin typeface="Calibri Bold"/>
              </a:defRPr>
            </a:pPr>
            <a:r>
              <a:t>03</a:t>
            </a:r>
          </a:p>
        </p:txBody>
      </p:sp>
      <p:sp>
        <p:nvSpPr>
          <p:cNvPr id="16" name="TextBox 15"/>
          <p:cNvSpPr txBox="1"/>
          <p:nvPr/>
        </p:nvSpPr>
        <p:spPr>
          <a:xfrm>
            <a:off x="3200400" y="4389120"/>
            <a:ext cx="6858000" cy="457200"/>
          </a:xfrm>
          <a:prstGeom prst="rect">
            <a:avLst/>
          </a:prstGeom>
          <a:noFill/>
        </p:spPr>
        <p:txBody>
          <a:bodyPr wrap="none">
            <a:spAutoFit/>
          </a:bodyPr>
          <a:lstStyle/>
          <a:p>
            <a:pPr>
              <a:defRPr sz="2000" b="1" i="0">
                <a:solidFill>
                  <a:srgbClr val="1E2761"/>
                </a:solidFill>
                <a:latin typeface="Calibri Bold"/>
              </a:defRPr>
            </a:pPr>
            <a:r>
              <a:t>Submit your first EOD log today</a:t>
            </a:r>
          </a:p>
        </p:txBody>
      </p:sp>
      <p:sp>
        <p:nvSpPr>
          <p:cNvPr id="17" name="TextBox 16"/>
          <p:cNvSpPr txBox="1"/>
          <p:nvPr/>
        </p:nvSpPr>
        <p:spPr>
          <a:xfrm>
            <a:off x="3200400" y="4754879"/>
            <a:ext cx="6858000" cy="457200"/>
          </a:xfrm>
          <a:prstGeom prst="rect">
            <a:avLst/>
          </a:prstGeom>
          <a:noFill/>
        </p:spPr>
        <p:txBody>
          <a:bodyPr wrap="none">
            <a:spAutoFit/>
          </a:bodyPr>
          <a:lstStyle/>
          <a:p>
            <a:pPr>
              <a:defRPr sz="1400" b="0" i="0">
                <a:solidFill>
                  <a:srgbClr val="5A6E8C"/>
                </a:solidFill>
                <a:latin typeface="Calibri Light"/>
              </a:defRPr>
            </a:pPr>
            <a:r>
              <a:t>Daily Logs → your name → new page. Streak starts today.</a:t>
            </a:r>
          </a:p>
        </p:txBody>
      </p:sp>
      <p:sp>
        <p:nvSpPr>
          <p:cNvPr id="18" name="Rectangle 17"/>
          <p:cNvSpPr/>
          <p:nvPr/>
        </p:nvSpPr>
        <p:spPr>
          <a:xfrm>
            <a:off x="1828800" y="5669280"/>
            <a:ext cx="8531352" cy="731520"/>
          </a:xfrm>
          <a:prstGeom prst="rect">
            <a:avLst/>
          </a:prstGeom>
          <a:solidFill>
            <a:srgbClr val="4FC3F7"/>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11680" y="5806440"/>
            <a:ext cx="8229600" cy="457200"/>
          </a:xfrm>
          <a:prstGeom prst="rect">
            <a:avLst/>
          </a:prstGeom>
          <a:noFill/>
        </p:spPr>
        <p:txBody>
          <a:bodyPr wrap="none">
            <a:spAutoFit/>
          </a:bodyPr>
          <a:lstStyle/>
          <a:p>
            <a:pPr algn="ctr">
              <a:defRPr sz="1600" b="1" i="0">
                <a:solidFill>
                  <a:srgbClr val="1E2761"/>
                </a:solidFill>
                <a:latin typeface="Calibri Bold"/>
              </a:defRPr>
            </a:pPr>
            <a:r>
              <a:t>The system is live when all three of us have a streak of 1. That happens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