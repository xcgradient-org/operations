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Obrir amb calma, tecnologia sobria i confiança.
[Sources]
- No s'han utilitzat fonts externes ni actius externs; visuals originals creats per aquesta presentació.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Fer que Xavier hi entri emocionalment de seguida.
Pausa. Preguntar: “Us sona això?”
[Sources]
- No s'han utilitzat fonts externes ni actius externs; visuals originals creats per aquesta presentació.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El cost real és allò que no es veu als sistemes.
Preguntar: “Quants anys d'experiència té el vostre tècnic més veterà?”
[Sources]
- La xifra “≈70%” és una estimació sectorial creada per a aquesta conversa, no una dada estadística verificable.
- Marc conceptual basat en literatura sobre coneixement tàcit i coneixement no documentat en entorns industrials, incloent IAEA “Knowledge Management for Nuclear Industry Operating Organisations” (2006) i recerca recent sobre pèrdua de coneixement per rotació/retirada.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Fer tangible la proposta amb un cas proper i molt concret.
Recordatori per al presenter: comentar oralment que és una empresa de Granollers amb col·laboració actual; el vincle personal no apareix a la slide.
[Sources]
- Contingut proporcionat per l'usuari. La conversa simulada és un mockup conceptual creat per a aquesta presentació.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Vendre la visió, no la funcionalitat.
Deixar que Xavier reaccioni. No afegir res. Escolta.
[Sources]
- No s'han utilitzat fonts externes ni actius externs; visuals originals creats per aquesta presentació.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Donar credibilitat; el pivot ve del mercat i de la realitat industrial.
[Sources]
- Contingut proporcionat per l'usuari. No s'han utilitzat fonts externes ni actius externs.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Una sola frase, perquè quedi cristal·lina.
[Sources]
- Contingut proporcionat per l'usuari. No s'han utilitzat fonts externes ni actius externs.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Fer veure que la solució és simple d'entendre i simple d'adoptar.
[Sources]
- Mockup conceptual i textos creats per a aquesta presentació; no s'han utilitzat fonts externes.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Rebaixar immediatament la por al risc i al núvol.
Preguntar: “Teniu dades sensibles de clients o processos que mai podríeu posar al núvol?”
[Sources]
- Referències normatives generals: Directiva (UE) 2022/2555 (NIS2) i norma ISO/IEC 27001.
- No es fa cap afirmació de certificació; el text parla de disseny arquitectònic orientat al compliment.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L'oferta és una manera de treballar, no només tecnologia.
[Sources]
- Contingut proporcionat per l'usuari. No s'han utilitzat fonts externes ni actius externs.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Missatge clau: Tancar amb una proposta clara, generosa i sense pressió.
No afegir res. Deixar que la slide parli. Somriure i esperar.
[Sources]
- Contingut proporcionat per l'usuari. No s'han utilitzat fonts externes ni actius externs.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1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0515600" y="640080"/>
            <a:ext cx="822960" cy="0"/>
          </a:xfrm>
          <a:prstGeom prst="line">
            <a:avLst/>
          </a:prstGeom>
          <a:noFill/>
          <a:ln w="13970">
            <a:solidFill>
              <a:srgbClr val="2536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868680"/>
            <a:ext cx="594360" cy="0"/>
          </a:xfrm>
          <a:prstGeom prst="line">
            <a:avLst/>
          </a:prstGeom>
          <a:noFill/>
          <a:ln w="13970">
            <a:solidFill>
              <a:srgbClr val="32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XC Gradient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Intel·ligència artificial privada per a la manufactura europea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143000" cy="0"/>
          </a:xfrm>
          <a:prstGeom prst="line">
            <a:avLst/>
          </a:prstGeom>
          <a:noFill/>
          <a:ln w="3048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61447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 · www.xcgradient.com · 2026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9680" y="12344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0515600" y="640080"/>
            <a:ext cx="822960" cy="0"/>
          </a:xfrm>
          <a:prstGeom prst="line">
            <a:avLst/>
          </a:prstGeom>
          <a:noFill/>
          <a:ln w="13970">
            <a:solidFill>
              <a:srgbClr val="2536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868680"/>
            <a:ext cx="594360" cy="0"/>
          </a:xfrm>
          <a:prstGeom prst="line">
            <a:avLst/>
          </a:prstGeom>
          <a:noFill/>
          <a:ln w="13970">
            <a:solidFill>
              <a:srgbClr val="32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91440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“On és aquell procediment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feia servir el Miquel?”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960120" cy="0"/>
          </a:xfrm>
          <a:prstGeom prst="line">
            <a:avLst/>
          </a:prstGeom>
          <a:noFill/>
          <a:ln w="2667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264408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1546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 tècnics veterans se'n van… i s'emporten el coneixement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8313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 manuals existeixen, però ningú els troba quan els necessita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914400" y="4617720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507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nou operari triga mesos a ser productiu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641080" y="132588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111821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0" y="1874520"/>
            <a:ext cx="1078992" cy="10789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079992" y="404164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Coneixement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" y="5303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coneixement que no es veu… és el més car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554480"/>
            <a:ext cx="34747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350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manuals · fitxers · docs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45902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9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experiència dels tècnics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9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informals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9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apresos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9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processos no escrits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577840" y="1874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70% del coneixement operatiu d’una PIME industrial no està formalment documentat.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5596128" y="34015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Estimació sectorial utilitzada amb finalitat il·lustrativa.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96128" y="365760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basat en recerca sobre coneixement tàcit i transferència de coneixement industrial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4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0515600" y="640080"/>
            <a:ext cx="822960" cy="0"/>
          </a:xfrm>
          <a:prstGeom prst="line">
            <a:avLst/>
          </a:prstGeom>
          <a:noFill/>
          <a:ln w="13970">
            <a:solidFill>
              <a:srgbClr val="2536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868680"/>
            <a:ext cx="594360" cy="0"/>
          </a:xfrm>
          <a:prstGeom prst="line">
            <a:avLst/>
          </a:prstGeom>
          <a:noFill/>
          <a:ln w="13970">
            <a:solidFill>
              <a:srgbClr val="32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5303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exemple proper: Decfa, Granollers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68680" y="1408176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2984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 de mecanitzat de precisió, ~30 persones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868680" y="1956816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47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 tècnica dispersa: fitxes de màquina, procediments de qualitat, historial d’incidències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868680" y="2505456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3957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habitual dels operaris: “Com s’ha mecanitzat aquesta peça l’última vegada?”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868680" y="3054096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944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 XC Gradient: el sistema respon en segons, citant el document exacte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6400800" y="1234440"/>
            <a:ext cx="4754880" cy="4160520"/>
          </a:xfrm>
          <a:prstGeom prst="roundRect">
            <a:avLst>
              <a:gd name="adj" fmla="val 2198"/>
            </a:avLst>
          </a:prstGeom>
          <a:solidFill>
            <a:srgbClr val="111821"/>
          </a:solidFill>
          <a:ln w="13970">
            <a:solidFill>
              <a:srgbClr val="2631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48132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 simulada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938528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171F2A"/>
          </a:solidFill>
          <a:ln w="12700">
            <a:solidFill>
              <a:srgbClr val="171F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87000" y="2011680"/>
            <a:ext cx="45720" cy="72237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2048256"/>
            <a:ext cx="3374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👷 “Quina tolerància fem servir per l’acer inoxidable 316L en el torn CNC-4?”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0" y="3154680"/>
            <a:ext cx="3429000" cy="1078992"/>
          </a:xfrm>
          <a:prstGeom prst="roundRect">
            <a:avLst>
              <a:gd name="adj" fmla="val 6780"/>
            </a:avLst>
          </a:prstGeom>
          <a:solidFill>
            <a:srgbClr val="0F2631"/>
          </a:solidFill>
          <a:ln w="12700">
            <a:solidFill>
              <a:srgbClr val="0F26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3227832"/>
            <a:ext cx="45720" cy="93268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1504" y="3264408"/>
            <a:ext cx="31912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🤖 “Segons el procediment QC-2023-07, la tolerància estàndard és ±0.02 mm. Última revisió: març 2024.”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48272" y="477316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conceptual de resposta amb cita documental.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80467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tècnic expert sempre disponible.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 a tothom.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96112" y="1783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que coneix la teva empresa millor que ningú — i no marxa mai.</a:t>
            </a:r>
            <a:endParaRPr lang="en-US" sz="156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9480" y="1097280"/>
            <a:ext cx="35661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77072" y="2359152"/>
            <a:ext cx="841248" cy="841248"/>
          </a:xfrm>
          <a:prstGeom prst="ellipse">
            <a:avLst/>
          </a:prstGeom>
          <a:solidFill>
            <a:srgbClr val="0E1821"/>
          </a:solidFill>
          <a:ln w="25400">
            <a:solidFill>
              <a:srgbClr val="00C2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97696" y="1938528"/>
            <a:ext cx="0" cy="420624"/>
          </a:xfrm>
          <a:prstGeom prst="line">
            <a:avLst/>
          </a:prstGeom>
          <a:noFill/>
          <a:ln w="12700">
            <a:solidFill>
              <a:srgbClr val="526A80">
                <a:alpha val="6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51392" y="2770632"/>
            <a:ext cx="402336" cy="0"/>
          </a:xfrm>
          <a:prstGeom prst="line">
            <a:avLst/>
          </a:prstGeom>
          <a:noFill/>
          <a:ln w="12700">
            <a:solidFill>
              <a:srgbClr val="526A80">
                <a:alpha val="6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26680" y="1645920"/>
            <a:ext cx="676656" cy="676656"/>
          </a:xfrm>
          <a:prstGeom prst="ellipse">
            <a:avLst/>
          </a:prstGeom>
          <a:solidFill>
            <a:srgbClr val="121923"/>
          </a:solidFill>
          <a:ln w="13970">
            <a:solidFill>
              <a:srgbClr val="2C3B4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6408" y="1755648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058400" y="1828800"/>
            <a:ext cx="676656" cy="676656"/>
          </a:xfrm>
          <a:prstGeom prst="ellipse">
            <a:avLst/>
          </a:prstGeom>
          <a:solidFill>
            <a:srgbClr val="121923"/>
          </a:solidFill>
          <a:ln w="13970">
            <a:solidFill>
              <a:srgbClr val="2C3B4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8128" y="1938528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012680" y="3401568"/>
            <a:ext cx="676656" cy="676656"/>
          </a:xfrm>
          <a:prstGeom prst="ellipse">
            <a:avLst/>
          </a:prstGeom>
          <a:solidFill>
            <a:srgbClr val="121923"/>
          </a:solidFill>
          <a:ln w="13970">
            <a:solidFill>
              <a:srgbClr val="2C3B4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2408" y="3511296"/>
            <a:ext cx="457200" cy="4572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571232" y="3401568"/>
            <a:ext cx="676656" cy="676656"/>
          </a:xfrm>
          <a:prstGeom prst="ellipse">
            <a:avLst/>
          </a:prstGeom>
          <a:solidFill>
            <a:srgbClr val="121923"/>
          </a:solidFill>
          <a:ln w="13970">
            <a:solidFill>
              <a:srgbClr val="2C3B4D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80960" y="3511296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96112" y="572414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0A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nostra missió: que cada PIME industrial europea tingui accés al mateix nivell d’intel·ligència operativa que les grans corporacions.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6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0515600" y="640080"/>
            <a:ext cx="822960" cy="0"/>
          </a:xfrm>
          <a:prstGeom prst="line">
            <a:avLst/>
          </a:prstGeom>
          <a:noFill/>
          <a:ln w="13970">
            <a:solidFill>
              <a:srgbClr val="2536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868680"/>
            <a:ext cx="594360" cy="0"/>
          </a:xfrm>
          <a:prstGeom prst="line">
            <a:avLst/>
          </a:prstGeom>
          <a:noFill/>
          <a:ln w="13970">
            <a:solidFill>
              <a:srgbClr val="32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5303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hem nascut d'un garatge. Hem nascut d'un problema real.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34440" y="2834640"/>
            <a:ext cx="9464040" cy="0"/>
          </a:xfrm>
          <a:prstGeom prst="line">
            <a:avLst/>
          </a:prstGeom>
          <a:noFill/>
          <a:ln w="25400">
            <a:solidFill>
              <a:srgbClr val="344554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2633472"/>
            <a:ext cx="402336" cy="402336"/>
          </a:xfrm>
          <a:prstGeom prst="ellipse">
            <a:avLst/>
          </a:prstGeom>
          <a:solidFill>
            <a:srgbClr val="0A0A0F"/>
          </a:solidFill>
          <a:ln w="1778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8488" y="2761488"/>
            <a:ext cx="146304" cy="14630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05272" y="2633472"/>
            <a:ext cx="402336" cy="402336"/>
          </a:xfrm>
          <a:prstGeom prst="ellipse">
            <a:avLst/>
          </a:prstGeom>
          <a:solidFill>
            <a:srgbClr val="0A0A0F"/>
          </a:solidFill>
          <a:ln w="17780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3288" y="2761488"/>
            <a:ext cx="146304" cy="146304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0072" y="2633472"/>
            <a:ext cx="402336" cy="402336"/>
          </a:xfrm>
          <a:prstGeom prst="ellipse">
            <a:avLst/>
          </a:prstGeom>
          <a:solidFill>
            <a:srgbClr val="0A0A0F"/>
          </a:solidFill>
          <a:ln w="17780">
            <a:solidFill>
              <a:srgbClr val="83F2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48088" y="2761488"/>
            <a:ext cx="146304" cy="146304"/>
          </a:xfrm>
          <a:prstGeom prst="ellipse">
            <a:avLst/>
          </a:prstGeom>
          <a:solidFill>
            <a:srgbClr val="83F2C8"/>
          </a:solidFill>
          <a:ln w="12700">
            <a:solidFill>
              <a:srgbClr val="83F2C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310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67512" y="3675888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enginyers de la UPC.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Recerca en IA aplicada a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sistemes de recuperació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coneixement.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919472" y="33101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Descobriment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590288" y="3675888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Parlant amb empreses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industrials, vam veure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problema no era la IA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si — era la privacitat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la integració real.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9528048" y="331012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83F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098280" y="367588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XC Gradient: IA privada,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instal·lada a les teves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instal·lacions, sense cap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dada al núvol.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05840" y="1371600"/>
            <a:ext cx="10195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“Un sistema d’intel·ligència artificial que aprèn de la documentació de la teva empresa i respon preguntes dels teus operaris — instal·lat als teus servidors, sense internet, sense cap dada que surti mai de casa teva.”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15968" y="5257800"/>
            <a:ext cx="3566160" cy="0"/>
          </a:xfrm>
          <a:prstGeom prst="line">
            <a:avLst/>
          </a:prstGeom>
          <a:noFill/>
          <a:ln w="30480">
            <a:solidFill>
              <a:srgbClr val="00C2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0515600" y="640080"/>
            <a:ext cx="822960" cy="0"/>
          </a:xfrm>
          <a:prstGeom prst="line">
            <a:avLst/>
          </a:prstGeom>
          <a:noFill/>
          <a:ln w="13970">
            <a:solidFill>
              <a:srgbClr val="2536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868680"/>
            <a:ext cx="594360" cy="0"/>
          </a:xfrm>
          <a:prstGeom prst="line">
            <a:avLst/>
          </a:prstGeom>
          <a:noFill/>
          <a:ln w="13970">
            <a:solidFill>
              <a:srgbClr val="32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5303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passos. Cap complicació.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493008" y="1947672"/>
            <a:ext cx="841248" cy="0"/>
          </a:xfrm>
          <a:prstGeom prst="line">
            <a:avLst/>
          </a:prstGeom>
          <a:noFill/>
          <a:ln w="19050">
            <a:solidFill>
              <a:srgbClr val="34455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61504" y="1947672"/>
            <a:ext cx="841248" cy="0"/>
          </a:xfrm>
          <a:prstGeom prst="line">
            <a:avLst/>
          </a:prstGeom>
          <a:noFill/>
          <a:ln w="19050">
            <a:solidFill>
              <a:srgbClr val="34455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1078992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111821"/>
          </a:solidFill>
          <a:ln w="13970">
            <a:solidFill>
              <a:srgbClr val="263140"/>
            </a:solidFill>
            <a:prstDash val="solid"/>
          </a:ln>
          <a:effectLst>
            <a:outerShdw sx="100000" sy="100000" kx="0" ky="0" algn="bl" rotWithShape="0" blurRad="12700" dist="16510" dir="27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243584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124358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— Connectem els teus documents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1792224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Manuals, procediments, fitxes tècniques, correus, PDFs… tot el que ja tens.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17720" y="1078992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111821"/>
          </a:solidFill>
          <a:ln w="13970">
            <a:solidFill>
              <a:srgbClr val="263140"/>
            </a:solidFill>
            <a:prstDash val="solid"/>
          </a:ln>
          <a:effectLst>
            <a:outerShdw sx="100000" sy="100000" kx="0" ky="0" algn="bl" rotWithShape="0" blurRad="12700" dist="16510" dir="27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1243584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7528" y="124358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— La IA aprèn (sense núvol)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00600" y="1792224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processa i indexa el coneixement. Tot passa als teus servidors.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503920" y="1078992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111821"/>
          </a:solidFill>
          <a:ln w="13970">
            <a:solidFill>
              <a:srgbClr val="263140"/>
            </a:solidFill>
            <a:prstDash val="solid"/>
          </a:ln>
          <a:effectLst>
            <a:outerShdw sx="100000" sy="100000" kx="0" ky="0" algn="bl" rotWithShape="0" blurRad="12700" dist="16510" dir="27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0" y="1243584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53728" y="124358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— Els teus equips pregunten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686800" y="1792224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Qualsevol treballador pot preguntar en llenguatge natural i obtenir respostes amb la font exacta citada.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914400" y="3931920"/>
            <a:ext cx="10241280" cy="1207008"/>
          </a:xfrm>
          <a:prstGeom prst="roundRect">
            <a:avLst>
              <a:gd name="adj" fmla="val 7576"/>
            </a:avLst>
          </a:prstGeom>
          <a:solidFill>
            <a:srgbClr val="111821"/>
          </a:solidFill>
          <a:ln w="13970">
            <a:solidFill>
              <a:srgbClr val="26314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07008" y="4261104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🔍  “Com es configura la pressió d’injecció per al motlle M-47?”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207008" y="4626864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CDEF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Resposta: “Segons fitxa tècnica MT-047-Rev3: pressió nominal 180 bar, rang permès 170–195 bar.”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7132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teves dades.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casa teva. Sempre.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96112" y="17830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Dissenyat per complir NIS2 i ISO 27001 des del primer dia.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4040" y="868680"/>
            <a:ext cx="1737360" cy="17373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8360" y="1143000"/>
            <a:ext cx="1170432" cy="11704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8680" y="2743200"/>
            <a:ext cx="3401568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3970">
            <a:solidFill>
              <a:srgbClr val="263140"/>
            </a:solidFill>
            <a:prstDash val="solid"/>
          </a:ln>
          <a:effectLst>
            <a:outerShdw sx="100000" sy="100000" kx="0" ky="0" algn="bl" rotWithShape="0" blurRad="12700" dist="16510" dir="2700000">
              <a:srgbClr val="000000">
                <a:alpha val="16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2907792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18488" y="2907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On-premises total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051560" y="345643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s’instal·la als teus propis servidors. Cap dada surt mai a internet.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4407408" y="2743200"/>
            <a:ext cx="3401568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3970">
            <a:solidFill>
              <a:srgbClr val="263140"/>
            </a:solidFill>
            <a:prstDash val="solid"/>
          </a:ln>
          <a:effectLst>
            <a:outerShdw sx="100000" sy="100000" kx="0" ky="0" algn="bl" rotWithShape="0" blurRad="12700" dist="16510" dir="2700000">
              <a:srgbClr val="000000">
                <a:alpha val="16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0288" y="2907792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57216" y="2907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 dependència externa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4590288" y="345643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necessites connexió a OpenAI, Google ni cap servei extern. Funciona en xarxa local tancada.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7946136" y="2743200"/>
            <a:ext cx="3401568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3970">
            <a:solidFill>
              <a:srgbClr val="263140"/>
            </a:solidFill>
            <a:prstDash val="solid"/>
          </a:ln>
          <a:effectLst>
            <a:outerShdw sx="100000" sy="100000" kx="0" ky="0" algn="bl" rotWithShape="0" blurRad="12700" dist="16510" dir="2700000">
              <a:srgbClr val="000000">
                <a:alpha val="16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29016" y="2907792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95944" y="2907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Compliment normatiu europeu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8129016" y="345643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dissenyada per a NIS2 i ISO 27001. Per a empreses que no es poden permetre un incident de seguretat.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10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0515600" y="640080"/>
            <a:ext cx="822960" cy="0"/>
          </a:xfrm>
          <a:prstGeom prst="line">
            <a:avLst/>
          </a:prstGeom>
          <a:noFill/>
          <a:ln w="13970">
            <a:solidFill>
              <a:srgbClr val="2536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868680"/>
            <a:ext cx="594360" cy="0"/>
          </a:xfrm>
          <a:prstGeom prst="line">
            <a:avLst/>
          </a:prstGeom>
          <a:noFill/>
          <a:ln w="13970">
            <a:solidFill>
              <a:srgbClr val="32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5303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 demostrem. Després parlem de números.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68680" y="121615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creiem en presentacions infinites. Creiem en resultats mesurables en setmanes, no en mesos.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4754880" cy="2880360"/>
          </a:xfrm>
          <a:prstGeom prst="roundRect">
            <a:avLst>
              <a:gd name="adj" fmla="val 2540"/>
            </a:avLst>
          </a:prstGeom>
          <a:solidFill>
            <a:srgbClr val="111821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10528" y="2057400"/>
            <a:ext cx="4754880" cy="2880360"/>
          </a:xfrm>
          <a:prstGeom prst="roundRect">
            <a:avLst>
              <a:gd name="adj" fmla="val 2540"/>
            </a:avLst>
          </a:prstGeom>
          <a:solidFill>
            <a:srgbClr val="0E1B23"/>
          </a:solidFill>
          <a:ln w="13970">
            <a:solidFill>
              <a:srgbClr val="3350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3774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NO treballem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225296" y="28529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6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72768" y="28529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Propostes de 80 pàgines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25296" y="3429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6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72768" y="3429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Integracions de 6 mesos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5296" y="40050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6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✕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72768" y="40050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AA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 per al client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84848" y="2377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83F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SÍ treballem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784848" y="28529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3F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132320" y="28529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en 4–6 setmanes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84848" y="3429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3F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32320" y="3429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 la teva documentació real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84848" y="40050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3F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132320" y="40050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mesurables des del dia 1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7C89"/>
                </a:solidFill>
              </a:rPr>
              <a:t>11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>
              <a:alpha val="92000"/>
            </a:srgbClr>
          </a:solidFill>
          <a:ln w="12700">
            <a:solidFill>
              <a:srgbClr val="10172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9144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Volem fer el PoC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0F0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amb tu. Gratis.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Creiem que Paver és el tipus d’empresa per a qui hem construït això.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3465576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3558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Volem aprendre junts. Sense cost per a vosaltres.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0120" y="4078224"/>
            <a:ext cx="73152" cy="731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96849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funciona — i creiem que funcionarà — ja parlarem.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2688" y="4919472"/>
            <a:ext cx="1005840" cy="0"/>
          </a:xfrm>
          <a:prstGeom prst="line">
            <a:avLst/>
          </a:prstGeom>
          <a:noFill/>
          <a:ln w="2794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579729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Oriol Sala — oriol@xcgradient.com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601675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XC Gradient · Granollers,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084832"/>
            <a:ext cx="4480560" cy="1170432"/>
          </a:xfrm>
          <a:prstGeom prst="roundRect">
            <a:avLst>
              <a:gd name="adj" fmla="val 7813"/>
            </a:avLst>
          </a:prstGeom>
          <a:solidFill>
            <a:srgbClr val="111821"/>
          </a:solidFill>
          <a:ln w="13970">
            <a:solidFill>
              <a:srgbClr val="2631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487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XC Gradient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0" y="24140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875520" y="24871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Paver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0" y="3730752"/>
            <a:ext cx="640080" cy="64008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2480" y="4133088"/>
            <a:ext cx="640080" cy="64008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6608" y="3730752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XC Gradient × Paver</dc:title>
  <dc:subject>XC Gradient × Paver</dc:subject>
  <dc:creator>OpenAI</dc:creator>
  <cp:lastModifiedBy>OpenAI</cp:lastModifiedBy>
  <cp:revision>1</cp:revision>
  <dcterms:created xsi:type="dcterms:W3CDTF">2026-04-07T13:14:43Z</dcterms:created>
  <dcterms:modified xsi:type="dcterms:W3CDTF">2026-04-07T13:14:43Z</dcterms:modified>
</cp:coreProperties>
</file>