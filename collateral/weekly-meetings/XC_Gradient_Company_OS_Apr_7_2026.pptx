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Today's meeting has one job: by the time we leave this room, we have a system. A real operating system for this company. Not slides that sit in a Drive folder — an actual running infrastructure that we use starting today. Give me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topics. Some will take 5 minutes, some 10. I'll tell you upfront: by the end of this, I need each of you to fill in your Q2 personal KRs live in Notion. That's the deliverable of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Notion is not a note-taking app. It's the company. If it's not in Notion, it didn't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is simple: Discord is what we're thinking about right now. Notion is what we decided. Drive is for files too big for Notion. That's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company knowledge base. Six sections. I'll show you each one. The most important one is Company Brain — specifically the Decision Log. That's the one we'll be most disciplined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you see when you open your laptop. Before you open anything else — terminal, IDE, whatever — Notion is open. The Home page tells you in 30 seconds if anything needs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Slack is a deliberate no. We don't need three messaging systems. When we hire the first employee, we can revisit — they may expect Slack for HR tools. That's a 2027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strategic layer. I want you to understand not just what the goals are, but why they're structured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have great KPIs and be building the wrong thing. OKRs answer 'what matters most right now?' — and that answer changes every 13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 week-over-week, you 5× in a year. At 5%, you 12× in a year. The math is violent once you have any base at all. Right now we have no base. That changes after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is the only phase that's about us, not the market. The question is: are we operationally ready? By end of this meeting,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defense date is not just academic. July 1 is the day we stop being primarily builders and become primarily sellers. The thesis is our credibility asset — a defended academic RAG paper plus two PoCs with numbers is our pitch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is the most underestimated phase. You'll have a working product, a thesis, and two PoCs. You'll feel like the hard part is done. It is not. The hard part is the next 18 months of 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on KRs: you define your own. I will never assign KRs to you. Owned KRs get hit. Assigned KRs get ignored. So let's open Notion right now.
[PAUSE — open Notion live, navigate to Goals &amp; OKRs, build Arnau and Adam's KRs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most people skip and then regret. The logging system is not bureaucracy. It's the mechanism by which I never have to ask you what you're working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 wrote last night. It took 4 minutes. Arnau, you can see without messaging me that the Paver visit happened, what came out of it, and that I need an answer from you by Thursday. That's the whole value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streak is the only competitive element. We don't rank each other by how much we shipped. That would create terrible incentives. We rank by whether we showed up and logged. That's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planning mistake is trying to detail everything at once. We detail only what's next. Everything else is a direction stub that we fill when we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Discord is not for decisions. It's for conversations that lead to decisions. Once something resolves, it goes to Notion. That's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channel names include the role. Product-CTO means Arnau owns that channel. GTM-COO means Adam owns it. Finance-CFO means I own it. Nobody posts in someone else's channel without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ever unsure whether something goes in Drive or Notion, ask: is this a file or is this knowledge? Files go in Drive. Knowledge goes in Notion.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I'm most excited about. Right now our meeting outputs are three PPTs in a Drive folder and whatever Adam scribbles down. We're going to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still takes handwritten notes in the meeting — that's important. Raw notes have context that PPTs don't. The AI takes both and produces the clean version. Adam's original notes go in Drive. The AI output goes in Notion.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version uses Whisper running locally on our GPUs to transcribe The War Room voice calls automatically. On-prem, zero data leaves the machine — consistent with our entire product philosophy. That's a Week 9 project, not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Notion. I'll walk you through it. We're not leaving until the streaks say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5.png"/><Relationship Id="rId6" Type="http://schemas.openxmlformats.org/officeDocument/2006/relationships/image" Target="../media/image-21-6.svg"/><Relationship Id="rId7" Type="http://schemas.openxmlformats.org/officeDocument/2006/relationships/image" Target="../media/image-21-7.png"/><Relationship Id="rId8" Type="http://schemas.openxmlformats.org/officeDocument/2006/relationships/image" Target="../media/image-21-8.svg"/><Relationship Id="rId9" Type="http://schemas.openxmlformats.org/officeDocument/2006/relationships/image" Target="../media/image-21-9.png"/><Relationship Id="rId10" Type="http://schemas.openxmlformats.org/officeDocument/2006/relationships/image" Target="../media/image-21-10.svg"/><Relationship Id="rId11" Type="http://schemas.openxmlformats.org/officeDocument/2006/relationships/image" Target="../media/image-21-11.png"/><Relationship Id="rId12" Type="http://schemas.openxmlformats.org/officeDocument/2006/relationships/image" Target="../media/image-21-12.svg"/><Relationship Id="rId13" Type="http://schemas.openxmlformats.org/officeDocument/2006/relationships/image" Target="../media/image-21-13.png"/><Relationship Id="rId14" Type="http://schemas.openxmlformats.org/officeDocument/2006/relationships/image" Target="../media/image-21-14.svg"/><Relationship Id="rId15" Type="http://schemas.openxmlformats.org/officeDocument/2006/relationships/slideLayout" Target="../slideLayouts/slideLayout1.xml"/><Relationship Id="rId1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image" Target="../media/image-24-5.png"/><Relationship Id="rId6" Type="http://schemas.openxmlformats.org/officeDocument/2006/relationships/image" Target="../media/image-24-6.svg"/><Relationship Id="rId7" Type="http://schemas.openxmlformats.org/officeDocument/2006/relationships/image" Target="../media/image-24-7.png"/><Relationship Id="rId8" Type="http://schemas.openxmlformats.org/officeDocument/2006/relationships/image" Target="../media/image-24-8.svg"/><Relationship Id="rId9" Type="http://schemas.openxmlformats.org/officeDocument/2006/relationships/image" Target="../media/image-24-9.png"/><Relationship Id="rId10" Type="http://schemas.openxmlformats.org/officeDocument/2006/relationships/image" Target="../media/image-24-10.svg"/><Relationship Id="rId11" Type="http://schemas.openxmlformats.org/officeDocument/2006/relationships/slideLayout" Target="../slideLayouts/slideLayout1.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0"/>
            <a:ext cx="0" cy="6858000"/>
          </a:xfrm>
          <a:prstGeom prst="line">
            <a:avLst/>
          </a:prstGeom>
          <a:noFill/>
          <a:ln w="12700">
            <a:solidFill>
              <a:srgbClr val="4FC3F7">
                <a:alpha val="12000"/>
              </a:srgbClr>
            </a:solidFill>
            <a:prstDash val="solid"/>
          </a:ln>
        </p:spPr>
      </p:sp>
      <p:sp>
        <p:nvSpPr>
          <p:cNvPr id="3" name="Shape 1"/>
          <p:cNvSpPr/>
          <p:nvPr/>
        </p:nvSpPr>
        <p:spPr>
          <a:xfrm>
            <a:off x="1188720" y="0"/>
            <a:ext cx="0" cy="6858000"/>
          </a:xfrm>
          <a:prstGeom prst="line">
            <a:avLst/>
          </a:prstGeom>
          <a:noFill/>
          <a:ln w="12700">
            <a:solidFill>
              <a:srgbClr val="4FC3F7">
                <a:alpha val="12000"/>
              </a:srgbClr>
            </a:solidFill>
            <a:prstDash val="solid"/>
          </a:ln>
        </p:spPr>
      </p:sp>
      <p:sp>
        <p:nvSpPr>
          <p:cNvPr id="4" name="Shape 2"/>
          <p:cNvSpPr/>
          <p:nvPr/>
        </p:nvSpPr>
        <p:spPr>
          <a:xfrm>
            <a:off x="1828800" y="0"/>
            <a:ext cx="0" cy="6858000"/>
          </a:xfrm>
          <a:prstGeom prst="line">
            <a:avLst/>
          </a:prstGeom>
          <a:noFill/>
          <a:ln w="12700">
            <a:solidFill>
              <a:srgbClr val="4FC3F7">
                <a:alpha val="12000"/>
              </a:srgbClr>
            </a:solidFill>
            <a:prstDash val="solid"/>
          </a:ln>
        </p:spPr>
      </p:sp>
      <p:sp>
        <p:nvSpPr>
          <p:cNvPr id="5" name="Shape 3"/>
          <p:cNvSpPr/>
          <p:nvPr/>
        </p:nvSpPr>
        <p:spPr>
          <a:xfrm>
            <a:off x="2468880" y="0"/>
            <a:ext cx="0" cy="6858000"/>
          </a:xfrm>
          <a:prstGeom prst="line">
            <a:avLst/>
          </a:prstGeom>
          <a:noFill/>
          <a:ln w="12700">
            <a:solidFill>
              <a:srgbClr val="4FC3F7">
                <a:alpha val="12000"/>
              </a:srgbClr>
            </a:solidFill>
            <a:prstDash val="solid"/>
          </a:ln>
        </p:spPr>
      </p:sp>
      <p:sp>
        <p:nvSpPr>
          <p:cNvPr id="6" name="Shape 4"/>
          <p:cNvSpPr/>
          <p:nvPr/>
        </p:nvSpPr>
        <p:spPr>
          <a:xfrm>
            <a:off x="3108960" y="0"/>
            <a:ext cx="0" cy="6858000"/>
          </a:xfrm>
          <a:prstGeom prst="line">
            <a:avLst/>
          </a:prstGeom>
          <a:noFill/>
          <a:ln w="12700">
            <a:solidFill>
              <a:srgbClr val="4FC3F7">
                <a:alpha val="12000"/>
              </a:srgbClr>
            </a:solidFill>
            <a:prstDash val="solid"/>
          </a:ln>
        </p:spPr>
      </p:sp>
      <p:sp>
        <p:nvSpPr>
          <p:cNvPr id="7" name="Shape 5"/>
          <p:cNvSpPr/>
          <p:nvPr/>
        </p:nvSpPr>
        <p:spPr>
          <a:xfrm>
            <a:off x="3749040" y="0"/>
            <a:ext cx="0" cy="6858000"/>
          </a:xfrm>
          <a:prstGeom prst="line">
            <a:avLst/>
          </a:prstGeom>
          <a:noFill/>
          <a:ln w="12700">
            <a:solidFill>
              <a:srgbClr val="4FC3F7">
                <a:alpha val="12000"/>
              </a:srgbClr>
            </a:solidFill>
            <a:prstDash val="solid"/>
          </a:ln>
        </p:spPr>
      </p:sp>
      <p:sp>
        <p:nvSpPr>
          <p:cNvPr id="8" name="Shape 6"/>
          <p:cNvSpPr/>
          <p:nvPr/>
        </p:nvSpPr>
        <p:spPr>
          <a:xfrm>
            <a:off x="4389120" y="0"/>
            <a:ext cx="0" cy="6858000"/>
          </a:xfrm>
          <a:prstGeom prst="line">
            <a:avLst/>
          </a:prstGeom>
          <a:noFill/>
          <a:ln w="12700">
            <a:solidFill>
              <a:srgbClr val="4FC3F7">
                <a:alpha val="12000"/>
              </a:srgbClr>
            </a:solidFill>
            <a:prstDash val="solid"/>
          </a:ln>
        </p:spPr>
      </p:sp>
      <p:sp>
        <p:nvSpPr>
          <p:cNvPr id="9" name="Shape 7"/>
          <p:cNvSpPr/>
          <p:nvPr/>
        </p:nvSpPr>
        <p:spPr>
          <a:xfrm>
            <a:off x="5029200" y="0"/>
            <a:ext cx="0" cy="6858000"/>
          </a:xfrm>
          <a:prstGeom prst="line">
            <a:avLst/>
          </a:prstGeom>
          <a:noFill/>
          <a:ln w="12700">
            <a:solidFill>
              <a:srgbClr val="4FC3F7">
                <a:alpha val="12000"/>
              </a:srgbClr>
            </a:solidFill>
            <a:prstDash val="solid"/>
          </a:ln>
        </p:spPr>
      </p:sp>
      <p:sp>
        <p:nvSpPr>
          <p:cNvPr id="10" name="Shape 8"/>
          <p:cNvSpPr/>
          <p:nvPr/>
        </p:nvSpPr>
        <p:spPr>
          <a:xfrm>
            <a:off x="5669280" y="0"/>
            <a:ext cx="0" cy="6858000"/>
          </a:xfrm>
          <a:prstGeom prst="line">
            <a:avLst/>
          </a:prstGeom>
          <a:noFill/>
          <a:ln w="12700">
            <a:solidFill>
              <a:srgbClr val="4FC3F7">
                <a:alpha val="12000"/>
              </a:srgbClr>
            </a:solidFill>
            <a:prstDash val="solid"/>
          </a:ln>
        </p:spPr>
      </p:sp>
      <p:sp>
        <p:nvSpPr>
          <p:cNvPr id="11" name="Shape 9"/>
          <p:cNvSpPr/>
          <p:nvPr/>
        </p:nvSpPr>
        <p:spPr>
          <a:xfrm>
            <a:off x="6309360" y="0"/>
            <a:ext cx="0" cy="6858000"/>
          </a:xfrm>
          <a:prstGeom prst="line">
            <a:avLst/>
          </a:prstGeom>
          <a:noFill/>
          <a:ln w="12700">
            <a:solidFill>
              <a:srgbClr val="4FC3F7">
                <a:alpha val="12000"/>
              </a:srgbClr>
            </a:solidFill>
            <a:prstDash val="solid"/>
          </a:ln>
        </p:spPr>
      </p:sp>
      <p:sp>
        <p:nvSpPr>
          <p:cNvPr id="12" name="Shape 10"/>
          <p:cNvSpPr/>
          <p:nvPr/>
        </p:nvSpPr>
        <p:spPr>
          <a:xfrm>
            <a:off x="6949440" y="0"/>
            <a:ext cx="0" cy="6858000"/>
          </a:xfrm>
          <a:prstGeom prst="line">
            <a:avLst/>
          </a:prstGeom>
          <a:noFill/>
          <a:ln w="12700">
            <a:solidFill>
              <a:srgbClr val="4FC3F7">
                <a:alpha val="12000"/>
              </a:srgbClr>
            </a:solidFill>
            <a:prstDash val="solid"/>
          </a:ln>
        </p:spPr>
      </p:sp>
      <p:sp>
        <p:nvSpPr>
          <p:cNvPr id="13" name="Shape 11"/>
          <p:cNvSpPr/>
          <p:nvPr/>
        </p:nvSpPr>
        <p:spPr>
          <a:xfrm>
            <a:off x="7589520" y="0"/>
            <a:ext cx="0" cy="6858000"/>
          </a:xfrm>
          <a:prstGeom prst="line">
            <a:avLst/>
          </a:prstGeom>
          <a:noFill/>
          <a:ln w="12700">
            <a:solidFill>
              <a:srgbClr val="4FC3F7">
                <a:alpha val="12000"/>
              </a:srgbClr>
            </a:solidFill>
            <a:prstDash val="solid"/>
          </a:ln>
        </p:spPr>
      </p:sp>
      <p:sp>
        <p:nvSpPr>
          <p:cNvPr id="14" name="Shape 12"/>
          <p:cNvSpPr/>
          <p:nvPr/>
        </p:nvSpPr>
        <p:spPr>
          <a:xfrm>
            <a:off x="8229600" y="0"/>
            <a:ext cx="0" cy="6858000"/>
          </a:xfrm>
          <a:prstGeom prst="line">
            <a:avLst/>
          </a:prstGeom>
          <a:noFill/>
          <a:ln w="12700">
            <a:solidFill>
              <a:srgbClr val="4FC3F7">
                <a:alpha val="12000"/>
              </a:srgbClr>
            </a:solidFill>
            <a:prstDash val="solid"/>
          </a:ln>
        </p:spPr>
      </p:sp>
      <p:sp>
        <p:nvSpPr>
          <p:cNvPr id="15" name="Shape 13"/>
          <p:cNvSpPr/>
          <p:nvPr/>
        </p:nvSpPr>
        <p:spPr>
          <a:xfrm>
            <a:off x="8869680" y="0"/>
            <a:ext cx="0" cy="6858000"/>
          </a:xfrm>
          <a:prstGeom prst="line">
            <a:avLst/>
          </a:prstGeom>
          <a:noFill/>
          <a:ln w="12700">
            <a:solidFill>
              <a:srgbClr val="4FC3F7">
                <a:alpha val="12000"/>
              </a:srgbClr>
            </a:solidFill>
            <a:prstDash val="solid"/>
          </a:ln>
        </p:spPr>
      </p:sp>
      <p:sp>
        <p:nvSpPr>
          <p:cNvPr id="16" name="Shape 14"/>
          <p:cNvSpPr/>
          <p:nvPr/>
        </p:nvSpPr>
        <p:spPr>
          <a:xfrm>
            <a:off x="9509760" y="0"/>
            <a:ext cx="0" cy="6858000"/>
          </a:xfrm>
          <a:prstGeom prst="line">
            <a:avLst/>
          </a:prstGeom>
          <a:noFill/>
          <a:ln w="12700">
            <a:solidFill>
              <a:srgbClr val="4FC3F7">
                <a:alpha val="12000"/>
              </a:srgbClr>
            </a:solidFill>
            <a:prstDash val="solid"/>
          </a:ln>
        </p:spPr>
      </p:sp>
      <p:sp>
        <p:nvSpPr>
          <p:cNvPr id="17" name="Shape 15"/>
          <p:cNvSpPr/>
          <p:nvPr/>
        </p:nvSpPr>
        <p:spPr>
          <a:xfrm>
            <a:off x="10149840" y="0"/>
            <a:ext cx="0" cy="6858000"/>
          </a:xfrm>
          <a:prstGeom prst="line">
            <a:avLst/>
          </a:prstGeom>
          <a:noFill/>
          <a:ln w="12700">
            <a:solidFill>
              <a:srgbClr val="4FC3F7">
                <a:alpha val="12000"/>
              </a:srgbClr>
            </a:solidFill>
            <a:prstDash val="solid"/>
          </a:ln>
        </p:spPr>
      </p:sp>
      <p:sp>
        <p:nvSpPr>
          <p:cNvPr id="18" name="Shape 16"/>
          <p:cNvSpPr/>
          <p:nvPr/>
        </p:nvSpPr>
        <p:spPr>
          <a:xfrm>
            <a:off x="10789920" y="0"/>
            <a:ext cx="0" cy="6858000"/>
          </a:xfrm>
          <a:prstGeom prst="line">
            <a:avLst/>
          </a:prstGeom>
          <a:noFill/>
          <a:ln w="12700">
            <a:solidFill>
              <a:srgbClr val="4FC3F7">
                <a:alpha val="12000"/>
              </a:srgbClr>
            </a:solidFill>
            <a:prstDash val="solid"/>
          </a:ln>
        </p:spPr>
      </p:sp>
      <p:sp>
        <p:nvSpPr>
          <p:cNvPr id="19" name="Shape 17"/>
          <p:cNvSpPr/>
          <p:nvPr/>
        </p:nvSpPr>
        <p:spPr>
          <a:xfrm>
            <a:off x="11430000" y="0"/>
            <a:ext cx="0" cy="6858000"/>
          </a:xfrm>
          <a:prstGeom prst="line">
            <a:avLst/>
          </a:prstGeom>
          <a:noFill/>
          <a:ln w="12700">
            <a:solidFill>
              <a:srgbClr val="4FC3F7">
                <a:alpha val="12000"/>
              </a:srgbClr>
            </a:solidFill>
            <a:prstDash val="solid"/>
          </a:ln>
        </p:spPr>
      </p:sp>
      <p:sp>
        <p:nvSpPr>
          <p:cNvPr id="20" name="Shape 18"/>
          <p:cNvSpPr/>
          <p:nvPr/>
        </p:nvSpPr>
        <p:spPr>
          <a:xfrm>
            <a:off x="12070080" y="0"/>
            <a:ext cx="0" cy="6858000"/>
          </a:xfrm>
          <a:prstGeom prst="line">
            <a:avLst/>
          </a:prstGeom>
          <a:noFill/>
          <a:ln w="12700">
            <a:solidFill>
              <a:srgbClr val="4FC3F7">
                <a:alpha val="12000"/>
              </a:srgbClr>
            </a:solidFill>
            <a:prstDash val="solid"/>
          </a:ln>
        </p:spPr>
      </p:sp>
      <p:sp>
        <p:nvSpPr>
          <p:cNvPr id="21" name="Shape 19"/>
          <p:cNvSpPr/>
          <p:nvPr/>
        </p:nvSpPr>
        <p:spPr>
          <a:xfrm>
            <a:off x="0" y="457200"/>
            <a:ext cx="12191695" cy="0"/>
          </a:xfrm>
          <a:prstGeom prst="line">
            <a:avLst/>
          </a:prstGeom>
          <a:noFill/>
          <a:ln w="12700">
            <a:solidFill>
              <a:srgbClr val="4FC3F7">
                <a:alpha val="8000"/>
              </a:srgbClr>
            </a:solidFill>
            <a:prstDash val="solid"/>
          </a:ln>
        </p:spPr>
      </p:sp>
      <p:sp>
        <p:nvSpPr>
          <p:cNvPr id="22" name="Shape 20"/>
          <p:cNvSpPr/>
          <p:nvPr/>
        </p:nvSpPr>
        <p:spPr>
          <a:xfrm>
            <a:off x="0" y="914400"/>
            <a:ext cx="12191695" cy="0"/>
          </a:xfrm>
          <a:prstGeom prst="line">
            <a:avLst/>
          </a:prstGeom>
          <a:noFill/>
          <a:ln w="12700">
            <a:solidFill>
              <a:srgbClr val="4FC3F7">
                <a:alpha val="8000"/>
              </a:srgbClr>
            </a:solidFill>
            <a:prstDash val="solid"/>
          </a:ln>
        </p:spPr>
      </p:sp>
      <p:sp>
        <p:nvSpPr>
          <p:cNvPr id="23" name="Shape 21"/>
          <p:cNvSpPr/>
          <p:nvPr/>
        </p:nvSpPr>
        <p:spPr>
          <a:xfrm>
            <a:off x="0" y="1371600"/>
            <a:ext cx="12191695" cy="0"/>
          </a:xfrm>
          <a:prstGeom prst="line">
            <a:avLst/>
          </a:prstGeom>
          <a:noFill/>
          <a:ln w="12700">
            <a:solidFill>
              <a:srgbClr val="4FC3F7">
                <a:alpha val="8000"/>
              </a:srgbClr>
            </a:solidFill>
            <a:prstDash val="solid"/>
          </a:ln>
        </p:spPr>
      </p:sp>
      <p:sp>
        <p:nvSpPr>
          <p:cNvPr id="24" name="Shape 22"/>
          <p:cNvSpPr/>
          <p:nvPr/>
        </p:nvSpPr>
        <p:spPr>
          <a:xfrm>
            <a:off x="0" y="1828800"/>
            <a:ext cx="12191695" cy="0"/>
          </a:xfrm>
          <a:prstGeom prst="line">
            <a:avLst/>
          </a:prstGeom>
          <a:noFill/>
          <a:ln w="12700">
            <a:solidFill>
              <a:srgbClr val="4FC3F7">
                <a:alpha val="8000"/>
              </a:srgbClr>
            </a:solidFill>
            <a:prstDash val="solid"/>
          </a:ln>
        </p:spPr>
      </p:sp>
      <p:sp>
        <p:nvSpPr>
          <p:cNvPr id="25" name="Shape 23"/>
          <p:cNvSpPr/>
          <p:nvPr/>
        </p:nvSpPr>
        <p:spPr>
          <a:xfrm>
            <a:off x="0" y="2286000"/>
            <a:ext cx="12191695" cy="0"/>
          </a:xfrm>
          <a:prstGeom prst="line">
            <a:avLst/>
          </a:prstGeom>
          <a:noFill/>
          <a:ln w="12700">
            <a:solidFill>
              <a:srgbClr val="4FC3F7">
                <a:alpha val="8000"/>
              </a:srgbClr>
            </a:solidFill>
            <a:prstDash val="solid"/>
          </a:ln>
        </p:spPr>
      </p:sp>
      <p:sp>
        <p:nvSpPr>
          <p:cNvPr id="26" name="Shape 24"/>
          <p:cNvSpPr/>
          <p:nvPr/>
        </p:nvSpPr>
        <p:spPr>
          <a:xfrm>
            <a:off x="0" y="2743200"/>
            <a:ext cx="12191695" cy="0"/>
          </a:xfrm>
          <a:prstGeom prst="line">
            <a:avLst/>
          </a:prstGeom>
          <a:noFill/>
          <a:ln w="12700">
            <a:solidFill>
              <a:srgbClr val="4FC3F7">
                <a:alpha val="8000"/>
              </a:srgbClr>
            </a:solidFill>
            <a:prstDash val="solid"/>
          </a:ln>
        </p:spPr>
      </p:sp>
      <p:sp>
        <p:nvSpPr>
          <p:cNvPr id="27" name="Shape 25"/>
          <p:cNvSpPr/>
          <p:nvPr/>
        </p:nvSpPr>
        <p:spPr>
          <a:xfrm>
            <a:off x="0" y="3200400"/>
            <a:ext cx="12191695" cy="0"/>
          </a:xfrm>
          <a:prstGeom prst="line">
            <a:avLst/>
          </a:prstGeom>
          <a:noFill/>
          <a:ln w="12700">
            <a:solidFill>
              <a:srgbClr val="4FC3F7">
                <a:alpha val="8000"/>
              </a:srgbClr>
            </a:solidFill>
            <a:prstDash val="solid"/>
          </a:ln>
        </p:spPr>
      </p:sp>
      <p:sp>
        <p:nvSpPr>
          <p:cNvPr id="28" name="Shape 26"/>
          <p:cNvSpPr/>
          <p:nvPr/>
        </p:nvSpPr>
        <p:spPr>
          <a:xfrm>
            <a:off x="0" y="3657600"/>
            <a:ext cx="12191695" cy="0"/>
          </a:xfrm>
          <a:prstGeom prst="line">
            <a:avLst/>
          </a:prstGeom>
          <a:noFill/>
          <a:ln w="12700">
            <a:solidFill>
              <a:srgbClr val="4FC3F7">
                <a:alpha val="8000"/>
              </a:srgbClr>
            </a:solidFill>
            <a:prstDash val="solid"/>
          </a:ln>
        </p:spPr>
      </p:sp>
      <p:sp>
        <p:nvSpPr>
          <p:cNvPr id="29" name="Shape 27"/>
          <p:cNvSpPr/>
          <p:nvPr/>
        </p:nvSpPr>
        <p:spPr>
          <a:xfrm>
            <a:off x="0" y="4114800"/>
            <a:ext cx="12191695" cy="0"/>
          </a:xfrm>
          <a:prstGeom prst="line">
            <a:avLst/>
          </a:prstGeom>
          <a:noFill/>
          <a:ln w="12700">
            <a:solidFill>
              <a:srgbClr val="4FC3F7">
                <a:alpha val="8000"/>
              </a:srgbClr>
            </a:solidFill>
            <a:prstDash val="solid"/>
          </a:ln>
        </p:spPr>
      </p:sp>
      <p:sp>
        <p:nvSpPr>
          <p:cNvPr id="30" name="Shape 28"/>
          <p:cNvSpPr/>
          <p:nvPr/>
        </p:nvSpPr>
        <p:spPr>
          <a:xfrm>
            <a:off x="0" y="4572000"/>
            <a:ext cx="12191695" cy="0"/>
          </a:xfrm>
          <a:prstGeom prst="line">
            <a:avLst/>
          </a:prstGeom>
          <a:noFill/>
          <a:ln w="12700">
            <a:solidFill>
              <a:srgbClr val="4FC3F7">
                <a:alpha val="8000"/>
              </a:srgbClr>
            </a:solidFill>
            <a:prstDash val="solid"/>
          </a:ln>
        </p:spPr>
      </p:sp>
      <p:sp>
        <p:nvSpPr>
          <p:cNvPr id="31" name="Shape 29"/>
          <p:cNvSpPr/>
          <p:nvPr/>
        </p:nvSpPr>
        <p:spPr>
          <a:xfrm>
            <a:off x="0" y="5029200"/>
            <a:ext cx="12191695" cy="0"/>
          </a:xfrm>
          <a:prstGeom prst="line">
            <a:avLst/>
          </a:prstGeom>
          <a:noFill/>
          <a:ln w="12700">
            <a:solidFill>
              <a:srgbClr val="4FC3F7">
                <a:alpha val="8000"/>
              </a:srgbClr>
            </a:solidFill>
            <a:prstDash val="solid"/>
          </a:ln>
        </p:spPr>
      </p:sp>
      <p:sp>
        <p:nvSpPr>
          <p:cNvPr id="32" name="Shape 30"/>
          <p:cNvSpPr/>
          <p:nvPr/>
        </p:nvSpPr>
        <p:spPr>
          <a:xfrm>
            <a:off x="0" y="5486400"/>
            <a:ext cx="12191695" cy="0"/>
          </a:xfrm>
          <a:prstGeom prst="line">
            <a:avLst/>
          </a:prstGeom>
          <a:noFill/>
          <a:ln w="12700">
            <a:solidFill>
              <a:srgbClr val="4FC3F7">
                <a:alpha val="8000"/>
              </a:srgbClr>
            </a:solidFill>
            <a:prstDash val="solid"/>
          </a:ln>
        </p:spPr>
      </p:sp>
      <p:sp>
        <p:nvSpPr>
          <p:cNvPr id="33" name="Shape 31"/>
          <p:cNvSpPr/>
          <p:nvPr/>
        </p:nvSpPr>
        <p:spPr>
          <a:xfrm>
            <a:off x="0" y="5943600"/>
            <a:ext cx="12191695" cy="0"/>
          </a:xfrm>
          <a:prstGeom prst="line">
            <a:avLst/>
          </a:prstGeom>
          <a:noFill/>
          <a:ln w="12700">
            <a:solidFill>
              <a:srgbClr val="4FC3F7">
                <a:alpha val="8000"/>
              </a:srgbClr>
            </a:solidFill>
            <a:prstDash val="solid"/>
          </a:ln>
        </p:spPr>
      </p:sp>
      <p:sp>
        <p:nvSpPr>
          <p:cNvPr id="34" name="Shape 32"/>
          <p:cNvSpPr/>
          <p:nvPr/>
        </p:nvSpPr>
        <p:spPr>
          <a:xfrm>
            <a:off x="0" y="6400800"/>
            <a:ext cx="12191695" cy="0"/>
          </a:xfrm>
          <a:prstGeom prst="line">
            <a:avLst/>
          </a:prstGeom>
          <a:noFill/>
          <a:ln w="12700">
            <a:solidFill>
              <a:srgbClr val="4FC3F7">
                <a:alpha val="8000"/>
              </a:srgbClr>
            </a:solidFill>
            <a:prstDash val="solid"/>
          </a:ln>
        </p:spPr>
      </p:sp>
      <p:sp>
        <p:nvSpPr>
          <p:cNvPr id="35" name="Text 33"/>
          <p:cNvSpPr/>
          <p:nvPr/>
        </p:nvSpPr>
        <p:spPr>
          <a:xfrm>
            <a:off x="411480" y="274320"/>
            <a:ext cx="2377440" cy="201168"/>
          </a:xfrm>
          <a:prstGeom prst="rect">
            <a:avLst/>
          </a:prstGeom>
          <a:noFill/>
          <a:ln/>
        </p:spPr>
        <p:txBody>
          <a:bodyPr wrap="square" lIns="0" tIns="0" rIns="0" bIns="0" rtlCol="0" anchor="t">
            <a:normAutofit/>
          </a:bodyPr>
          <a:lstStyle/>
          <a:p>
            <a:pPr algn="l" indent="0" marL="0">
              <a:buNone/>
            </a:pPr>
            <a:r>
              <a:rPr lang="en-US" sz="1050" b="1" dirty="0">
                <a:solidFill>
                  <a:srgbClr val="4FC3F7"/>
                </a:solidFill>
                <a:latin typeface="Calibri" pitchFamily="34" charset="0"/>
                <a:ea typeface="Calibri" pitchFamily="34" charset="-122"/>
                <a:cs typeface="Calibri" pitchFamily="34" charset="-120"/>
              </a:rPr>
              <a:t>XC GRADIENT</a:t>
            </a:r>
            <a:endParaRPr lang="en-US" sz="1050" dirty="0"/>
          </a:p>
        </p:txBody>
      </p:sp>
      <p:pic>
        <p:nvPicPr>
          <p:cNvPr id="3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59552" y="1234440"/>
            <a:ext cx="1005840" cy="1005840"/>
          </a:xfrm>
          <a:prstGeom prst="rect">
            <a:avLst/>
          </a:prstGeom>
        </p:spPr>
      </p:pic>
      <p:sp>
        <p:nvSpPr>
          <p:cNvPr id="37" name="Text 34"/>
          <p:cNvSpPr/>
          <p:nvPr/>
        </p:nvSpPr>
        <p:spPr>
          <a:xfrm>
            <a:off x="2011680" y="2423160"/>
            <a:ext cx="8183880" cy="640080"/>
          </a:xfrm>
          <a:prstGeom prst="rect">
            <a:avLst/>
          </a:prstGeom>
          <a:noFill/>
          <a:ln/>
        </p:spPr>
        <p:txBody>
          <a:bodyPr wrap="square" lIns="0" tIns="0" rIns="0" bIns="0" rtlCol="0" anchor="t">
            <a:normAutofit/>
          </a:bodyPr>
          <a:lstStyle/>
          <a:p>
            <a:pPr algn="ctr" indent="0" marL="0">
              <a:buNone/>
            </a:pPr>
            <a:r>
              <a:rPr lang="en-US" sz="3400" b="1" dirty="0">
                <a:solidFill>
                  <a:srgbClr val="FFFFFF"/>
                </a:solidFill>
                <a:latin typeface="Calibri" pitchFamily="34" charset="0"/>
                <a:ea typeface="Calibri" pitchFamily="34" charset="-122"/>
                <a:cs typeface="Calibri" pitchFamily="34" charset="-120"/>
              </a:rPr>
              <a:t>Building the Machine</a:t>
            </a:r>
            <a:endParaRPr lang="en-US" sz="3400" dirty="0"/>
          </a:p>
        </p:txBody>
      </p:sp>
      <p:sp>
        <p:nvSpPr>
          <p:cNvPr id="38" name="Text 35"/>
          <p:cNvSpPr/>
          <p:nvPr/>
        </p:nvSpPr>
        <p:spPr>
          <a:xfrm>
            <a:off x="1828800" y="3063240"/>
            <a:ext cx="8503920" cy="320040"/>
          </a:xfrm>
          <a:prstGeom prst="rect">
            <a:avLst/>
          </a:prstGeom>
          <a:noFill/>
          <a:ln/>
        </p:spPr>
        <p:txBody>
          <a:bodyPr wrap="square" lIns="0" tIns="0" rIns="0" bIns="0" rtlCol="0" anchor="t">
            <a:normAutofit/>
          </a:bodyPr>
          <a:lstStyle/>
          <a:p>
            <a:pPr algn="ctr" indent="0" marL="0">
              <a:buNone/>
            </a:pPr>
            <a:r>
              <a:rPr lang="en-US" sz="1600" dirty="0">
                <a:solidFill>
                  <a:srgbClr val="CADCFC"/>
                </a:solidFill>
                <a:latin typeface="Calibri" pitchFamily="34" charset="0"/>
                <a:ea typeface="Calibri" pitchFamily="34" charset="-122"/>
                <a:cs typeface="Calibri" pitchFamily="34" charset="-120"/>
              </a:rPr>
              <a:t>XC Gradient Company Operating System — April 7, 2026</a:t>
            </a:r>
            <a:endParaRPr lang="en-US" sz="1600" dirty="0"/>
          </a:p>
        </p:txBody>
      </p:sp>
      <p:pic>
        <p:nvPicPr>
          <p:cNvPr id="3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0600" y="5394960"/>
            <a:ext cx="384048" cy="384048"/>
          </a:xfrm>
          <a:prstGeom prst="rect">
            <a:avLst/>
          </a:prstGeom>
        </p:spPr>
      </p:pic>
      <p:pic>
        <p:nvPicPr>
          <p:cNvPr id="4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3560" y="5394960"/>
            <a:ext cx="384048" cy="384048"/>
          </a:xfrm>
          <a:prstGeom prst="rect">
            <a:avLst/>
          </a:prstGeom>
        </p:spPr>
      </p:pic>
      <p:pic>
        <p:nvPicPr>
          <p:cNvPr id="4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46520" y="5394960"/>
            <a:ext cx="384048" cy="384048"/>
          </a:xfrm>
          <a:prstGeom prst="rect">
            <a:avLst/>
          </a:prstGeom>
        </p:spPr>
      </p:pic>
      <p:sp>
        <p:nvSpPr>
          <p:cNvPr id="42" name="Text 36"/>
          <p:cNvSpPr/>
          <p:nvPr/>
        </p:nvSpPr>
        <p:spPr>
          <a:xfrm>
            <a:off x="4023360" y="5852160"/>
            <a:ext cx="4206240" cy="182880"/>
          </a:xfrm>
          <a:prstGeom prst="rect">
            <a:avLst/>
          </a:prstGeom>
          <a:noFill/>
          <a:ln/>
        </p:spPr>
        <p:txBody>
          <a:bodyPr wrap="square" lIns="0" tIns="0" rIns="0" bIns="0" rtlCol="0" anchor="t">
            <a:normAutofit/>
          </a:bodyPr>
          <a:lstStyle/>
          <a:p>
            <a:pPr algn="ctr" indent="0" marL="0">
              <a:buNone/>
            </a:pPr>
            <a:r>
              <a:rPr lang="en-US" sz="1050" dirty="0">
                <a:solidFill>
                  <a:srgbClr val="CADCFC"/>
                </a:solidFill>
                <a:latin typeface="Calibri" pitchFamily="34" charset="0"/>
                <a:ea typeface="Calibri" pitchFamily="34" charset="-122"/>
                <a:cs typeface="Calibri" pitchFamily="34" charset="-120"/>
              </a:rPr>
              <a:t>Oriol · Arnau · Adam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02920"/>
            <a:ext cx="2377440" cy="411480"/>
          </a:xfrm>
          <a:prstGeom prst="rect">
            <a:avLst/>
          </a:prstGeom>
          <a:noFill/>
          <a:ln/>
        </p:spPr>
        <p:txBody>
          <a:bodyPr wrap="square" lIns="0" tIns="0" rIns="0" bIns="0" rtlCol="0" anchor="t">
            <a:normAutofit/>
          </a:bodyPr>
          <a:lstStyle/>
          <a:p>
            <a:pPr algn="l" indent="0" marL="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3" name="Text 1"/>
          <p:cNvSpPr/>
          <p:nvPr/>
        </p:nvSpPr>
        <p:spPr>
          <a:xfrm>
            <a:off x="822960" y="1280160"/>
            <a:ext cx="502920" cy="274320"/>
          </a:xfrm>
          <a:prstGeom prst="rect">
            <a:avLst/>
          </a:prstGeom>
          <a:noFill/>
          <a:ln/>
        </p:spPr>
        <p:txBody>
          <a:bodyPr wrap="square" lIns="0" tIns="0" rIns="0" bIns="0" rtlCol="0" anchor="t">
            <a:normAutofit/>
          </a:bodyPr>
          <a:lstStyle/>
          <a:p>
            <a:pPr algn="l" indent="0" marL="0">
              <a:buNone/>
            </a:pPr>
            <a:r>
              <a:rPr lang="en-US" sz="2400" b="1" dirty="0">
                <a:solidFill>
                  <a:srgbClr val="4FC3F7"/>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17320" y="1298448"/>
            <a:ext cx="4480560" cy="228600"/>
          </a:xfrm>
          <a:prstGeom prst="rect">
            <a:avLst/>
          </a:prstGeom>
          <a:noFill/>
          <a:ln/>
        </p:spPr>
        <p:txBody>
          <a:bodyPr wrap="square" lIns="0" tIns="0" rIns="0" bIns="0" rtlCol="0" anchor="t">
            <a:normAutofit/>
          </a:bodyPr>
          <a:lstStyle/>
          <a:p>
            <a:pPr algn="l" indent="0" marL="0">
              <a:buNone/>
            </a:pPr>
            <a:r>
              <a:rPr lang="en-US" sz="1650" dirty="0">
                <a:solidFill>
                  <a:srgbClr val="FFFFFF"/>
                </a:solidFill>
                <a:latin typeface="Calibri" pitchFamily="34" charset="0"/>
                <a:ea typeface="Calibri" pitchFamily="34" charset="-122"/>
                <a:cs typeface="Calibri" pitchFamily="34" charset="-120"/>
              </a:rPr>
              <a:t>Notion OS</a:t>
            </a:r>
            <a:endParaRPr lang="en-US" sz="1650" dirty="0"/>
          </a:p>
        </p:txBody>
      </p:sp>
      <p:sp>
        <p:nvSpPr>
          <p:cNvPr id="5" name="Text 3"/>
          <p:cNvSpPr/>
          <p:nvPr/>
        </p:nvSpPr>
        <p:spPr>
          <a:xfrm>
            <a:off x="822960" y="1938528"/>
            <a:ext cx="502920" cy="274320"/>
          </a:xfrm>
          <a:prstGeom prst="rect">
            <a:avLst/>
          </a:prstGeom>
          <a:noFill/>
          <a:ln/>
        </p:spPr>
        <p:txBody>
          <a:bodyPr wrap="square" lIns="0" tIns="0" rIns="0" bIns="0" rtlCol="0" anchor="t">
            <a:normAutofit/>
          </a:bodyPr>
          <a:lstStyle/>
          <a:p>
            <a:pPr algn="l" indent="0" marL="0">
              <a:buNone/>
            </a:pPr>
            <a:r>
              <a:rPr lang="en-US" sz="2400" b="1" dirty="0">
                <a:solidFill>
                  <a:srgbClr val="4FC3F7"/>
                </a:solidFill>
                <a:latin typeface="Calibri" pitchFamily="34" charset="0"/>
                <a:ea typeface="Calibri" pitchFamily="34" charset="-122"/>
                <a:cs typeface="Calibri" pitchFamily="34" charset="-120"/>
              </a:rPr>
              <a:t>02</a:t>
            </a:r>
            <a:endParaRPr lang="en-US" sz="2400" dirty="0"/>
          </a:p>
        </p:txBody>
      </p:sp>
      <p:sp>
        <p:nvSpPr>
          <p:cNvPr id="6" name="Text 4"/>
          <p:cNvSpPr/>
          <p:nvPr/>
        </p:nvSpPr>
        <p:spPr>
          <a:xfrm>
            <a:off x="1417320" y="1956816"/>
            <a:ext cx="4480560" cy="228600"/>
          </a:xfrm>
          <a:prstGeom prst="rect">
            <a:avLst/>
          </a:prstGeom>
          <a:noFill/>
          <a:ln/>
        </p:spPr>
        <p:txBody>
          <a:bodyPr wrap="square" lIns="0" tIns="0" rIns="0" bIns="0" rtlCol="0" anchor="t">
            <a:normAutofit/>
          </a:bodyPr>
          <a:lstStyle/>
          <a:p>
            <a:pPr algn="l" indent="0" marL="0">
              <a:buNone/>
            </a:pPr>
            <a:r>
              <a:rPr lang="en-US" sz="1650" dirty="0">
                <a:solidFill>
                  <a:srgbClr val="FFFFFF"/>
                </a:solidFill>
                <a:latin typeface="Calibri" pitchFamily="34" charset="0"/>
                <a:ea typeface="Calibri" pitchFamily="34" charset="-122"/>
                <a:cs typeface="Calibri" pitchFamily="34" charset="-120"/>
              </a:rPr>
              <a:t>OKRs &amp; Phase Model</a:t>
            </a:r>
            <a:endParaRPr lang="en-US" sz="1650" dirty="0"/>
          </a:p>
        </p:txBody>
      </p:sp>
      <p:sp>
        <p:nvSpPr>
          <p:cNvPr id="7" name="Text 5"/>
          <p:cNvSpPr/>
          <p:nvPr/>
        </p:nvSpPr>
        <p:spPr>
          <a:xfrm>
            <a:off x="822960" y="2596896"/>
            <a:ext cx="502920" cy="274320"/>
          </a:xfrm>
          <a:prstGeom prst="rect">
            <a:avLst/>
          </a:prstGeom>
          <a:noFill/>
          <a:ln/>
        </p:spPr>
        <p:txBody>
          <a:bodyPr wrap="square" lIns="0" tIns="0" rIns="0" bIns="0" rtlCol="0" anchor="t">
            <a:normAutofit/>
          </a:bodyPr>
          <a:lstStyle/>
          <a:p>
            <a:pPr algn="l" indent="0" marL="0">
              <a:buNone/>
            </a:pPr>
            <a:r>
              <a:rPr lang="en-US" sz="2400" b="1" dirty="0">
                <a:solidFill>
                  <a:srgbClr val="4FC3F7"/>
                </a:solidFill>
                <a:latin typeface="Calibri" pitchFamily="34" charset="0"/>
                <a:ea typeface="Calibri" pitchFamily="34" charset="-122"/>
                <a:cs typeface="Calibri" pitchFamily="34" charset="-120"/>
              </a:rPr>
              <a:t>03</a:t>
            </a:r>
            <a:endParaRPr lang="en-US" sz="2400" dirty="0"/>
          </a:p>
        </p:txBody>
      </p:sp>
      <p:sp>
        <p:nvSpPr>
          <p:cNvPr id="8" name="Text 6"/>
          <p:cNvSpPr/>
          <p:nvPr/>
        </p:nvSpPr>
        <p:spPr>
          <a:xfrm>
            <a:off x="1417320" y="2615184"/>
            <a:ext cx="4480560" cy="228600"/>
          </a:xfrm>
          <a:prstGeom prst="rect">
            <a:avLst/>
          </a:prstGeom>
          <a:noFill/>
          <a:ln/>
        </p:spPr>
        <p:txBody>
          <a:bodyPr wrap="square" lIns="0" tIns="0" rIns="0" bIns="0" rtlCol="0" anchor="t">
            <a:normAutofit/>
          </a:bodyPr>
          <a:lstStyle/>
          <a:p>
            <a:pPr algn="l" indent="0" marL="0">
              <a:buNone/>
            </a:pPr>
            <a:r>
              <a:rPr lang="en-US" sz="1650" dirty="0">
                <a:solidFill>
                  <a:srgbClr val="FFFFFF"/>
                </a:solidFill>
                <a:latin typeface="Calibri" pitchFamily="34" charset="0"/>
                <a:ea typeface="Calibri" pitchFamily="34" charset="-122"/>
                <a:cs typeface="Calibri" pitchFamily="34" charset="-120"/>
              </a:rPr>
              <a:t>Daily Logging System</a:t>
            </a:r>
            <a:endParaRPr lang="en-US" sz="1650" dirty="0"/>
          </a:p>
        </p:txBody>
      </p:sp>
      <p:sp>
        <p:nvSpPr>
          <p:cNvPr id="9" name="Text 7"/>
          <p:cNvSpPr/>
          <p:nvPr/>
        </p:nvSpPr>
        <p:spPr>
          <a:xfrm>
            <a:off x="822960" y="3255264"/>
            <a:ext cx="502920" cy="274320"/>
          </a:xfrm>
          <a:prstGeom prst="rect">
            <a:avLst/>
          </a:prstGeom>
          <a:noFill/>
          <a:ln/>
        </p:spPr>
        <p:txBody>
          <a:bodyPr wrap="square" lIns="0" tIns="0" rIns="0" bIns="0" rtlCol="0" anchor="t">
            <a:normAutofit/>
          </a:bodyPr>
          <a:lstStyle/>
          <a:p>
            <a:pPr algn="l" indent="0" marL="0">
              <a:buNone/>
            </a:pPr>
            <a:r>
              <a:rPr lang="en-US" sz="2400" b="1" dirty="0">
                <a:solidFill>
                  <a:srgbClr val="4FC3F7"/>
                </a:solidFill>
                <a:latin typeface="Calibri" pitchFamily="34" charset="0"/>
                <a:ea typeface="Calibri" pitchFamily="34" charset="-122"/>
                <a:cs typeface="Calibri" pitchFamily="34" charset="-120"/>
              </a:rPr>
              <a:t>04</a:t>
            </a:r>
            <a:endParaRPr lang="en-US" sz="2400" dirty="0"/>
          </a:p>
        </p:txBody>
      </p:sp>
      <p:sp>
        <p:nvSpPr>
          <p:cNvPr id="10" name="Text 8"/>
          <p:cNvSpPr/>
          <p:nvPr/>
        </p:nvSpPr>
        <p:spPr>
          <a:xfrm>
            <a:off x="1417320" y="3273552"/>
            <a:ext cx="4480560" cy="228600"/>
          </a:xfrm>
          <a:prstGeom prst="rect">
            <a:avLst/>
          </a:prstGeom>
          <a:noFill/>
          <a:ln/>
        </p:spPr>
        <p:txBody>
          <a:bodyPr wrap="square" lIns="0" tIns="0" rIns="0" bIns="0" rtlCol="0" anchor="t">
            <a:normAutofit/>
          </a:bodyPr>
          <a:lstStyle/>
          <a:p>
            <a:pPr algn="l" indent="0" marL="0">
              <a:buNone/>
            </a:pPr>
            <a:r>
              <a:rPr lang="en-US" sz="1650" dirty="0">
                <a:solidFill>
                  <a:srgbClr val="FFFFFF"/>
                </a:solidFill>
                <a:latin typeface="Calibri" pitchFamily="34" charset="0"/>
                <a:ea typeface="Calibri" pitchFamily="34" charset="-122"/>
                <a:cs typeface="Calibri" pitchFamily="34" charset="-120"/>
              </a:rPr>
              <a:t>Discord</a:t>
            </a:r>
            <a:endParaRPr lang="en-US" sz="1650" dirty="0"/>
          </a:p>
        </p:txBody>
      </p:sp>
      <p:sp>
        <p:nvSpPr>
          <p:cNvPr id="11" name="Text 9"/>
          <p:cNvSpPr/>
          <p:nvPr/>
        </p:nvSpPr>
        <p:spPr>
          <a:xfrm>
            <a:off x="822960" y="3913632"/>
            <a:ext cx="502920" cy="274320"/>
          </a:xfrm>
          <a:prstGeom prst="rect">
            <a:avLst/>
          </a:prstGeom>
          <a:noFill/>
          <a:ln/>
        </p:spPr>
        <p:txBody>
          <a:bodyPr wrap="square" lIns="0" tIns="0" rIns="0" bIns="0" rtlCol="0" anchor="t">
            <a:normAutofit/>
          </a:bodyPr>
          <a:lstStyle/>
          <a:p>
            <a:pPr algn="l" indent="0" marL="0">
              <a:buNone/>
            </a:pPr>
            <a:r>
              <a:rPr lang="en-US" sz="2400" b="1" dirty="0">
                <a:solidFill>
                  <a:srgbClr val="4FC3F7"/>
                </a:solidFill>
                <a:latin typeface="Calibri" pitchFamily="34" charset="0"/>
                <a:ea typeface="Calibri" pitchFamily="34" charset="-122"/>
                <a:cs typeface="Calibri" pitchFamily="34" charset="-120"/>
              </a:rPr>
              <a:t>05</a:t>
            </a:r>
            <a:endParaRPr lang="en-US" sz="2400" dirty="0"/>
          </a:p>
        </p:txBody>
      </p:sp>
      <p:sp>
        <p:nvSpPr>
          <p:cNvPr id="12" name="Text 10"/>
          <p:cNvSpPr/>
          <p:nvPr/>
        </p:nvSpPr>
        <p:spPr>
          <a:xfrm>
            <a:off x="1417320" y="3931920"/>
            <a:ext cx="4480560" cy="228600"/>
          </a:xfrm>
          <a:prstGeom prst="rect">
            <a:avLst/>
          </a:prstGeom>
          <a:noFill/>
          <a:ln/>
        </p:spPr>
        <p:txBody>
          <a:bodyPr wrap="square" lIns="0" tIns="0" rIns="0" bIns="0" rtlCol="0" anchor="t">
            <a:normAutofit/>
          </a:bodyPr>
          <a:lstStyle/>
          <a:p>
            <a:pPr algn="l" indent="0" marL="0">
              <a:buNone/>
            </a:pPr>
            <a:r>
              <a:rPr lang="en-US" sz="1650" dirty="0">
                <a:solidFill>
                  <a:srgbClr val="FFFFFF"/>
                </a:solidFill>
                <a:latin typeface="Calibri" pitchFamily="34" charset="0"/>
                <a:ea typeface="Calibri" pitchFamily="34" charset="-122"/>
                <a:cs typeface="Calibri" pitchFamily="34" charset="-120"/>
              </a:rPr>
              <a:t>Google Drive</a:t>
            </a:r>
            <a:endParaRPr lang="en-US" sz="1650" dirty="0"/>
          </a:p>
        </p:txBody>
      </p:sp>
      <p:sp>
        <p:nvSpPr>
          <p:cNvPr id="13" name="Text 11"/>
          <p:cNvSpPr/>
          <p:nvPr/>
        </p:nvSpPr>
        <p:spPr>
          <a:xfrm>
            <a:off x="822960" y="4572000"/>
            <a:ext cx="502920" cy="274320"/>
          </a:xfrm>
          <a:prstGeom prst="rect">
            <a:avLst/>
          </a:prstGeom>
          <a:noFill/>
          <a:ln/>
        </p:spPr>
        <p:txBody>
          <a:bodyPr wrap="square" lIns="0" tIns="0" rIns="0" bIns="0" rtlCol="0" anchor="t">
            <a:normAutofit/>
          </a:bodyPr>
          <a:lstStyle/>
          <a:p>
            <a:pPr algn="l" indent="0" marL="0">
              <a:buNone/>
            </a:pPr>
            <a:r>
              <a:rPr lang="en-US" sz="2400" b="1" dirty="0">
                <a:solidFill>
                  <a:srgbClr val="4FC3F7"/>
                </a:solidFill>
                <a:latin typeface="Calibri" pitchFamily="34" charset="0"/>
                <a:ea typeface="Calibri" pitchFamily="34" charset="-122"/>
                <a:cs typeface="Calibri" pitchFamily="34" charset="-120"/>
              </a:rPr>
              <a:t>06</a:t>
            </a:r>
            <a:endParaRPr lang="en-US" sz="2400" dirty="0"/>
          </a:p>
        </p:txBody>
      </p:sp>
      <p:sp>
        <p:nvSpPr>
          <p:cNvPr id="14" name="Text 12"/>
          <p:cNvSpPr/>
          <p:nvPr/>
        </p:nvSpPr>
        <p:spPr>
          <a:xfrm>
            <a:off x="1417320" y="4590288"/>
            <a:ext cx="4480560" cy="228600"/>
          </a:xfrm>
          <a:prstGeom prst="rect">
            <a:avLst/>
          </a:prstGeom>
          <a:noFill/>
          <a:ln/>
        </p:spPr>
        <p:txBody>
          <a:bodyPr wrap="square" lIns="0" tIns="0" rIns="0" bIns="0" rtlCol="0" anchor="t">
            <a:normAutofit/>
          </a:bodyPr>
          <a:lstStyle/>
          <a:p>
            <a:pPr algn="l" indent="0" marL="0">
              <a:buNone/>
            </a:pPr>
            <a:r>
              <a:rPr lang="en-US" sz="1650" dirty="0">
                <a:solidFill>
                  <a:srgbClr val="FFFFFF"/>
                </a:solidFill>
                <a:latin typeface="Calibri" pitchFamily="34" charset="0"/>
                <a:ea typeface="Calibri" pitchFamily="34" charset="-122"/>
                <a:cs typeface="Calibri" pitchFamily="34" charset="-120"/>
              </a:rPr>
              <a:t>Meeting Transcription</a:t>
            </a:r>
            <a:endParaRPr lang="en-US" sz="1650" dirty="0"/>
          </a:p>
        </p:txBody>
      </p:sp>
      <p:sp>
        <p:nvSpPr>
          <p:cNvPr id="15" name="Shape 13"/>
          <p:cNvSpPr/>
          <p:nvPr/>
        </p:nvSpPr>
        <p:spPr>
          <a:xfrm>
            <a:off x="8686800" y="1188720"/>
            <a:ext cx="0" cy="4206240"/>
          </a:xfrm>
          <a:prstGeom prst="line">
            <a:avLst/>
          </a:prstGeom>
          <a:noFill/>
          <a:ln w="19050">
            <a:solidFill>
              <a:srgbClr val="CADCFC"/>
            </a:solidFill>
            <a:prstDash val="solid"/>
          </a:ln>
        </p:spPr>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77072" y="1170432"/>
            <a:ext cx="219456" cy="219456"/>
          </a:xfrm>
          <a:prstGeom prst="rect">
            <a:avLst/>
          </a:prstGeom>
        </p:spPr>
      </p:pic>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7072" y="1865376"/>
            <a:ext cx="219456" cy="219456"/>
          </a:xfrm>
          <a:prstGeom prst="rect">
            <a:avLst/>
          </a:prstGeom>
        </p:spPr>
      </p:pic>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77072" y="2560320"/>
            <a:ext cx="219456" cy="219456"/>
          </a:xfrm>
          <a:prstGeom prst="rect">
            <a:avLst/>
          </a:prstGeom>
        </p:spPr>
      </p:pic>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77072" y="3255264"/>
            <a:ext cx="219456" cy="219456"/>
          </a:xfrm>
          <a:prstGeom prst="rect">
            <a:avLst/>
          </a:prstGeom>
        </p:spPr>
      </p:pic>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77072" y="3950208"/>
            <a:ext cx="219456" cy="219456"/>
          </a:xfrm>
          <a:prstGeom prst="rect">
            <a:avLst/>
          </a:prstGeom>
        </p:spPr>
      </p:pic>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577072" y="4645152"/>
            <a:ext cx="219456" cy="219456"/>
          </a:xfrm>
          <a:prstGeom prst="rect">
            <a:avLst/>
          </a:prstGeom>
        </p:spPr>
      </p:pic>
      <p:sp>
        <p:nvSpPr>
          <p:cNvPr id="22" name="Text 14"/>
          <p:cNvSpPr/>
          <p:nvPr/>
        </p:nvSpPr>
        <p:spPr>
          <a:xfrm>
            <a:off x="822960" y="6126480"/>
            <a:ext cx="2286000" cy="182880"/>
          </a:xfrm>
          <a:prstGeom prst="rect">
            <a:avLst/>
          </a:prstGeom>
          <a:noFill/>
          <a:ln/>
        </p:spPr>
        <p:txBody>
          <a:bodyPr wrap="square" lIns="0" tIns="0" rIns="0" bIns="0" rtlCol="0" anchor="t">
            <a:normAutofit/>
          </a:bodyPr>
          <a:lstStyle/>
          <a:p>
            <a:pPr algn="l" indent="0" marL="0">
              <a:buNone/>
            </a:pPr>
            <a:r>
              <a:rPr lang="en-US" sz="1050" dirty="0">
                <a:solidFill>
                  <a:srgbClr val="CADCFC"/>
                </a:solidFill>
                <a:latin typeface="Calibri" pitchFamily="34" charset="0"/>
                <a:ea typeface="Calibri" pitchFamily="34" charset="-122"/>
                <a:cs typeface="Calibri" pitchFamily="34" charset="-120"/>
              </a:rPr>
              <a:t>Duration: ~30 min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28600" y="594360"/>
            <a:ext cx="11704320" cy="1554480"/>
          </a:xfrm>
          <a:prstGeom prst="rect">
            <a:avLst/>
          </a:prstGeom>
          <a:noFill/>
          <a:ln/>
        </p:spPr>
        <p:txBody>
          <a:bodyPr wrap="square" lIns="0" tIns="0" rIns="0" bIns="0" rtlCol="0" anchor="ctr"/>
          <a:lstStyle/>
          <a:p>
            <a:pPr algn="ctr" indent="0" marL="0">
              <a:buNone/>
            </a:pPr>
            <a:r>
              <a:rPr lang="en-US" sz="9800" b="1" dirty="0">
                <a:solidFill>
                  <a:srgbClr val="4FC3F7">
                    <a:alpha val="20000"/>
                  </a:srgbClr>
                </a:solidFill>
                <a:latin typeface="Calibri" pitchFamily="34" charset="0"/>
                <a:ea typeface="Calibri" pitchFamily="34" charset="-122"/>
                <a:cs typeface="Calibri" pitchFamily="34" charset="-120"/>
              </a:rPr>
              <a:t>01</a:t>
            </a:r>
            <a:endParaRPr lang="en-US" sz="9800" dirty="0"/>
          </a:p>
        </p:txBody>
      </p:sp>
      <p:sp>
        <p:nvSpPr>
          <p:cNvPr id="3" name="Text 1"/>
          <p:cNvSpPr/>
          <p:nvPr/>
        </p:nvSpPr>
        <p:spPr>
          <a:xfrm>
            <a:off x="1097280" y="2697480"/>
            <a:ext cx="996696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Our Company Brain</a:t>
            </a:r>
            <a:endParaRPr lang="en-US" sz="3000" dirty="0"/>
          </a:p>
        </p:txBody>
      </p:sp>
      <p:sp>
        <p:nvSpPr>
          <p:cNvPr id="4" name="Text 2"/>
          <p:cNvSpPr/>
          <p:nvPr/>
        </p:nvSpPr>
        <p:spPr>
          <a:xfrm>
            <a:off x="1463040" y="3291840"/>
            <a:ext cx="9235440" cy="256032"/>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Notion as the single source of truth</a:t>
            </a:r>
            <a:endParaRPr lang="en-US" sz="1600" dirty="0"/>
          </a:p>
        </p:txBody>
      </p:sp>
      <p:sp>
        <p:nvSpPr>
          <p:cNvPr id="5" name="Shape 3"/>
          <p:cNvSpPr/>
          <p:nvPr/>
        </p:nvSpPr>
        <p:spPr>
          <a:xfrm>
            <a:off x="3657600" y="3886200"/>
            <a:ext cx="4846320" cy="0"/>
          </a:xfrm>
          <a:prstGeom prst="line">
            <a:avLst/>
          </a:prstGeom>
          <a:noFill/>
          <a:ln w="25400">
            <a:solidFill>
              <a:srgbClr val="4FC3F7"/>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Why Notion — the philosophy</a:t>
            </a:r>
            <a:endParaRPr lang="en-US" sz="2500" dirty="0"/>
          </a:p>
        </p:txBody>
      </p:sp>
      <p:sp>
        <p:nvSpPr>
          <p:cNvPr id="3" name="Shape 1"/>
          <p:cNvSpPr/>
          <p:nvPr/>
        </p:nvSpPr>
        <p:spPr>
          <a:xfrm>
            <a:off x="640080" y="1234440"/>
            <a:ext cx="5166360" cy="1024128"/>
          </a:xfrm>
          <a:prstGeom prst="roundRect">
            <a:avLst>
              <a:gd name="adj" fmla="val 7143"/>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4" name="Shape 2"/>
          <p:cNvSpPr/>
          <p:nvPr/>
        </p:nvSpPr>
        <p:spPr>
          <a:xfrm>
            <a:off x="640080" y="1234440"/>
            <a:ext cx="64008" cy="1024128"/>
          </a:xfrm>
          <a:prstGeom prst="rect">
            <a:avLst/>
          </a:prstGeom>
          <a:solidFill>
            <a:srgbClr val="4FC3F7"/>
          </a:solidFill>
          <a:ln w="12700">
            <a:solidFill>
              <a:srgbClr val="4FC3F7"/>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1444752"/>
            <a:ext cx="384048" cy="384048"/>
          </a:xfrm>
          <a:prstGeom prst="rect">
            <a:avLst/>
          </a:prstGeom>
        </p:spPr>
      </p:pic>
      <p:sp>
        <p:nvSpPr>
          <p:cNvPr id="6" name="Text 3"/>
          <p:cNvSpPr/>
          <p:nvPr/>
        </p:nvSpPr>
        <p:spPr>
          <a:xfrm>
            <a:off x="1417320" y="1380744"/>
            <a:ext cx="4069080" cy="182880"/>
          </a:xfrm>
          <a:prstGeom prst="rect">
            <a:avLst/>
          </a:prstGeom>
          <a:noFill/>
          <a:ln/>
        </p:spPr>
        <p:txBody>
          <a:bodyPr wrap="square" lIns="0" tIns="0" rIns="0" bIns="0" rtlCol="0" anchor="t">
            <a:normAutofit/>
          </a:bodyPr>
          <a:lstStyle/>
          <a:p>
            <a:pPr algn="l" indent="0" marL="0">
              <a:buNone/>
            </a:pPr>
            <a:r>
              <a:rPr lang="en-US" sz="1300" b="1" dirty="0">
                <a:solidFill>
                  <a:srgbClr val="1E2761"/>
                </a:solidFill>
                <a:latin typeface="Calibri" pitchFamily="34" charset="0"/>
                <a:ea typeface="Calibri" pitchFamily="34" charset="-122"/>
                <a:cs typeface="Calibri" pitchFamily="34" charset="-120"/>
              </a:rPr>
              <a:t>Document decisions, not activity</a:t>
            </a:r>
            <a:endParaRPr lang="en-US" sz="1300" dirty="0"/>
          </a:p>
        </p:txBody>
      </p:sp>
      <p:sp>
        <p:nvSpPr>
          <p:cNvPr id="7" name="Text 4"/>
          <p:cNvSpPr/>
          <p:nvPr/>
        </p:nvSpPr>
        <p:spPr>
          <a:xfrm>
            <a:off x="1417320" y="1618488"/>
            <a:ext cx="4023360" cy="438912"/>
          </a:xfrm>
          <a:prstGeom prst="rect">
            <a:avLst/>
          </a:prstGeom>
          <a:noFill/>
          <a:ln/>
        </p:spPr>
        <p:txBody>
          <a:bodyPr wrap="square" lIns="0" tIns="0" rIns="0" bIns="0" rtlCol="0" anchor="t">
            <a:normAutofit/>
          </a:bodyPr>
          <a:lstStyle/>
          <a:p>
            <a:pPr algn="l" indent="0" marL="0">
              <a:buNone/>
            </a:pPr>
            <a:r>
              <a:rPr lang="en-US" sz="1100" dirty="0">
                <a:solidFill>
                  <a:srgbClr val="5A6E8C"/>
                </a:solidFill>
                <a:latin typeface="Calibri" pitchFamily="34" charset="0"/>
                <a:ea typeface="Calibri" pitchFamily="34" charset="-122"/>
                <a:cs typeface="Calibri" pitchFamily="34" charset="-120"/>
              </a:rPr>
              <a:t>If it takes more than 2 minutes to log, it won't get logged. We only write what a future cofounder or investor would need to know.</a:t>
            </a:r>
            <a:endParaRPr lang="en-US" sz="1100" dirty="0"/>
          </a:p>
        </p:txBody>
      </p:sp>
      <p:sp>
        <p:nvSpPr>
          <p:cNvPr id="8" name="Shape 5"/>
          <p:cNvSpPr/>
          <p:nvPr/>
        </p:nvSpPr>
        <p:spPr>
          <a:xfrm>
            <a:off x="640080" y="2487168"/>
            <a:ext cx="5166360" cy="1024128"/>
          </a:xfrm>
          <a:prstGeom prst="roundRect">
            <a:avLst>
              <a:gd name="adj" fmla="val 7143"/>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9" name="Shape 6"/>
          <p:cNvSpPr/>
          <p:nvPr/>
        </p:nvSpPr>
        <p:spPr>
          <a:xfrm>
            <a:off x="640080" y="2487168"/>
            <a:ext cx="64008" cy="1024128"/>
          </a:xfrm>
          <a:prstGeom prst="rect">
            <a:avLst/>
          </a:prstGeom>
          <a:solidFill>
            <a:srgbClr val="4FC3F7"/>
          </a:solidFill>
          <a:ln w="12700">
            <a:solidFill>
              <a:srgbClr val="4FC3F7"/>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680" y="2697480"/>
            <a:ext cx="384048" cy="384048"/>
          </a:xfrm>
          <a:prstGeom prst="rect">
            <a:avLst/>
          </a:prstGeom>
        </p:spPr>
      </p:pic>
      <p:sp>
        <p:nvSpPr>
          <p:cNvPr id="11" name="Text 7"/>
          <p:cNvSpPr/>
          <p:nvPr/>
        </p:nvSpPr>
        <p:spPr>
          <a:xfrm>
            <a:off x="1417320" y="2633472"/>
            <a:ext cx="4069080" cy="182880"/>
          </a:xfrm>
          <a:prstGeom prst="rect">
            <a:avLst/>
          </a:prstGeom>
          <a:noFill/>
          <a:ln/>
        </p:spPr>
        <p:txBody>
          <a:bodyPr wrap="square" lIns="0" tIns="0" rIns="0" bIns="0" rtlCol="0" anchor="t">
            <a:normAutofit/>
          </a:bodyPr>
          <a:lstStyle/>
          <a:p>
            <a:pPr algn="l" indent="0" marL="0">
              <a:buNone/>
            </a:pPr>
            <a:r>
              <a:rPr lang="en-US" sz="1300" b="1" dirty="0">
                <a:solidFill>
                  <a:srgbClr val="1E2761"/>
                </a:solidFill>
                <a:latin typeface="Calibri" pitchFamily="34" charset="0"/>
                <a:ea typeface="Calibri" pitchFamily="34" charset="-122"/>
                <a:cs typeface="Calibri" pitchFamily="34" charset="-120"/>
              </a:rPr>
              <a:t>Passive awareness</a:t>
            </a:r>
            <a:endParaRPr lang="en-US" sz="1300" dirty="0"/>
          </a:p>
        </p:txBody>
      </p:sp>
      <p:sp>
        <p:nvSpPr>
          <p:cNvPr id="12" name="Text 8"/>
          <p:cNvSpPr/>
          <p:nvPr/>
        </p:nvSpPr>
        <p:spPr>
          <a:xfrm>
            <a:off x="1417320" y="2871216"/>
            <a:ext cx="4023360" cy="438912"/>
          </a:xfrm>
          <a:prstGeom prst="rect">
            <a:avLst/>
          </a:prstGeom>
          <a:noFill/>
          <a:ln/>
        </p:spPr>
        <p:txBody>
          <a:bodyPr wrap="square" lIns="0" tIns="0" rIns="0" bIns="0" rtlCol="0" anchor="t">
            <a:normAutofit/>
          </a:bodyPr>
          <a:lstStyle/>
          <a:p>
            <a:pPr algn="l" indent="0" marL="0">
              <a:buNone/>
            </a:pPr>
            <a:r>
              <a:rPr lang="en-US" sz="1100" dirty="0">
                <a:solidFill>
                  <a:srgbClr val="5A6E8C"/>
                </a:solidFill>
                <a:latin typeface="Calibri" pitchFamily="34" charset="0"/>
                <a:ea typeface="Calibri" pitchFamily="34" charset="-122"/>
                <a:cs typeface="Calibri" pitchFamily="34" charset="-120"/>
              </a:rPr>
              <a:t>Notion is open all day. In 30 seconds you know where each person is, what's blocked, and what's at risk this week. Without sending a message.</a:t>
            </a:r>
            <a:endParaRPr lang="en-US" sz="1100" dirty="0"/>
          </a:p>
        </p:txBody>
      </p:sp>
      <p:sp>
        <p:nvSpPr>
          <p:cNvPr id="13" name="Shape 9"/>
          <p:cNvSpPr/>
          <p:nvPr/>
        </p:nvSpPr>
        <p:spPr>
          <a:xfrm>
            <a:off x="640080" y="3739896"/>
            <a:ext cx="5166360" cy="1024128"/>
          </a:xfrm>
          <a:prstGeom prst="roundRect">
            <a:avLst>
              <a:gd name="adj" fmla="val 7143"/>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4" name="Shape 10"/>
          <p:cNvSpPr/>
          <p:nvPr/>
        </p:nvSpPr>
        <p:spPr>
          <a:xfrm>
            <a:off x="640080" y="3739896"/>
            <a:ext cx="64008" cy="1024128"/>
          </a:xfrm>
          <a:prstGeom prst="rect">
            <a:avLst/>
          </a:prstGeom>
          <a:solidFill>
            <a:srgbClr val="4FC3F7"/>
          </a:solidFill>
          <a:ln w="12700">
            <a:solidFill>
              <a:srgbClr val="4FC3F7"/>
            </a:solidFill>
            <a:prstDash val="solid"/>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 y="3950208"/>
            <a:ext cx="384048" cy="384048"/>
          </a:xfrm>
          <a:prstGeom prst="rect">
            <a:avLst/>
          </a:prstGeom>
        </p:spPr>
      </p:pic>
      <p:sp>
        <p:nvSpPr>
          <p:cNvPr id="16" name="Text 11"/>
          <p:cNvSpPr/>
          <p:nvPr/>
        </p:nvSpPr>
        <p:spPr>
          <a:xfrm>
            <a:off x="1417320" y="3886200"/>
            <a:ext cx="4069080" cy="182880"/>
          </a:xfrm>
          <a:prstGeom prst="rect">
            <a:avLst/>
          </a:prstGeom>
          <a:noFill/>
          <a:ln/>
        </p:spPr>
        <p:txBody>
          <a:bodyPr wrap="square" lIns="0" tIns="0" rIns="0" bIns="0" rtlCol="0" anchor="t">
            <a:normAutofit/>
          </a:bodyPr>
          <a:lstStyle/>
          <a:p>
            <a:pPr algn="l" indent="0" marL="0">
              <a:buNone/>
            </a:pPr>
            <a:r>
              <a:rPr lang="en-US" sz="1300" b="1" dirty="0">
                <a:solidFill>
                  <a:srgbClr val="1E2761"/>
                </a:solidFill>
                <a:latin typeface="Calibri" pitchFamily="34" charset="0"/>
                <a:ea typeface="Calibri" pitchFamily="34" charset="-122"/>
                <a:cs typeface="Calibri" pitchFamily="34" charset="-120"/>
              </a:rPr>
              <a:t>Oriol owns the structure</a:t>
            </a:r>
            <a:endParaRPr lang="en-US" sz="1300" dirty="0"/>
          </a:p>
        </p:txBody>
      </p:sp>
      <p:sp>
        <p:nvSpPr>
          <p:cNvPr id="17" name="Text 12"/>
          <p:cNvSpPr/>
          <p:nvPr/>
        </p:nvSpPr>
        <p:spPr>
          <a:xfrm>
            <a:off x="1417320" y="4123944"/>
            <a:ext cx="4023360" cy="438912"/>
          </a:xfrm>
          <a:prstGeom prst="rect">
            <a:avLst/>
          </a:prstGeom>
          <a:noFill/>
          <a:ln/>
        </p:spPr>
        <p:txBody>
          <a:bodyPr wrap="square" lIns="0" tIns="0" rIns="0" bIns="0" rtlCol="0" anchor="t">
            <a:normAutofit/>
          </a:bodyPr>
          <a:lstStyle/>
          <a:p>
            <a:pPr algn="l" indent="0" marL="0">
              <a:buNone/>
            </a:pPr>
            <a:r>
              <a:rPr lang="en-US" sz="1100" dirty="0">
                <a:solidFill>
                  <a:srgbClr val="5A6E8C"/>
                </a:solidFill>
                <a:latin typeface="Calibri" pitchFamily="34" charset="0"/>
                <a:ea typeface="Calibri" pitchFamily="34" charset="-122"/>
                <a:cs typeface="Calibri" pitchFamily="34" charset="-120"/>
              </a:rPr>
              <a:t>Arnau and Adam never touch Notion architecture. Oriol extracts, writes, and distributes. Your cognitive resources go entirely to building and selling.</a:t>
            </a:r>
            <a:endParaRPr lang="en-US" sz="1100" dirty="0"/>
          </a:p>
        </p:txBody>
      </p:sp>
      <p:sp>
        <p:nvSpPr>
          <p:cNvPr id="18" name="Shape 13"/>
          <p:cNvSpPr/>
          <p:nvPr/>
        </p:nvSpPr>
        <p:spPr>
          <a:xfrm rot="10800000">
            <a:off x="6995160" y="1143000"/>
            <a:ext cx="4297680" cy="4480560"/>
          </a:xfrm>
          <a:prstGeom prst="triangle">
            <a:avLst/>
          </a:prstGeom>
          <a:solidFill>
            <a:srgbClr val="DCEAFB"/>
          </a:solidFill>
          <a:ln w="12700">
            <a:solidFill>
              <a:srgbClr val="DCEAFB"/>
            </a:solidFill>
            <a:prstDash val="solid"/>
          </a:ln>
        </p:spPr>
      </p:sp>
      <p:sp>
        <p:nvSpPr>
          <p:cNvPr id="19" name="Shape 14"/>
          <p:cNvSpPr/>
          <p:nvPr/>
        </p:nvSpPr>
        <p:spPr>
          <a:xfrm>
            <a:off x="7726680" y="4480560"/>
            <a:ext cx="2834640" cy="749808"/>
          </a:xfrm>
          <a:prstGeom prst="rect">
            <a:avLst/>
          </a:prstGeom>
          <a:solidFill>
            <a:srgbClr val="1E2761"/>
          </a:solidFill>
          <a:ln w="12700">
            <a:solidFill>
              <a:srgbClr val="1E2761"/>
            </a:solidFill>
            <a:prstDash val="solid"/>
          </a:ln>
        </p:spPr>
      </p:sp>
      <p:sp>
        <p:nvSpPr>
          <p:cNvPr id="20" name="Shape 15"/>
          <p:cNvSpPr/>
          <p:nvPr/>
        </p:nvSpPr>
        <p:spPr>
          <a:xfrm>
            <a:off x="8138160" y="3337560"/>
            <a:ext cx="2011680" cy="658368"/>
          </a:xfrm>
          <a:prstGeom prst="rect">
            <a:avLst/>
          </a:prstGeom>
          <a:solidFill>
            <a:srgbClr val="4A5C93"/>
          </a:solidFill>
          <a:ln w="12700">
            <a:solidFill>
              <a:srgbClr val="4A5C93"/>
            </a:solidFill>
            <a:prstDash val="solid"/>
          </a:ln>
        </p:spPr>
      </p:sp>
      <p:sp>
        <p:nvSpPr>
          <p:cNvPr id="21" name="Shape 16"/>
          <p:cNvSpPr/>
          <p:nvPr/>
        </p:nvSpPr>
        <p:spPr>
          <a:xfrm>
            <a:off x="8503920" y="2340864"/>
            <a:ext cx="1298448" cy="566928"/>
          </a:xfrm>
          <a:prstGeom prst="rect">
            <a:avLst/>
          </a:prstGeom>
          <a:solidFill>
            <a:srgbClr val="4FC3F7"/>
          </a:solidFill>
          <a:ln w="12700">
            <a:solidFill>
              <a:srgbClr val="4FC3F7"/>
            </a:solidFill>
            <a:prstDash val="solid"/>
          </a:ln>
        </p:spPr>
      </p:sp>
      <p:sp>
        <p:nvSpPr>
          <p:cNvPr id="22" name="Text 17"/>
          <p:cNvSpPr/>
          <p:nvPr/>
        </p:nvSpPr>
        <p:spPr>
          <a:xfrm>
            <a:off x="8092440" y="4690872"/>
            <a:ext cx="2103120" cy="201168"/>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Notion</a:t>
            </a:r>
            <a:endParaRPr lang="en-US" sz="1800" dirty="0"/>
          </a:p>
        </p:txBody>
      </p:sp>
      <p:sp>
        <p:nvSpPr>
          <p:cNvPr id="23" name="Text 18"/>
          <p:cNvSpPr/>
          <p:nvPr/>
        </p:nvSpPr>
        <p:spPr>
          <a:xfrm>
            <a:off x="8183880" y="3547872"/>
            <a:ext cx="1874520" cy="182880"/>
          </a:xfrm>
          <a:prstGeom prst="rect">
            <a:avLst/>
          </a:prstGeom>
          <a:noFill/>
          <a:ln/>
        </p:spPr>
        <p:txBody>
          <a:bodyPr wrap="square" lIns="0" tIns="0" rIns="0" bIns="0" rtlCol="0" anchor="t">
            <a:normAutofit/>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Discord</a:t>
            </a:r>
            <a:endParaRPr lang="en-US" sz="1450" dirty="0"/>
          </a:p>
        </p:txBody>
      </p:sp>
      <p:sp>
        <p:nvSpPr>
          <p:cNvPr id="24" name="Text 19"/>
          <p:cNvSpPr/>
          <p:nvPr/>
        </p:nvSpPr>
        <p:spPr>
          <a:xfrm>
            <a:off x="8503920" y="2542032"/>
            <a:ext cx="1280160" cy="164592"/>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Drive</a:t>
            </a:r>
            <a:endParaRPr lang="en-US" sz="1250" dirty="0"/>
          </a:p>
        </p:txBody>
      </p:sp>
      <p:sp>
        <p:nvSpPr>
          <p:cNvPr id="25" name="Text 20"/>
          <p:cNvSpPr/>
          <p:nvPr/>
        </p:nvSpPr>
        <p:spPr>
          <a:xfrm>
            <a:off x="7863840" y="5010912"/>
            <a:ext cx="2560320" cy="384048"/>
          </a:xfrm>
          <a:prstGeom prst="rect">
            <a:avLst/>
          </a:prstGeom>
          <a:noFill/>
          <a:ln/>
        </p:spPr>
        <p:txBody>
          <a:bodyPr wrap="square" lIns="0" tIns="0" rIns="0" bIns="0" rtlCol="0" anchor="t">
            <a:normAutofit/>
          </a:bodyPr>
          <a:lstStyle/>
          <a:p>
            <a:pPr algn="ctr" indent="0" marL="0">
              <a:buNone/>
            </a:pPr>
            <a:r>
              <a:rPr lang="en-US" sz="900" dirty="0">
                <a:solidFill>
                  <a:srgbClr val="CADCFC"/>
                </a:solidFill>
                <a:latin typeface="Calibri" pitchFamily="34" charset="0"/>
                <a:ea typeface="Calibri" pitchFamily="34" charset="-122"/>
                <a:cs typeface="Calibri" pitchFamily="34" charset="-120"/>
              </a:rPr>
              <a:t>long-term memory</a:t>
            </a:r>
            <a:endParaRPr lang="en-US" sz="900" dirty="0"/>
          </a:p>
          <a:p>
            <a:pPr algn="ctr" indent="0" marL="0">
              <a:buNone/>
            </a:pPr>
            <a:r>
              <a:rPr lang="en-US" sz="900" dirty="0">
                <a:solidFill>
                  <a:srgbClr val="CADCFC"/>
                </a:solidFill>
                <a:latin typeface="Calibri" pitchFamily="34" charset="0"/>
                <a:ea typeface="Calibri" pitchFamily="34" charset="-122"/>
                <a:cs typeface="Calibri" pitchFamily="34" charset="-120"/>
              </a:rPr>
              <a:t> single source of truth</a:t>
            </a:r>
            <a:endParaRPr lang="en-US" sz="900" dirty="0"/>
          </a:p>
        </p:txBody>
      </p:sp>
      <p:sp>
        <p:nvSpPr>
          <p:cNvPr id="26" name="Text 21"/>
          <p:cNvSpPr/>
          <p:nvPr/>
        </p:nvSpPr>
        <p:spPr>
          <a:xfrm>
            <a:off x="8183880" y="3813048"/>
            <a:ext cx="1920240" cy="292608"/>
          </a:xfrm>
          <a:prstGeom prst="rect">
            <a:avLst/>
          </a:prstGeom>
          <a:noFill/>
          <a:ln/>
        </p:spPr>
        <p:txBody>
          <a:bodyPr wrap="square" lIns="0" tIns="0" rIns="0" bIns="0" rtlCol="0" anchor="t">
            <a:normAutofit/>
          </a:bodyPr>
          <a:lstStyle/>
          <a:p>
            <a:pPr algn="ctr" indent="0" marL="0">
              <a:buNone/>
            </a:pPr>
            <a:r>
              <a:rPr lang="en-US" sz="850" dirty="0">
                <a:solidFill>
                  <a:srgbClr val="CADCFC"/>
                </a:solidFill>
                <a:latin typeface="Calibri" pitchFamily="34" charset="0"/>
                <a:ea typeface="Calibri" pitchFamily="34" charset="-122"/>
                <a:cs typeface="Calibri" pitchFamily="34" charset="-120"/>
              </a:rPr>
              <a:t>working memory</a:t>
            </a:r>
            <a:endParaRPr lang="en-US" sz="850" dirty="0"/>
          </a:p>
          <a:p>
            <a:pPr algn="ctr" indent="0" marL="0">
              <a:buNone/>
            </a:pPr>
            <a:r>
              <a:rPr lang="en-US" sz="850" dirty="0">
                <a:solidFill>
                  <a:srgbClr val="CADCFC"/>
                </a:solidFill>
                <a:latin typeface="Calibri" pitchFamily="34" charset="0"/>
                <a:ea typeface="Calibri" pitchFamily="34" charset="-122"/>
                <a:cs typeface="Calibri" pitchFamily="34" charset="-120"/>
              </a:rPr>
              <a:t> ephemeral</a:t>
            </a:r>
            <a:endParaRPr lang="en-US" sz="850" dirty="0"/>
          </a:p>
        </p:txBody>
      </p:sp>
      <p:sp>
        <p:nvSpPr>
          <p:cNvPr id="27" name="Text 22"/>
          <p:cNvSpPr/>
          <p:nvPr/>
        </p:nvSpPr>
        <p:spPr>
          <a:xfrm>
            <a:off x="8503920" y="2743200"/>
            <a:ext cx="1298448" cy="128016"/>
          </a:xfrm>
          <a:prstGeom prst="rect">
            <a:avLst/>
          </a:prstGeom>
          <a:noFill/>
          <a:ln/>
        </p:spPr>
        <p:txBody>
          <a:bodyPr wrap="square" lIns="0" tIns="0" rIns="0" bIns="0" rtlCol="0" anchor="t">
            <a:normAutofit/>
          </a:bodyPr>
          <a:lstStyle/>
          <a:p>
            <a:pPr algn="ctr" indent="0" marL="0">
              <a:buNone/>
            </a:pPr>
            <a:r>
              <a:rPr lang="en-US" sz="830" dirty="0">
                <a:solidFill>
                  <a:srgbClr val="1E2761"/>
                </a:solidFill>
                <a:latin typeface="Calibri" pitchFamily="34" charset="0"/>
                <a:ea typeface="Calibri" pitchFamily="34" charset="-122"/>
                <a:cs typeface="Calibri" pitchFamily="34" charset="-120"/>
              </a:rPr>
              <a:t>binary files only</a:t>
            </a:r>
            <a:endParaRPr lang="en-US" sz="8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The six sections</a:t>
            </a:r>
            <a:endParaRPr lang="en-US" sz="2500" dirty="0"/>
          </a:p>
        </p:txBody>
      </p:sp>
      <p:sp>
        <p:nvSpPr>
          <p:cNvPr id="3" name="Shape 1"/>
          <p:cNvSpPr/>
          <p:nvPr/>
        </p:nvSpPr>
        <p:spPr>
          <a:xfrm>
            <a:off x="868680" y="1417320"/>
            <a:ext cx="2697480" cy="1298448"/>
          </a:xfrm>
          <a:prstGeom prst="roundRect">
            <a:avLst>
              <a:gd name="adj" fmla="val 5634"/>
            </a:avLst>
          </a:prstGeom>
          <a:solidFill>
            <a:srgbClr val="FFFFFF"/>
          </a:solidFill>
          <a:ln w="12700">
            <a:solidFill>
              <a:srgbClr val="1E2761"/>
            </a:solidFill>
            <a:prstDash val="solid"/>
          </a:ln>
          <a:effectLst>
            <a:outerShdw sx="100000" sy="100000" kx="0" ky="0" algn="bl" rotWithShape="0" blurRad="19050" dist="12700" dir="2700000">
              <a:srgbClr val="000000">
                <a:alpha val="12000"/>
              </a:srgbClr>
            </a:outerShdw>
          </a:effectLst>
        </p:spPr>
      </p:sp>
      <p:sp>
        <p:nvSpPr>
          <p:cNvPr id="4" name="Shape 2"/>
          <p:cNvSpPr/>
          <p:nvPr/>
        </p:nvSpPr>
        <p:spPr>
          <a:xfrm>
            <a:off x="868680" y="1417320"/>
            <a:ext cx="64008" cy="1298448"/>
          </a:xfrm>
          <a:prstGeom prst="rect">
            <a:avLst/>
          </a:prstGeom>
          <a:solidFill>
            <a:srgbClr val="4FC3F7"/>
          </a:solidFill>
          <a:ln w="12700">
            <a:solidFill>
              <a:srgbClr val="4FC3F7"/>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3272" y="1645920"/>
            <a:ext cx="347472" cy="347472"/>
          </a:xfrm>
          <a:prstGeom prst="rect">
            <a:avLst/>
          </a:prstGeom>
        </p:spPr>
      </p:pic>
      <p:sp>
        <p:nvSpPr>
          <p:cNvPr id="6" name="Text 3"/>
          <p:cNvSpPr/>
          <p:nvPr/>
        </p:nvSpPr>
        <p:spPr>
          <a:xfrm>
            <a:off x="1508760" y="1581912"/>
            <a:ext cx="1783080" cy="219456"/>
          </a:xfrm>
          <a:prstGeom prst="rect">
            <a:avLst/>
          </a:prstGeom>
          <a:noFill/>
          <a:ln/>
        </p:spPr>
        <p:txBody>
          <a:bodyPr wrap="square" lIns="0" tIns="0" rIns="0" bIns="0" rtlCol="0" anchor="t">
            <a:normAutofit/>
          </a:bodyPr>
          <a:lstStyle/>
          <a:p>
            <a:pPr algn="l" indent="0" marL="0">
              <a:buNone/>
            </a:pPr>
            <a:r>
              <a:rPr lang="en-US" sz="1400" b="1" dirty="0">
                <a:solidFill>
                  <a:srgbClr val="1E2761"/>
                </a:solidFill>
                <a:latin typeface="Calibri" pitchFamily="34" charset="0"/>
                <a:ea typeface="Calibri" pitchFamily="34" charset="-122"/>
                <a:cs typeface="Calibri" pitchFamily="34" charset="-120"/>
              </a:rPr>
              <a:t>Home</a:t>
            </a:r>
            <a:endParaRPr lang="en-US" sz="1400" dirty="0"/>
          </a:p>
        </p:txBody>
      </p:sp>
      <p:sp>
        <p:nvSpPr>
          <p:cNvPr id="7" name="Text 4"/>
          <p:cNvSpPr/>
          <p:nvPr/>
        </p:nvSpPr>
        <p:spPr>
          <a:xfrm>
            <a:off x="1033272" y="2002536"/>
            <a:ext cx="2267712" cy="310896"/>
          </a:xfrm>
          <a:prstGeom prst="rect">
            <a:avLst/>
          </a:prstGeom>
          <a:noFill/>
          <a:ln/>
        </p:spPr>
        <p:txBody>
          <a:bodyPr wrap="square" lIns="0" tIns="0" rIns="0" bIns="0" rtlCol="0" anchor="t">
            <a:normAutofit/>
          </a:bodyPr>
          <a:lstStyle/>
          <a:p>
            <a:pPr algn="l" indent="0" marL="0">
              <a:buNone/>
            </a:pPr>
            <a:r>
              <a:rPr lang="en-US" sz="1050" dirty="0">
                <a:solidFill>
                  <a:srgbClr val="5A6E8C"/>
                </a:solidFill>
                <a:latin typeface="Calibri" pitchFamily="34" charset="0"/>
                <a:ea typeface="Calibri" pitchFamily="34" charset="-122"/>
                <a:cs typeface="Calibri" pitchFamily="34" charset="-120"/>
              </a:rPr>
              <a:t>Your daily landing page</a:t>
            </a:r>
            <a:endParaRPr lang="en-US" sz="1050" dirty="0"/>
          </a:p>
        </p:txBody>
      </p:sp>
      <p:sp>
        <p:nvSpPr>
          <p:cNvPr id="8" name="Shape 5"/>
          <p:cNvSpPr/>
          <p:nvPr/>
        </p:nvSpPr>
        <p:spPr>
          <a:xfrm>
            <a:off x="4069080" y="1417320"/>
            <a:ext cx="2697480" cy="1298448"/>
          </a:xfrm>
          <a:prstGeom prst="roundRect">
            <a:avLst>
              <a:gd name="adj" fmla="val 5634"/>
            </a:avLst>
          </a:prstGeom>
          <a:solidFill>
            <a:srgbClr val="FFFFFF"/>
          </a:solidFill>
          <a:ln w="12700">
            <a:solidFill>
              <a:srgbClr val="1E2761"/>
            </a:solidFill>
            <a:prstDash val="solid"/>
          </a:ln>
          <a:effectLst>
            <a:outerShdw sx="100000" sy="100000" kx="0" ky="0" algn="bl" rotWithShape="0" blurRad="19050" dist="12700" dir="2700000">
              <a:srgbClr val="000000">
                <a:alpha val="12000"/>
              </a:srgbClr>
            </a:outerShdw>
          </a:effectLst>
        </p:spPr>
      </p:sp>
      <p:sp>
        <p:nvSpPr>
          <p:cNvPr id="9" name="Shape 6"/>
          <p:cNvSpPr/>
          <p:nvPr/>
        </p:nvSpPr>
        <p:spPr>
          <a:xfrm>
            <a:off x="4069080" y="1417320"/>
            <a:ext cx="64008" cy="1298448"/>
          </a:xfrm>
          <a:prstGeom prst="rect">
            <a:avLst/>
          </a:prstGeom>
          <a:solidFill>
            <a:srgbClr val="4FC3F7"/>
          </a:solidFill>
          <a:ln w="12700">
            <a:solidFill>
              <a:srgbClr val="4FC3F7"/>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33672" y="1645920"/>
            <a:ext cx="347472" cy="347472"/>
          </a:xfrm>
          <a:prstGeom prst="rect">
            <a:avLst/>
          </a:prstGeom>
        </p:spPr>
      </p:pic>
      <p:sp>
        <p:nvSpPr>
          <p:cNvPr id="11" name="Text 7"/>
          <p:cNvSpPr/>
          <p:nvPr/>
        </p:nvSpPr>
        <p:spPr>
          <a:xfrm>
            <a:off x="4709160" y="1581912"/>
            <a:ext cx="1783080" cy="219456"/>
          </a:xfrm>
          <a:prstGeom prst="rect">
            <a:avLst/>
          </a:prstGeom>
          <a:noFill/>
          <a:ln/>
        </p:spPr>
        <p:txBody>
          <a:bodyPr wrap="square" lIns="0" tIns="0" rIns="0" bIns="0" rtlCol="0" anchor="t">
            <a:normAutofit/>
          </a:bodyPr>
          <a:lstStyle/>
          <a:p>
            <a:pPr algn="l" indent="0" marL="0">
              <a:buNone/>
            </a:pPr>
            <a:r>
              <a:rPr lang="en-US" sz="1400" b="1" dirty="0">
                <a:solidFill>
                  <a:srgbClr val="1E2761"/>
                </a:solidFill>
                <a:latin typeface="Calibri" pitchFamily="34" charset="0"/>
                <a:ea typeface="Calibri" pitchFamily="34" charset="-122"/>
                <a:cs typeface="Calibri" pitchFamily="34" charset="-120"/>
              </a:rPr>
              <a:t>Goals &amp; OKRs</a:t>
            </a:r>
            <a:endParaRPr lang="en-US" sz="1400" dirty="0"/>
          </a:p>
        </p:txBody>
      </p:sp>
      <p:sp>
        <p:nvSpPr>
          <p:cNvPr id="12" name="Text 8"/>
          <p:cNvSpPr/>
          <p:nvPr/>
        </p:nvSpPr>
        <p:spPr>
          <a:xfrm>
            <a:off x="4233672" y="2002536"/>
            <a:ext cx="2267712" cy="310896"/>
          </a:xfrm>
          <a:prstGeom prst="rect">
            <a:avLst/>
          </a:prstGeom>
          <a:noFill/>
          <a:ln/>
        </p:spPr>
        <p:txBody>
          <a:bodyPr wrap="square" lIns="0" tIns="0" rIns="0" bIns="0" rtlCol="0" anchor="t">
            <a:normAutofit/>
          </a:bodyPr>
          <a:lstStyle/>
          <a:p>
            <a:pPr algn="l" indent="0" marL="0">
              <a:buNone/>
            </a:pPr>
            <a:r>
              <a:rPr lang="en-US" sz="1050" dirty="0">
                <a:solidFill>
                  <a:srgbClr val="5A6E8C"/>
                </a:solidFill>
                <a:latin typeface="Calibri" pitchFamily="34" charset="0"/>
                <a:ea typeface="Calibri" pitchFamily="34" charset="-122"/>
                <a:cs typeface="Calibri" pitchFamily="34" charset="-120"/>
              </a:rPr>
              <a:t>Full goal cascade</a:t>
            </a:r>
            <a:endParaRPr lang="en-US" sz="1050" dirty="0"/>
          </a:p>
        </p:txBody>
      </p:sp>
      <p:sp>
        <p:nvSpPr>
          <p:cNvPr id="13" name="Shape 9"/>
          <p:cNvSpPr/>
          <p:nvPr/>
        </p:nvSpPr>
        <p:spPr>
          <a:xfrm>
            <a:off x="7269480" y="1417320"/>
            <a:ext cx="2697480" cy="1298448"/>
          </a:xfrm>
          <a:prstGeom prst="roundRect">
            <a:avLst>
              <a:gd name="adj" fmla="val 5634"/>
            </a:avLst>
          </a:prstGeom>
          <a:solidFill>
            <a:srgbClr val="FFFFFF"/>
          </a:solidFill>
          <a:ln w="12700">
            <a:solidFill>
              <a:srgbClr val="1E2761"/>
            </a:solidFill>
            <a:prstDash val="solid"/>
          </a:ln>
          <a:effectLst>
            <a:outerShdw sx="100000" sy="100000" kx="0" ky="0" algn="bl" rotWithShape="0" blurRad="19050" dist="12700" dir="2700000">
              <a:srgbClr val="000000">
                <a:alpha val="12000"/>
              </a:srgbClr>
            </a:outerShdw>
          </a:effectLst>
        </p:spPr>
      </p:sp>
      <p:sp>
        <p:nvSpPr>
          <p:cNvPr id="14" name="Shape 10"/>
          <p:cNvSpPr/>
          <p:nvPr/>
        </p:nvSpPr>
        <p:spPr>
          <a:xfrm>
            <a:off x="7269480" y="1417320"/>
            <a:ext cx="64008" cy="1298448"/>
          </a:xfrm>
          <a:prstGeom prst="rect">
            <a:avLst/>
          </a:prstGeom>
          <a:solidFill>
            <a:srgbClr val="4FC3F7"/>
          </a:solidFill>
          <a:ln w="12700">
            <a:solidFill>
              <a:srgbClr val="4FC3F7"/>
            </a:solidFill>
            <a:prstDash val="solid"/>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4072" y="1645920"/>
            <a:ext cx="347472" cy="347472"/>
          </a:xfrm>
          <a:prstGeom prst="rect">
            <a:avLst/>
          </a:prstGeom>
        </p:spPr>
      </p:pic>
      <p:sp>
        <p:nvSpPr>
          <p:cNvPr id="16" name="Text 11"/>
          <p:cNvSpPr/>
          <p:nvPr/>
        </p:nvSpPr>
        <p:spPr>
          <a:xfrm>
            <a:off x="7909560" y="1581912"/>
            <a:ext cx="1783080" cy="219456"/>
          </a:xfrm>
          <a:prstGeom prst="rect">
            <a:avLst/>
          </a:prstGeom>
          <a:noFill/>
          <a:ln/>
        </p:spPr>
        <p:txBody>
          <a:bodyPr wrap="square" lIns="0" tIns="0" rIns="0" bIns="0" rtlCol="0" anchor="t">
            <a:normAutofit/>
          </a:bodyPr>
          <a:lstStyle/>
          <a:p>
            <a:pPr algn="l" indent="0" marL="0">
              <a:buNone/>
            </a:pPr>
            <a:r>
              <a:rPr lang="en-US" sz="1400" b="1" dirty="0">
                <a:solidFill>
                  <a:srgbClr val="1E2761"/>
                </a:solidFill>
                <a:latin typeface="Calibri" pitchFamily="34" charset="0"/>
                <a:ea typeface="Calibri" pitchFamily="34" charset="-122"/>
                <a:cs typeface="Calibri" pitchFamily="34" charset="-120"/>
              </a:rPr>
              <a:t>Daily Logs</a:t>
            </a:r>
            <a:endParaRPr lang="en-US" sz="1400" dirty="0"/>
          </a:p>
        </p:txBody>
      </p:sp>
      <p:sp>
        <p:nvSpPr>
          <p:cNvPr id="17" name="Text 12"/>
          <p:cNvSpPr/>
          <p:nvPr/>
        </p:nvSpPr>
        <p:spPr>
          <a:xfrm>
            <a:off x="7434072" y="2002536"/>
            <a:ext cx="2267712" cy="310896"/>
          </a:xfrm>
          <a:prstGeom prst="rect">
            <a:avLst/>
          </a:prstGeom>
          <a:noFill/>
          <a:ln/>
        </p:spPr>
        <p:txBody>
          <a:bodyPr wrap="square" lIns="0" tIns="0" rIns="0" bIns="0" rtlCol="0" anchor="t">
            <a:normAutofit/>
          </a:bodyPr>
          <a:lstStyle/>
          <a:p>
            <a:pPr algn="l" indent="0" marL="0">
              <a:buNone/>
            </a:pPr>
            <a:r>
              <a:rPr lang="en-US" sz="1050" dirty="0">
                <a:solidFill>
                  <a:srgbClr val="5A6E8C"/>
                </a:solidFill>
                <a:latin typeface="Calibri" pitchFamily="34" charset="0"/>
                <a:ea typeface="Calibri" pitchFamily="34" charset="-122"/>
                <a:cs typeface="Calibri" pitchFamily="34" charset="-120"/>
              </a:rPr>
              <a:t>Oriol / Arnau / Adam</a:t>
            </a:r>
            <a:endParaRPr lang="en-US" sz="1050" dirty="0"/>
          </a:p>
        </p:txBody>
      </p:sp>
      <p:sp>
        <p:nvSpPr>
          <p:cNvPr id="18" name="Shape 13"/>
          <p:cNvSpPr/>
          <p:nvPr/>
        </p:nvSpPr>
        <p:spPr>
          <a:xfrm>
            <a:off x="868680" y="3383280"/>
            <a:ext cx="2697480" cy="1298448"/>
          </a:xfrm>
          <a:prstGeom prst="roundRect">
            <a:avLst>
              <a:gd name="adj" fmla="val 5634"/>
            </a:avLst>
          </a:prstGeom>
          <a:solidFill>
            <a:srgbClr val="FFFFFF"/>
          </a:solidFill>
          <a:ln w="12700">
            <a:solidFill>
              <a:srgbClr val="1E2761"/>
            </a:solidFill>
            <a:prstDash val="solid"/>
          </a:ln>
          <a:effectLst>
            <a:outerShdw sx="100000" sy="100000" kx="0" ky="0" algn="bl" rotWithShape="0" blurRad="19050" dist="12700" dir="2700000">
              <a:srgbClr val="000000">
                <a:alpha val="12000"/>
              </a:srgbClr>
            </a:outerShdw>
          </a:effectLst>
        </p:spPr>
      </p:sp>
      <p:sp>
        <p:nvSpPr>
          <p:cNvPr id="19" name="Shape 14"/>
          <p:cNvSpPr/>
          <p:nvPr/>
        </p:nvSpPr>
        <p:spPr>
          <a:xfrm>
            <a:off x="868680" y="3383280"/>
            <a:ext cx="64008" cy="1298448"/>
          </a:xfrm>
          <a:prstGeom prst="rect">
            <a:avLst/>
          </a:prstGeom>
          <a:solidFill>
            <a:srgbClr val="4FC3F7"/>
          </a:solidFill>
          <a:ln w="12700">
            <a:solidFill>
              <a:srgbClr val="4FC3F7"/>
            </a:solidFill>
            <a:prstDash val="solid"/>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3272" y="3611880"/>
            <a:ext cx="347472" cy="347472"/>
          </a:xfrm>
          <a:prstGeom prst="rect">
            <a:avLst/>
          </a:prstGeom>
        </p:spPr>
      </p:pic>
      <p:sp>
        <p:nvSpPr>
          <p:cNvPr id="21" name="Text 15"/>
          <p:cNvSpPr/>
          <p:nvPr/>
        </p:nvSpPr>
        <p:spPr>
          <a:xfrm>
            <a:off x="1508760" y="3547872"/>
            <a:ext cx="1783080" cy="219456"/>
          </a:xfrm>
          <a:prstGeom prst="rect">
            <a:avLst/>
          </a:prstGeom>
          <a:noFill/>
          <a:ln/>
        </p:spPr>
        <p:txBody>
          <a:bodyPr wrap="square" lIns="0" tIns="0" rIns="0" bIns="0" rtlCol="0" anchor="t">
            <a:normAutofit/>
          </a:bodyPr>
          <a:lstStyle/>
          <a:p>
            <a:pPr algn="l" indent="0" marL="0">
              <a:buNone/>
            </a:pPr>
            <a:r>
              <a:rPr lang="en-US" sz="1400" b="1" dirty="0">
                <a:solidFill>
                  <a:srgbClr val="1E2761"/>
                </a:solidFill>
                <a:latin typeface="Calibri" pitchFamily="34" charset="0"/>
                <a:ea typeface="Calibri" pitchFamily="34" charset="-122"/>
                <a:cs typeface="Calibri" pitchFamily="34" charset="-120"/>
              </a:rPr>
              <a:t>Weekly Syncs</a:t>
            </a:r>
            <a:endParaRPr lang="en-US" sz="1400" dirty="0"/>
          </a:p>
        </p:txBody>
      </p:sp>
      <p:sp>
        <p:nvSpPr>
          <p:cNvPr id="22" name="Text 16"/>
          <p:cNvSpPr/>
          <p:nvPr/>
        </p:nvSpPr>
        <p:spPr>
          <a:xfrm>
            <a:off x="1033272" y="3968496"/>
            <a:ext cx="2267712" cy="310896"/>
          </a:xfrm>
          <a:prstGeom prst="rect">
            <a:avLst/>
          </a:prstGeom>
          <a:noFill/>
          <a:ln/>
        </p:spPr>
        <p:txBody>
          <a:bodyPr wrap="square" lIns="0" tIns="0" rIns="0" bIns="0" rtlCol="0" anchor="t">
            <a:normAutofit/>
          </a:bodyPr>
          <a:lstStyle/>
          <a:p>
            <a:pPr algn="l" indent="0" marL="0">
              <a:buNone/>
            </a:pPr>
            <a:r>
              <a:rPr lang="en-US" sz="1050" dirty="0">
                <a:solidFill>
                  <a:srgbClr val="5A6E8C"/>
                </a:solidFill>
                <a:latin typeface="Calibri" pitchFamily="34" charset="0"/>
                <a:ea typeface="Calibri" pitchFamily="34" charset="-122"/>
                <a:cs typeface="Calibri" pitchFamily="34" charset="-120"/>
              </a:rPr>
              <a:t>Meeting outputs + AI summaries</a:t>
            </a:r>
            <a:endParaRPr lang="en-US" sz="1050" dirty="0"/>
          </a:p>
        </p:txBody>
      </p:sp>
      <p:sp>
        <p:nvSpPr>
          <p:cNvPr id="23" name="Shape 17"/>
          <p:cNvSpPr/>
          <p:nvPr/>
        </p:nvSpPr>
        <p:spPr>
          <a:xfrm>
            <a:off x="4069080" y="3383280"/>
            <a:ext cx="2697480" cy="1298448"/>
          </a:xfrm>
          <a:prstGeom prst="roundRect">
            <a:avLst>
              <a:gd name="adj" fmla="val 5634"/>
            </a:avLst>
          </a:prstGeom>
          <a:solidFill>
            <a:srgbClr val="FFFFFF"/>
          </a:solidFill>
          <a:ln w="12700">
            <a:solidFill>
              <a:srgbClr val="1E2761"/>
            </a:solidFill>
            <a:prstDash val="solid"/>
          </a:ln>
          <a:effectLst>
            <a:outerShdw sx="100000" sy="100000" kx="0" ky="0" algn="bl" rotWithShape="0" blurRad="19050" dist="12700" dir="2700000">
              <a:srgbClr val="000000">
                <a:alpha val="12000"/>
              </a:srgbClr>
            </a:outerShdw>
          </a:effectLst>
        </p:spPr>
      </p:sp>
      <p:sp>
        <p:nvSpPr>
          <p:cNvPr id="24" name="Shape 18"/>
          <p:cNvSpPr/>
          <p:nvPr/>
        </p:nvSpPr>
        <p:spPr>
          <a:xfrm>
            <a:off x="4069080" y="3383280"/>
            <a:ext cx="64008" cy="1298448"/>
          </a:xfrm>
          <a:prstGeom prst="rect">
            <a:avLst/>
          </a:prstGeom>
          <a:solidFill>
            <a:srgbClr val="4FC3F7"/>
          </a:solidFill>
          <a:ln w="12700">
            <a:solidFill>
              <a:srgbClr val="4FC3F7"/>
            </a:solidFill>
            <a:prstDash val="solid"/>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33672" y="3611880"/>
            <a:ext cx="347472" cy="347472"/>
          </a:xfrm>
          <a:prstGeom prst="rect">
            <a:avLst/>
          </a:prstGeom>
        </p:spPr>
      </p:pic>
      <p:sp>
        <p:nvSpPr>
          <p:cNvPr id="26" name="Text 19"/>
          <p:cNvSpPr/>
          <p:nvPr/>
        </p:nvSpPr>
        <p:spPr>
          <a:xfrm>
            <a:off x="4709160" y="3547872"/>
            <a:ext cx="1783080" cy="219456"/>
          </a:xfrm>
          <a:prstGeom prst="rect">
            <a:avLst/>
          </a:prstGeom>
          <a:noFill/>
          <a:ln/>
        </p:spPr>
        <p:txBody>
          <a:bodyPr wrap="square" lIns="0" tIns="0" rIns="0" bIns="0" rtlCol="0" anchor="t">
            <a:normAutofit/>
          </a:bodyPr>
          <a:lstStyle/>
          <a:p>
            <a:pPr algn="l" indent="0" marL="0">
              <a:buNone/>
            </a:pPr>
            <a:r>
              <a:rPr lang="en-US" sz="1400" b="1" dirty="0">
                <a:solidFill>
                  <a:srgbClr val="1E2761"/>
                </a:solidFill>
                <a:latin typeface="Calibri" pitchFamily="34" charset="0"/>
                <a:ea typeface="Calibri" pitchFamily="34" charset="-122"/>
                <a:cs typeface="Calibri" pitchFamily="34" charset="-120"/>
              </a:rPr>
              <a:t>Company Brain</a:t>
            </a:r>
            <a:endParaRPr lang="en-US" sz="1400" dirty="0"/>
          </a:p>
        </p:txBody>
      </p:sp>
      <p:sp>
        <p:nvSpPr>
          <p:cNvPr id="27" name="Text 20"/>
          <p:cNvSpPr/>
          <p:nvPr/>
        </p:nvSpPr>
        <p:spPr>
          <a:xfrm>
            <a:off x="4233672" y="3968496"/>
            <a:ext cx="2267712" cy="310896"/>
          </a:xfrm>
          <a:prstGeom prst="rect">
            <a:avLst/>
          </a:prstGeom>
          <a:noFill/>
          <a:ln/>
        </p:spPr>
        <p:txBody>
          <a:bodyPr wrap="square" lIns="0" tIns="0" rIns="0" bIns="0" rtlCol="0" anchor="t">
            <a:normAutofit/>
          </a:bodyPr>
          <a:lstStyle/>
          <a:p>
            <a:pPr algn="l" indent="0" marL="0">
              <a:buNone/>
            </a:pPr>
            <a:r>
              <a:rPr lang="en-US" sz="1050" dirty="0">
                <a:solidFill>
                  <a:srgbClr val="5A6E8C"/>
                </a:solidFill>
                <a:latin typeface="Calibri" pitchFamily="34" charset="0"/>
                <a:ea typeface="Calibri" pitchFamily="34" charset="-122"/>
                <a:cs typeface="Calibri" pitchFamily="34" charset="-120"/>
              </a:rPr>
              <a:t>Strategy, decisions, pipeline</a:t>
            </a:r>
            <a:endParaRPr lang="en-US" sz="1050" dirty="0"/>
          </a:p>
        </p:txBody>
      </p:sp>
      <p:sp>
        <p:nvSpPr>
          <p:cNvPr id="28" name="Shape 21"/>
          <p:cNvSpPr/>
          <p:nvPr/>
        </p:nvSpPr>
        <p:spPr>
          <a:xfrm>
            <a:off x="7269480" y="3383280"/>
            <a:ext cx="2697480" cy="1298448"/>
          </a:xfrm>
          <a:prstGeom prst="roundRect">
            <a:avLst>
              <a:gd name="adj" fmla="val 5634"/>
            </a:avLst>
          </a:prstGeom>
          <a:solidFill>
            <a:srgbClr val="FFFFFF"/>
          </a:solidFill>
          <a:ln w="12700">
            <a:solidFill>
              <a:srgbClr val="1E2761"/>
            </a:solidFill>
            <a:prstDash val="solid"/>
          </a:ln>
          <a:effectLst>
            <a:outerShdw sx="100000" sy="100000" kx="0" ky="0" algn="bl" rotWithShape="0" blurRad="19050" dist="12700" dir="2700000">
              <a:srgbClr val="000000">
                <a:alpha val="12000"/>
              </a:srgbClr>
            </a:outerShdw>
          </a:effectLst>
        </p:spPr>
      </p:sp>
      <p:sp>
        <p:nvSpPr>
          <p:cNvPr id="29" name="Shape 22"/>
          <p:cNvSpPr/>
          <p:nvPr/>
        </p:nvSpPr>
        <p:spPr>
          <a:xfrm>
            <a:off x="7269480" y="3383280"/>
            <a:ext cx="64008" cy="1298448"/>
          </a:xfrm>
          <a:prstGeom prst="rect">
            <a:avLst/>
          </a:prstGeom>
          <a:solidFill>
            <a:srgbClr val="4FC3F7"/>
          </a:solidFill>
          <a:ln w="12700">
            <a:solidFill>
              <a:srgbClr val="4FC3F7"/>
            </a:solidFill>
            <a:prstDash val="solid"/>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34072" y="3611880"/>
            <a:ext cx="347472" cy="347472"/>
          </a:xfrm>
          <a:prstGeom prst="rect">
            <a:avLst/>
          </a:prstGeom>
        </p:spPr>
      </p:pic>
      <p:sp>
        <p:nvSpPr>
          <p:cNvPr id="31" name="Text 23"/>
          <p:cNvSpPr/>
          <p:nvPr/>
        </p:nvSpPr>
        <p:spPr>
          <a:xfrm>
            <a:off x="7909560" y="3547872"/>
            <a:ext cx="1783080" cy="219456"/>
          </a:xfrm>
          <a:prstGeom prst="rect">
            <a:avLst/>
          </a:prstGeom>
          <a:noFill/>
          <a:ln/>
        </p:spPr>
        <p:txBody>
          <a:bodyPr wrap="square" lIns="0" tIns="0" rIns="0" bIns="0" rtlCol="0" anchor="t">
            <a:normAutofit/>
          </a:bodyPr>
          <a:lstStyle/>
          <a:p>
            <a:pPr algn="l" indent="0" marL="0">
              <a:buNone/>
            </a:pPr>
            <a:r>
              <a:rPr lang="en-US" sz="1400" b="1" dirty="0">
                <a:solidFill>
                  <a:srgbClr val="1E2761"/>
                </a:solidFill>
                <a:latin typeface="Calibri" pitchFamily="34" charset="0"/>
                <a:ea typeface="Calibri" pitchFamily="34" charset="-122"/>
                <a:cs typeface="Calibri" pitchFamily="34" charset="-120"/>
              </a:rPr>
              <a:t>Archive</a:t>
            </a:r>
            <a:endParaRPr lang="en-US" sz="1400" dirty="0"/>
          </a:p>
        </p:txBody>
      </p:sp>
      <p:sp>
        <p:nvSpPr>
          <p:cNvPr id="32" name="Text 24"/>
          <p:cNvSpPr/>
          <p:nvPr/>
        </p:nvSpPr>
        <p:spPr>
          <a:xfrm>
            <a:off x="7434072" y="3968496"/>
            <a:ext cx="2267712" cy="310896"/>
          </a:xfrm>
          <a:prstGeom prst="rect">
            <a:avLst/>
          </a:prstGeom>
          <a:noFill/>
          <a:ln/>
        </p:spPr>
        <p:txBody>
          <a:bodyPr wrap="square" lIns="0" tIns="0" rIns="0" bIns="0" rtlCol="0" anchor="t">
            <a:normAutofit/>
          </a:bodyPr>
          <a:lstStyle/>
          <a:p>
            <a:pPr algn="l" indent="0" marL="0">
              <a:buNone/>
            </a:pPr>
            <a:r>
              <a:rPr lang="en-US" sz="1050" dirty="0">
                <a:solidFill>
                  <a:srgbClr val="5A6E8C"/>
                </a:solidFill>
                <a:latin typeface="Calibri" pitchFamily="34" charset="0"/>
                <a:ea typeface="Calibri" pitchFamily="34" charset="-122"/>
                <a:cs typeface="Calibri" pitchFamily="34" charset="-120"/>
              </a:rPr>
              <a:t>Anything older than 2 quarters</a:t>
            </a:r>
            <a:endParaRPr lang="en-US" sz="1050" dirty="0"/>
          </a:p>
        </p:txBody>
      </p:sp>
      <p:sp>
        <p:nvSpPr>
          <p:cNvPr id="33" name="Shape 25"/>
          <p:cNvSpPr/>
          <p:nvPr/>
        </p:nvSpPr>
        <p:spPr>
          <a:xfrm>
            <a:off x="640080" y="5989320"/>
            <a:ext cx="10881360" cy="475488"/>
          </a:xfrm>
          <a:prstGeom prst="roundRect">
            <a:avLst>
              <a:gd name="adj" fmla="val 15385"/>
            </a:avLst>
          </a:prstGeom>
          <a:solidFill>
            <a:srgbClr val="FFFFFF"/>
          </a:solidFill>
          <a:ln w="12700">
            <a:solidFill>
              <a:srgbClr val="D9E4F2"/>
            </a:solidFill>
            <a:prstDash val="solid"/>
          </a:ln>
        </p:spPr>
      </p:sp>
      <p:sp>
        <p:nvSpPr>
          <p:cNvPr id="34" name="Shape 26"/>
          <p:cNvSpPr/>
          <p:nvPr/>
        </p:nvSpPr>
        <p:spPr>
          <a:xfrm>
            <a:off x="640080" y="5989320"/>
            <a:ext cx="64008" cy="475488"/>
          </a:xfrm>
          <a:prstGeom prst="rect">
            <a:avLst/>
          </a:prstGeom>
          <a:solidFill>
            <a:srgbClr val="4FC3F7"/>
          </a:solidFill>
          <a:ln w="12700">
            <a:solidFill>
              <a:srgbClr val="4FC3F7"/>
            </a:solidFill>
            <a:prstDash val="solid"/>
          </a:ln>
        </p:spPr>
      </p:sp>
      <p:sp>
        <p:nvSpPr>
          <p:cNvPr id="35" name="Text 27"/>
          <p:cNvSpPr/>
          <p:nvPr/>
        </p:nvSpPr>
        <p:spPr>
          <a:xfrm>
            <a:off x="795528" y="6099048"/>
            <a:ext cx="10561320" cy="228600"/>
          </a:xfrm>
          <a:prstGeom prst="rect">
            <a:avLst/>
          </a:prstGeom>
          <a:noFill/>
          <a:ln/>
        </p:spPr>
        <p:txBody>
          <a:bodyPr wrap="square" lIns="0" tIns="0" rIns="0" bIns="0" rtlCol="0" anchor="t">
            <a:normAutofit/>
          </a:bodyPr>
          <a:lstStyle/>
          <a:p>
            <a:pPr algn="ctr" indent="0" marL="0">
              <a:buNone/>
            </a:pPr>
            <a:r>
              <a:rPr lang="en-US" sz="1150" i="1" dirty="0">
                <a:solidFill>
                  <a:srgbClr val="1E2761"/>
                </a:solidFill>
                <a:latin typeface="Calibri" pitchFamily="34" charset="0"/>
                <a:ea typeface="Calibri" pitchFamily="34" charset="-122"/>
                <a:cs typeface="Calibri" pitchFamily="34" charset="-120"/>
              </a:rPr>
              <a:t>One rule: if it's not in one of these six, it doesn't exist.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The Home page</a:t>
            </a:r>
            <a:endParaRPr lang="en-US" sz="25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9808" y="1417320"/>
            <a:ext cx="310896" cy="310896"/>
          </a:xfrm>
          <a:prstGeom prst="rect">
            <a:avLst/>
          </a:prstGeom>
        </p:spPr>
      </p:pic>
      <p:sp>
        <p:nvSpPr>
          <p:cNvPr id="4" name="Text 1"/>
          <p:cNvSpPr/>
          <p:nvPr/>
        </p:nvSpPr>
        <p:spPr>
          <a:xfrm>
            <a:off x="1188720" y="1435608"/>
            <a:ext cx="2194560" cy="164592"/>
          </a:xfrm>
          <a:prstGeom prst="rect">
            <a:avLst/>
          </a:prstGeom>
          <a:noFill/>
          <a:ln/>
        </p:spPr>
        <p:txBody>
          <a:bodyPr wrap="square" lIns="0" tIns="0" rIns="0" bIns="0" rtlCol="0" anchor="t">
            <a:normAutofit/>
          </a:bodyPr>
          <a:lstStyle/>
          <a:p>
            <a:pPr algn="l" indent="0" marL="0">
              <a:buNone/>
            </a:pPr>
            <a:r>
              <a:rPr lang="en-US" sz="1220" b="1" dirty="0">
                <a:solidFill>
                  <a:srgbClr val="1E2761"/>
                </a:solidFill>
                <a:latin typeface="Calibri" pitchFamily="34" charset="0"/>
                <a:ea typeface="Calibri" pitchFamily="34" charset="-122"/>
                <a:cs typeface="Calibri" pitchFamily="34" charset="-120"/>
              </a:rPr>
              <a:t>Phase Banner</a:t>
            </a:r>
            <a:endParaRPr lang="en-US" sz="1220" dirty="0"/>
          </a:p>
        </p:txBody>
      </p:sp>
      <p:sp>
        <p:nvSpPr>
          <p:cNvPr id="5" name="Text 2"/>
          <p:cNvSpPr/>
          <p:nvPr/>
        </p:nvSpPr>
        <p:spPr>
          <a:xfrm>
            <a:off x="1188720" y="1645920"/>
            <a:ext cx="3977640" cy="237744"/>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Current phase + north star metric. Updated manually at phase gates.</a:t>
            </a:r>
            <a:endParaRPr lang="en-US" sz="104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808" y="2167128"/>
            <a:ext cx="310896" cy="310896"/>
          </a:xfrm>
          <a:prstGeom prst="rect">
            <a:avLst/>
          </a:prstGeom>
        </p:spPr>
      </p:pic>
      <p:sp>
        <p:nvSpPr>
          <p:cNvPr id="7" name="Text 3"/>
          <p:cNvSpPr/>
          <p:nvPr/>
        </p:nvSpPr>
        <p:spPr>
          <a:xfrm>
            <a:off x="1188720" y="2185416"/>
            <a:ext cx="2194560" cy="164592"/>
          </a:xfrm>
          <a:prstGeom prst="rect">
            <a:avLst/>
          </a:prstGeom>
          <a:noFill/>
          <a:ln/>
        </p:spPr>
        <p:txBody>
          <a:bodyPr wrap="square" lIns="0" tIns="0" rIns="0" bIns="0" rtlCol="0" anchor="t">
            <a:normAutofit/>
          </a:bodyPr>
          <a:lstStyle/>
          <a:p>
            <a:pPr algn="l" indent="0" marL="0">
              <a:buNone/>
            </a:pPr>
            <a:r>
              <a:rPr lang="en-US" sz="1220" b="1" dirty="0">
                <a:solidFill>
                  <a:srgbClr val="1E2761"/>
                </a:solidFill>
                <a:latin typeface="Calibri" pitchFamily="34" charset="0"/>
                <a:ea typeface="Calibri" pitchFamily="34" charset="-122"/>
                <a:cs typeface="Calibri" pitchFamily="34" charset="-120"/>
              </a:rPr>
              <a:t>Big 3 This Week</a:t>
            </a:r>
            <a:endParaRPr lang="en-US" sz="1220" dirty="0"/>
          </a:p>
        </p:txBody>
      </p:sp>
      <p:sp>
        <p:nvSpPr>
          <p:cNvPr id="8" name="Text 4"/>
          <p:cNvSpPr/>
          <p:nvPr/>
        </p:nvSpPr>
        <p:spPr>
          <a:xfrm>
            <a:off x="1188720" y="2395728"/>
            <a:ext cx="3977640" cy="237744"/>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Three numbers that tell us if the company is alive and growing.</a:t>
            </a:r>
            <a:endParaRPr lang="en-US" sz="104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9808" y="2916936"/>
            <a:ext cx="310896" cy="310896"/>
          </a:xfrm>
          <a:prstGeom prst="rect">
            <a:avLst/>
          </a:prstGeom>
        </p:spPr>
      </p:pic>
      <p:sp>
        <p:nvSpPr>
          <p:cNvPr id="10" name="Text 5"/>
          <p:cNvSpPr/>
          <p:nvPr/>
        </p:nvSpPr>
        <p:spPr>
          <a:xfrm>
            <a:off x="1188720" y="2935224"/>
            <a:ext cx="2194560" cy="164592"/>
          </a:xfrm>
          <a:prstGeom prst="rect">
            <a:avLst/>
          </a:prstGeom>
          <a:noFill/>
          <a:ln/>
        </p:spPr>
        <p:txBody>
          <a:bodyPr wrap="square" lIns="0" tIns="0" rIns="0" bIns="0" rtlCol="0" anchor="t">
            <a:normAutofit/>
          </a:bodyPr>
          <a:lstStyle/>
          <a:p>
            <a:pPr algn="l" indent="0" marL="0">
              <a:buNone/>
            </a:pPr>
            <a:r>
              <a:rPr lang="en-US" sz="1220" b="1" dirty="0">
                <a:solidFill>
                  <a:srgbClr val="1E2761"/>
                </a:solidFill>
                <a:latin typeface="Calibri" pitchFamily="34" charset="0"/>
                <a:ea typeface="Calibri" pitchFamily="34" charset="-122"/>
                <a:cs typeface="Calibri" pitchFamily="34" charset="-120"/>
              </a:rPr>
              <a:t>Streak Tracker</a:t>
            </a:r>
            <a:endParaRPr lang="en-US" sz="1220" dirty="0"/>
          </a:p>
        </p:txBody>
      </p:sp>
      <p:sp>
        <p:nvSpPr>
          <p:cNvPr id="11" name="Text 6"/>
          <p:cNvSpPr/>
          <p:nvPr/>
        </p:nvSpPr>
        <p:spPr>
          <a:xfrm>
            <a:off x="1188720" y="3145536"/>
            <a:ext cx="3977640" cy="237744"/>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Daily log streak per person. Resets to zero if you miss a day.</a:t>
            </a:r>
            <a:endParaRPr lang="en-US" sz="104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9808" y="3666744"/>
            <a:ext cx="310896" cy="310896"/>
          </a:xfrm>
          <a:prstGeom prst="rect">
            <a:avLst/>
          </a:prstGeom>
        </p:spPr>
      </p:pic>
      <p:sp>
        <p:nvSpPr>
          <p:cNvPr id="13" name="Text 7"/>
          <p:cNvSpPr/>
          <p:nvPr/>
        </p:nvSpPr>
        <p:spPr>
          <a:xfrm>
            <a:off x="1188720" y="3685032"/>
            <a:ext cx="2194560" cy="164592"/>
          </a:xfrm>
          <a:prstGeom prst="rect">
            <a:avLst/>
          </a:prstGeom>
          <a:noFill/>
          <a:ln/>
        </p:spPr>
        <p:txBody>
          <a:bodyPr wrap="square" lIns="0" tIns="0" rIns="0" bIns="0" rtlCol="0" anchor="t">
            <a:normAutofit/>
          </a:bodyPr>
          <a:lstStyle/>
          <a:p>
            <a:pPr algn="l" indent="0" marL="0">
              <a:buNone/>
            </a:pPr>
            <a:r>
              <a:rPr lang="en-US" sz="1220" b="1" dirty="0">
                <a:solidFill>
                  <a:srgbClr val="1E2761"/>
                </a:solidFill>
                <a:latin typeface="Calibri" pitchFamily="34" charset="0"/>
                <a:ea typeface="Calibri" pitchFamily="34" charset="-122"/>
                <a:cs typeface="Calibri" pitchFamily="34" charset="-120"/>
              </a:rPr>
              <a:t>Company Calendar</a:t>
            </a:r>
            <a:endParaRPr lang="en-US" sz="1220" dirty="0"/>
          </a:p>
        </p:txBody>
      </p:sp>
      <p:sp>
        <p:nvSpPr>
          <p:cNvPr id="14" name="Text 8"/>
          <p:cNvSpPr/>
          <p:nvPr/>
        </p:nvSpPr>
        <p:spPr>
          <a:xfrm>
            <a:off x="1188720" y="3895344"/>
            <a:ext cx="3977640" cy="237744"/>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2-week rolling view. Only company-wide events.</a:t>
            </a:r>
            <a:endParaRPr lang="en-US" sz="104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9808" y="4416552"/>
            <a:ext cx="310896" cy="310896"/>
          </a:xfrm>
          <a:prstGeom prst="rect">
            <a:avLst/>
          </a:prstGeom>
        </p:spPr>
      </p:pic>
      <p:sp>
        <p:nvSpPr>
          <p:cNvPr id="16" name="Text 9"/>
          <p:cNvSpPr/>
          <p:nvPr/>
        </p:nvSpPr>
        <p:spPr>
          <a:xfrm>
            <a:off x="1188720" y="4434840"/>
            <a:ext cx="2194560" cy="164592"/>
          </a:xfrm>
          <a:prstGeom prst="rect">
            <a:avLst/>
          </a:prstGeom>
          <a:noFill/>
          <a:ln/>
        </p:spPr>
        <p:txBody>
          <a:bodyPr wrap="square" lIns="0" tIns="0" rIns="0" bIns="0" rtlCol="0" anchor="t">
            <a:normAutofit/>
          </a:bodyPr>
          <a:lstStyle/>
          <a:p>
            <a:pPr algn="l" indent="0" marL="0">
              <a:buNone/>
            </a:pPr>
            <a:r>
              <a:rPr lang="en-US" sz="1220" b="1" dirty="0">
                <a:solidFill>
                  <a:srgbClr val="1E2761"/>
                </a:solidFill>
                <a:latin typeface="Calibri" pitchFamily="34" charset="0"/>
                <a:ea typeface="Calibri" pitchFamily="34" charset="-122"/>
                <a:cs typeface="Calibri" pitchFamily="34" charset="-120"/>
              </a:rPr>
              <a:t>Quick Links</a:t>
            </a:r>
            <a:endParaRPr lang="en-US" sz="1220" dirty="0"/>
          </a:p>
        </p:txBody>
      </p:sp>
      <p:sp>
        <p:nvSpPr>
          <p:cNvPr id="17" name="Text 10"/>
          <p:cNvSpPr/>
          <p:nvPr/>
        </p:nvSpPr>
        <p:spPr>
          <a:xfrm>
            <a:off x="1188720" y="4645152"/>
            <a:ext cx="3977640" cy="237744"/>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Sprint card, Decision Log, PoC Pipeline, latest sync.</a:t>
            </a:r>
            <a:endParaRPr lang="en-US" sz="1040" dirty="0"/>
          </a:p>
        </p:txBody>
      </p:sp>
      <p:sp>
        <p:nvSpPr>
          <p:cNvPr id="18" name="Shape 11"/>
          <p:cNvSpPr/>
          <p:nvPr/>
        </p:nvSpPr>
        <p:spPr>
          <a:xfrm>
            <a:off x="6400800" y="1234440"/>
            <a:ext cx="4892040" cy="4937760"/>
          </a:xfrm>
          <a:prstGeom prst="roundRect">
            <a:avLst>
              <a:gd name="adj" fmla="val 1495"/>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9" name="Shape 12"/>
          <p:cNvSpPr/>
          <p:nvPr/>
        </p:nvSpPr>
        <p:spPr>
          <a:xfrm>
            <a:off x="6400800" y="1234440"/>
            <a:ext cx="64008" cy="4937760"/>
          </a:xfrm>
          <a:prstGeom prst="rect">
            <a:avLst/>
          </a:prstGeom>
          <a:solidFill>
            <a:srgbClr val="4FC3F7"/>
          </a:solidFill>
          <a:ln w="12700">
            <a:solidFill>
              <a:srgbClr val="4FC3F7"/>
            </a:solidFill>
            <a:prstDash val="solid"/>
          </a:ln>
        </p:spPr>
      </p:sp>
      <p:sp>
        <p:nvSpPr>
          <p:cNvPr id="20" name="Shape 13"/>
          <p:cNvSpPr/>
          <p:nvPr/>
        </p:nvSpPr>
        <p:spPr>
          <a:xfrm>
            <a:off x="6720840" y="1572768"/>
            <a:ext cx="4251960" cy="530352"/>
          </a:xfrm>
          <a:prstGeom prst="roundRect">
            <a:avLst/>
          </a:prstGeom>
          <a:solidFill>
            <a:srgbClr val="1E2761"/>
          </a:solidFill>
          <a:ln w="12700">
            <a:solidFill>
              <a:srgbClr val="1E2761"/>
            </a:solidFill>
            <a:prstDash val="solid"/>
          </a:ln>
        </p:spPr>
      </p:sp>
      <p:sp>
        <p:nvSpPr>
          <p:cNvPr id="21" name="Text 14"/>
          <p:cNvSpPr/>
          <p:nvPr/>
        </p:nvSpPr>
        <p:spPr>
          <a:xfrm>
            <a:off x="6876288" y="1755648"/>
            <a:ext cx="1645920" cy="137160"/>
          </a:xfrm>
          <a:prstGeom prst="rect">
            <a:avLst/>
          </a:prstGeom>
          <a:noFill/>
          <a:ln/>
        </p:spPr>
        <p:txBody>
          <a:bodyPr wrap="square" lIns="0" tIns="0" rIns="0" bIns="0" rtlCol="0" anchor="t">
            <a:normAutofit/>
          </a:bodyPr>
          <a:lstStyle/>
          <a:p>
            <a:pPr algn="l" indent="0" marL="0">
              <a:buNone/>
            </a:pPr>
            <a:r>
              <a:rPr lang="en-US" sz="1020" b="1" dirty="0">
                <a:solidFill>
                  <a:srgbClr val="FFFFFF"/>
                </a:solidFill>
                <a:latin typeface="Calibri" pitchFamily="34" charset="0"/>
                <a:ea typeface="Calibri" pitchFamily="34" charset="-122"/>
                <a:cs typeface="Calibri" pitchFamily="34" charset="-120"/>
              </a:rPr>
              <a:t>Phase Banner</a:t>
            </a:r>
            <a:endParaRPr lang="en-US" sz="1020" dirty="0"/>
          </a:p>
        </p:txBody>
      </p:sp>
      <p:sp>
        <p:nvSpPr>
          <p:cNvPr id="22" name="Shape 15"/>
          <p:cNvSpPr/>
          <p:nvPr/>
        </p:nvSpPr>
        <p:spPr>
          <a:xfrm>
            <a:off x="6720840" y="2331720"/>
            <a:ext cx="1143000" cy="713232"/>
          </a:xfrm>
          <a:prstGeom prst="roundRect">
            <a:avLst/>
          </a:prstGeom>
          <a:solidFill>
            <a:srgbClr val="E8EDF4"/>
          </a:solidFill>
          <a:ln w="12700">
            <a:solidFill>
              <a:srgbClr val="E8EDF4"/>
            </a:solidFill>
            <a:prstDash val="solid"/>
          </a:ln>
        </p:spPr>
      </p:sp>
      <p:sp>
        <p:nvSpPr>
          <p:cNvPr id="23" name="Text 16"/>
          <p:cNvSpPr/>
          <p:nvPr/>
        </p:nvSpPr>
        <p:spPr>
          <a:xfrm>
            <a:off x="6720840" y="2596896"/>
            <a:ext cx="1143000" cy="137160"/>
          </a:xfrm>
          <a:prstGeom prst="rect">
            <a:avLst/>
          </a:prstGeom>
          <a:noFill/>
          <a:ln/>
        </p:spPr>
        <p:txBody>
          <a:bodyPr wrap="square" lIns="0" tIns="0" rIns="0" bIns="0" rtlCol="0" anchor="t">
            <a:normAutofit/>
          </a:bodyPr>
          <a:lstStyle/>
          <a:p>
            <a:pPr algn="ctr" indent="0" marL="0">
              <a:buNone/>
            </a:pPr>
            <a:r>
              <a:rPr lang="en-US" sz="950" b="1" dirty="0">
                <a:solidFill>
                  <a:srgbClr val="5A6E8C"/>
                </a:solidFill>
                <a:latin typeface="Calibri" pitchFamily="34" charset="0"/>
                <a:ea typeface="Calibri" pitchFamily="34" charset="-122"/>
                <a:cs typeface="Calibri" pitchFamily="34" charset="-120"/>
              </a:rPr>
              <a:t>Metric</a:t>
            </a:r>
            <a:endParaRPr lang="en-US" sz="950" dirty="0"/>
          </a:p>
        </p:txBody>
      </p:sp>
      <p:sp>
        <p:nvSpPr>
          <p:cNvPr id="24" name="Shape 17"/>
          <p:cNvSpPr/>
          <p:nvPr/>
        </p:nvSpPr>
        <p:spPr>
          <a:xfrm>
            <a:off x="8138160" y="2331720"/>
            <a:ext cx="1143000" cy="713232"/>
          </a:xfrm>
          <a:prstGeom prst="roundRect">
            <a:avLst/>
          </a:prstGeom>
          <a:solidFill>
            <a:srgbClr val="E8EDF4"/>
          </a:solidFill>
          <a:ln w="12700">
            <a:solidFill>
              <a:srgbClr val="E8EDF4"/>
            </a:solidFill>
            <a:prstDash val="solid"/>
          </a:ln>
        </p:spPr>
      </p:sp>
      <p:sp>
        <p:nvSpPr>
          <p:cNvPr id="25" name="Text 18"/>
          <p:cNvSpPr/>
          <p:nvPr/>
        </p:nvSpPr>
        <p:spPr>
          <a:xfrm>
            <a:off x="8138160" y="2596896"/>
            <a:ext cx="1143000" cy="137160"/>
          </a:xfrm>
          <a:prstGeom prst="rect">
            <a:avLst/>
          </a:prstGeom>
          <a:noFill/>
          <a:ln/>
        </p:spPr>
        <p:txBody>
          <a:bodyPr wrap="square" lIns="0" tIns="0" rIns="0" bIns="0" rtlCol="0" anchor="t">
            <a:normAutofit/>
          </a:bodyPr>
          <a:lstStyle/>
          <a:p>
            <a:pPr algn="ctr" indent="0" marL="0">
              <a:buNone/>
            </a:pPr>
            <a:r>
              <a:rPr lang="en-US" sz="950" b="1" dirty="0">
                <a:solidFill>
                  <a:srgbClr val="5A6E8C"/>
                </a:solidFill>
                <a:latin typeface="Calibri" pitchFamily="34" charset="0"/>
                <a:ea typeface="Calibri" pitchFamily="34" charset="-122"/>
                <a:cs typeface="Calibri" pitchFamily="34" charset="-120"/>
              </a:rPr>
              <a:t>Metric</a:t>
            </a:r>
            <a:endParaRPr lang="en-US" sz="950" dirty="0"/>
          </a:p>
        </p:txBody>
      </p:sp>
      <p:sp>
        <p:nvSpPr>
          <p:cNvPr id="26" name="Shape 19"/>
          <p:cNvSpPr/>
          <p:nvPr/>
        </p:nvSpPr>
        <p:spPr>
          <a:xfrm>
            <a:off x="9555480" y="2331720"/>
            <a:ext cx="1143000" cy="713232"/>
          </a:xfrm>
          <a:prstGeom prst="roundRect">
            <a:avLst/>
          </a:prstGeom>
          <a:solidFill>
            <a:srgbClr val="E8EDF4"/>
          </a:solidFill>
          <a:ln w="12700">
            <a:solidFill>
              <a:srgbClr val="E8EDF4"/>
            </a:solidFill>
            <a:prstDash val="solid"/>
          </a:ln>
        </p:spPr>
      </p:sp>
      <p:sp>
        <p:nvSpPr>
          <p:cNvPr id="27" name="Text 20"/>
          <p:cNvSpPr/>
          <p:nvPr/>
        </p:nvSpPr>
        <p:spPr>
          <a:xfrm>
            <a:off x="9555480" y="2596896"/>
            <a:ext cx="1143000" cy="137160"/>
          </a:xfrm>
          <a:prstGeom prst="rect">
            <a:avLst/>
          </a:prstGeom>
          <a:noFill/>
          <a:ln/>
        </p:spPr>
        <p:txBody>
          <a:bodyPr wrap="square" lIns="0" tIns="0" rIns="0" bIns="0" rtlCol="0" anchor="t">
            <a:normAutofit/>
          </a:bodyPr>
          <a:lstStyle/>
          <a:p>
            <a:pPr algn="ctr" indent="0" marL="0">
              <a:buNone/>
            </a:pPr>
            <a:r>
              <a:rPr lang="en-US" sz="950" b="1" dirty="0">
                <a:solidFill>
                  <a:srgbClr val="5A6E8C"/>
                </a:solidFill>
                <a:latin typeface="Calibri" pitchFamily="34" charset="0"/>
                <a:ea typeface="Calibri" pitchFamily="34" charset="-122"/>
                <a:cs typeface="Calibri" pitchFamily="34" charset="-120"/>
              </a:rPr>
              <a:t>Metric</a:t>
            </a:r>
            <a:endParaRPr lang="en-US" sz="950" dirty="0"/>
          </a:p>
        </p:txBody>
      </p:sp>
      <p:sp>
        <p:nvSpPr>
          <p:cNvPr id="28" name="Shape 21"/>
          <p:cNvSpPr/>
          <p:nvPr/>
        </p:nvSpPr>
        <p:spPr>
          <a:xfrm>
            <a:off x="6720840" y="3310128"/>
            <a:ext cx="4251960" cy="841248"/>
          </a:xfrm>
          <a:prstGeom prst="roundRect">
            <a:avLst/>
          </a:prstGeom>
          <a:solidFill>
            <a:srgbClr val="EFF4FA"/>
          </a:solidFill>
          <a:ln w="12700">
            <a:solidFill>
              <a:srgbClr val="EFF4FA"/>
            </a:solidFill>
            <a:prstDash val="solid"/>
          </a:ln>
        </p:spPr>
      </p:sp>
      <p:sp>
        <p:nvSpPr>
          <p:cNvPr id="29" name="Text 22"/>
          <p:cNvSpPr/>
          <p:nvPr/>
        </p:nvSpPr>
        <p:spPr>
          <a:xfrm>
            <a:off x="6903720" y="3456432"/>
            <a:ext cx="1463040" cy="137160"/>
          </a:xfrm>
          <a:prstGeom prst="rect">
            <a:avLst/>
          </a:prstGeom>
          <a:noFill/>
          <a:ln/>
        </p:spPr>
        <p:txBody>
          <a:bodyPr wrap="square" lIns="0" tIns="0" rIns="0" bIns="0" rtlCol="0" anchor="t">
            <a:normAutofit/>
          </a:bodyPr>
          <a:lstStyle/>
          <a:p>
            <a:pPr algn="l" indent="0" marL="0">
              <a:buNone/>
            </a:pPr>
            <a:r>
              <a:rPr lang="en-US" sz="1000" b="1" dirty="0">
                <a:solidFill>
                  <a:srgbClr val="1E2761"/>
                </a:solidFill>
                <a:latin typeface="Calibri" pitchFamily="34" charset="0"/>
                <a:ea typeface="Calibri" pitchFamily="34" charset="-122"/>
                <a:cs typeface="Calibri" pitchFamily="34" charset="-120"/>
              </a:rPr>
              <a:t>Streak Tracker</a:t>
            </a:r>
            <a:endParaRPr lang="en-US" sz="1000" dirty="0"/>
          </a:p>
        </p:txBody>
      </p:sp>
      <p:sp>
        <p:nvSpPr>
          <p:cNvPr id="30" name="Text 23"/>
          <p:cNvSpPr/>
          <p:nvPr/>
        </p:nvSpPr>
        <p:spPr>
          <a:xfrm>
            <a:off x="6903720" y="3675888"/>
            <a:ext cx="731520" cy="365760"/>
          </a:xfrm>
          <a:prstGeom prst="rect">
            <a:avLst/>
          </a:prstGeom>
          <a:noFill/>
          <a:ln/>
        </p:spPr>
        <p:txBody>
          <a:bodyPr wrap="square" lIns="0" tIns="0" rIns="0" bIns="0" rtlCol="0" anchor="t">
            <a:normAutofit/>
          </a:bodyPr>
          <a:lstStyle/>
          <a:p>
            <a:pPr algn="l" indent="0" marL="0">
              <a:buNone/>
            </a:pPr>
            <a:r>
              <a:rPr lang="en-US" sz="950" dirty="0">
                <a:solidFill>
                  <a:srgbClr val="5A6E8C"/>
                </a:solidFill>
                <a:latin typeface="Calibri" pitchFamily="34" charset="0"/>
                <a:ea typeface="Calibri" pitchFamily="34" charset="-122"/>
                <a:cs typeface="Calibri" pitchFamily="34" charset="-120"/>
              </a:rPr>
              <a:t>Oriol</a:t>
            </a:r>
            <a:endParaRPr lang="en-US" sz="950" dirty="0"/>
          </a:p>
          <a:p>
            <a:pPr algn="l" indent="0" marL="0">
              <a:buNone/>
            </a:pPr>
            <a:r>
              <a:rPr lang="en-US" sz="950" dirty="0">
                <a:solidFill>
                  <a:srgbClr val="5A6E8C"/>
                </a:solidFill>
                <a:latin typeface="Calibri" pitchFamily="34" charset="0"/>
                <a:ea typeface="Calibri" pitchFamily="34" charset="-122"/>
                <a:cs typeface="Calibri" pitchFamily="34" charset="-120"/>
              </a:rPr>
              <a:t>Arnau</a:t>
            </a:r>
            <a:endParaRPr lang="en-US" sz="950" dirty="0"/>
          </a:p>
          <a:p>
            <a:pPr algn="l" indent="0" marL="0">
              <a:buNone/>
            </a:pPr>
            <a:r>
              <a:rPr lang="en-US" sz="950" dirty="0">
                <a:solidFill>
                  <a:srgbClr val="5A6E8C"/>
                </a:solidFill>
                <a:latin typeface="Calibri" pitchFamily="34" charset="0"/>
                <a:ea typeface="Calibri" pitchFamily="34" charset="-122"/>
                <a:cs typeface="Calibri" pitchFamily="34" charset="-120"/>
              </a:rPr>
              <a:t>Adam</a:t>
            </a:r>
            <a:endParaRPr lang="en-US" sz="950" dirty="0"/>
          </a:p>
        </p:txBody>
      </p:sp>
      <p:sp>
        <p:nvSpPr>
          <p:cNvPr id="31" name="Text 24"/>
          <p:cNvSpPr/>
          <p:nvPr/>
        </p:nvSpPr>
        <p:spPr>
          <a:xfrm>
            <a:off x="10287000" y="3675888"/>
            <a:ext cx="274320" cy="365760"/>
          </a:xfrm>
          <a:prstGeom prst="rect">
            <a:avLst/>
          </a:prstGeom>
          <a:noFill/>
          <a:ln/>
        </p:spPr>
        <p:txBody>
          <a:bodyPr wrap="square" lIns="0" tIns="0" rIns="0" bIns="0" rtlCol="0" anchor="t">
            <a:normAutofit/>
          </a:bodyPr>
          <a:lstStyle/>
          <a:p>
            <a:pPr algn="r" indent="0" marL="0">
              <a:buNone/>
            </a:pPr>
            <a:r>
              <a:rPr lang="en-US" sz="950" dirty="0">
                <a:solidFill>
                  <a:srgbClr val="1E2761"/>
                </a:solidFill>
                <a:latin typeface="Calibri" pitchFamily="34" charset="0"/>
                <a:ea typeface="Calibri" pitchFamily="34" charset="-122"/>
                <a:cs typeface="Calibri" pitchFamily="34" charset="-120"/>
              </a:rPr>
              <a:t>0</a:t>
            </a:r>
            <a:endParaRPr lang="en-US" sz="950" dirty="0"/>
          </a:p>
          <a:p>
            <a:pPr algn="r" indent="0" marL="0">
              <a:buNone/>
            </a:pPr>
            <a:r>
              <a:rPr lang="en-US" sz="950" dirty="0">
                <a:solidFill>
                  <a:srgbClr val="1E2761"/>
                </a:solidFill>
                <a:latin typeface="Calibri" pitchFamily="34" charset="0"/>
                <a:ea typeface="Calibri" pitchFamily="34" charset="-122"/>
                <a:cs typeface="Calibri" pitchFamily="34" charset="-120"/>
              </a:rPr>
              <a:t>0</a:t>
            </a:r>
            <a:endParaRPr lang="en-US" sz="950" dirty="0"/>
          </a:p>
          <a:p>
            <a:pPr algn="r" indent="0" marL="0">
              <a:buNone/>
            </a:pPr>
            <a:r>
              <a:rPr lang="en-US" sz="950" dirty="0">
                <a:solidFill>
                  <a:srgbClr val="1E2761"/>
                </a:solidFill>
                <a:latin typeface="Calibri" pitchFamily="34" charset="0"/>
                <a:ea typeface="Calibri" pitchFamily="34" charset="-122"/>
                <a:cs typeface="Calibri" pitchFamily="34" charset="-120"/>
              </a:rPr>
              <a:t>0</a:t>
            </a:r>
            <a:endParaRPr lang="en-US" sz="950" dirty="0"/>
          </a:p>
        </p:txBody>
      </p:sp>
      <p:sp>
        <p:nvSpPr>
          <p:cNvPr id="32" name="Shape 25"/>
          <p:cNvSpPr/>
          <p:nvPr/>
        </p:nvSpPr>
        <p:spPr>
          <a:xfrm>
            <a:off x="6720840" y="4389120"/>
            <a:ext cx="4251960" cy="1005840"/>
          </a:xfrm>
          <a:prstGeom prst="roundRect">
            <a:avLst/>
          </a:prstGeom>
          <a:solidFill>
            <a:srgbClr val="E8EDF4"/>
          </a:solidFill>
          <a:ln w="12700">
            <a:solidFill>
              <a:srgbClr val="E8EDF4"/>
            </a:solidFill>
            <a:prstDash val="solid"/>
          </a:ln>
        </p:spPr>
      </p:sp>
      <p:sp>
        <p:nvSpPr>
          <p:cNvPr id="33" name="Text 26"/>
          <p:cNvSpPr/>
          <p:nvPr/>
        </p:nvSpPr>
        <p:spPr>
          <a:xfrm>
            <a:off x="6903720" y="4535424"/>
            <a:ext cx="1325880" cy="137160"/>
          </a:xfrm>
          <a:prstGeom prst="rect">
            <a:avLst/>
          </a:prstGeom>
          <a:noFill/>
          <a:ln/>
        </p:spPr>
        <p:txBody>
          <a:bodyPr wrap="square" lIns="0" tIns="0" rIns="0" bIns="0" rtlCol="0" anchor="t">
            <a:normAutofit/>
          </a:bodyPr>
          <a:lstStyle/>
          <a:p>
            <a:pPr algn="l" indent="0" marL="0">
              <a:buNone/>
            </a:pPr>
            <a:r>
              <a:rPr lang="en-US" sz="1000" b="1" dirty="0">
                <a:solidFill>
                  <a:srgbClr val="1E2761"/>
                </a:solidFill>
                <a:latin typeface="Calibri" pitchFamily="34" charset="0"/>
                <a:ea typeface="Calibri" pitchFamily="34" charset="-122"/>
                <a:cs typeface="Calibri" pitchFamily="34" charset="-120"/>
              </a:rPr>
              <a:t>Company Calendar</a:t>
            </a:r>
            <a:endParaRPr lang="en-US" sz="1000" dirty="0"/>
          </a:p>
        </p:txBody>
      </p:sp>
      <p:sp>
        <p:nvSpPr>
          <p:cNvPr id="34" name="Shape 27"/>
          <p:cNvSpPr/>
          <p:nvPr/>
        </p:nvSpPr>
        <p:spPr>
          <a:xfrm>
            <a:off x="6949440" y="4736592"/>
            <a:ext cx="438912" cy="73152"/>
          </a:xfrm>
          <a:prstGeom prst="rect">
            <a:avLst/>
          </a:prstGeom>
          <a:solidFill>
            <a:srgbClr val="D2DCEB"/>
          </a:solidFill>
          <a:ln w="12700">
            <a:solidFill>
              <a:srgbClr val="D2DCEB"/>
            </a:solidFill>
            <a:prstDash val="solid"/>
          </a:ln>
        </p:spPr>
      </p:sp>
      <p:sp>
        <p:nvSpPr>
          <p:cNvPr id="35" name="Shape 28"/>
          <p:cNvSpPr/>
          <p:nvPr/>
        </p:nvSpPr>
        <p:spPr>
          <a:xfrm>
            <a:off x="7461504" y="4736592"/>
            <a:ext cx="438912" cy="73152"/>
          </a:xfrm>
          <a:prstGeom prst="rect">
            <a:avLst/>
          </a:prstGeom>
          <a:solidFill>
            <a:srgbClr val="D2DCEB"/>
          </a:solidFill>
          <a:ln w="12700">
            <a:solidFill>
              <a:srgbClr val="D2DCEB"/>
            </a:solidFill>
            <a:prstDash val="solid"/>
          </a:ln>
        </p:spPr>
      </p:sp>
      <p:sp>
        <p:nvSpPr>
          <p:cNvPr id="36" name="Shape 29"/>
          <p:cNvSpPr/>
          <p:nvPr/>
        </p:nvSpPr>
        <p:spPr>
          <a:xfrm>
            <a:off x="7973568" y="4736592"/>
            <a:ext cx="438912" cy="73152"/>
          </a:xfrm>
          <a:prstGeom prst="rect">
            <a:avLst/>
          </a:prstGeom>
          <a:solidFill>
            <a:srgbClr val="D2DCEB"/>
          </a:solidFill>
          <a:ln w="12700">
            <a:solidFill>
              <a:srgbClr val="D2DCEB"/>
            </a:solidFill>
            <a:prstDash val="solid"/>
          </a:ln>
        </p:spPr>
      </p:sp>
      <p:sp>
        <p:nvSpPr>
          <p:cNvPr id="37" name="Shape 30"/>
          <p:cNvSpPr/>
          <p:nvPr/>
        </p:nvSpPr>
        <p:spPr>
          <a:xfrm>
            <a:off x="8485632" y="4736592"/>
            <a:ext cx="438912" cy="73152"/>
          </a:xfrm>
          <a:prstGeom prst="rect">
            <a:avLst/>
          </a:prstGeom>
          <a:solidFill>
            <a:srgbClr val="D2DCEB"/>
          </a:solidFill>
          <a:ln w="12700">
            <a:solidFill>
              <a:srgbClr val="D2DCEB"/>
            </a:solidFill>
            <a:prstDash val="solid"/>
          </a:ln>
        </p:spPr>
      </p:sp>
      <p:sp>
        <p:nvSpPr>
          <p:cNvPr id="38" name="Shape 31"/>
          <p:cNvSpPr/>
          <p:nvPr/>
        </p:nvSpPr>
        <p:spPr>
          <a:xfrm>
            <a:off x="8997696" y="4736592"/>
            <a:ext cx="438912" cy="73152"/>
          </a:xfrm>
          <a:prstGeom prst="rect">
            <a:avLst/>
          </a:prstGeom>
          <a:solidFill>
            <a:srgbClr val="D2DCEB"/>
          </a:solidFill>
          <a:ln w="12700">
            <a:solidFill>
              <a:srgbClr val="D2DCEB"/>
            </a:solidFill>
            <a:prstDash val="solid"/>
          </a:ln>
        </p:spPr>
      </p:sp>
      <p:sp>
        <p:nvSpPr>
          <p:cNvPr id="39" name="Shape 32"/>
          <p:cNvSpPr/>
          <p:nvPr/>
        </p:nvSpPr>
        <p:spPr>
          <a:xfrm>
            <a:off x="9509760" y="4736592"/>
            <a:ext cx="438912" cy="73152"/>
          </a:xfrm>
          <a:prstGeom prst="rect">
            <a:avLst/>
          </a:prstGeom>
          <a:solidFill>
            <a:srgbClr val="D2DCEB"/>
          </a:solidFill>
          <a:ln w="12700">
            <a:solidFill>
              <a:srgbClr val="D2DCEB"/>
            </a:solidFill>
            <a:prstDash val="solid"/>
          </a:ln>
        </p:spPr>
      </p:sp>
      <p:sp>
        <p:nvSpPr>
          <p:cNvPr id="40" name="Shape 33"/>
          <p:cNvSpPr/>
          <p:nvPr/>
        </p:nvSpPr>
        <p:spPr>
          <a:xfrm>
            <a:off x="10021824" y="4736592"/>
            <a:ext cx="438912" cy="73152"/>
          </a:xfrm>
          <a:prstGeom prst="rect">
            <a:avLst/>
          </a:prstGeom>
          <a:solidFill>
            <a:srgbClr val="D2DCEB"/>
          </a:solidFill>
          <a:ln w="12700">
            <a:solidFill>
              <a:srgbClr val="D2DCEB"/>
            </a:solidFill>
            <a:prstDash val="solid"/>
          </a:ln>
        </p:spPr>
      </p:sp>
      <p:sp>
        <p:nvSpPr>
          <p:cNvPr id="41" name="Shape 34"/>
          <p:cNvSpPr/>
          <p:nvPr/>
        </p:nvSpPr>
        <p:spPr>
          <a:xfrm>
            <a:off x="6949440" y="4846320"/>
            <a:ext cx="438912" cy="73152"/>
          </a:xfrm>
          <a:prstGeom prst="rect">
            <a:avLst/>
          </a:prstGeom>
          <a:solidFill>
            <a:srgbClr val="D2DCEB"/>
          </a:solidFill>
          <a:ln w="12700">
            <a:solidFill>
              <a:srgbClr val="D2DCEB"/>
            </a:solidFill>
            <a:prstDash val="solid"/>
          </a:ln>
        </p:spPr>
      </p:sp>
      <p:sp>
        <p:nvSpPr>
          <p:cNvPr id="42" name="Shape 35"/>
          <p:cNvSpPr/>
          <p:nvPr/>
        </p:nvSpPr>
        <p:spPr>
          <a:xfrm>
            <a:off x="7461504" y="4846320"/>
            <a:ext cx="438912" cy="73152"/>
          </a:xfrm>
          <a:prstGeom prst="rect">
            <a:avLst/>
          </a:prstGeom>
          <a:solidFill>
            <a:srgbClr val="D2DCEB"/>
          </a:solidFill>
          <a:ln w="12700">
            <a:solidFill>
              <a:srgbClr val="D2DCEB"/>
            </a:solidFill>
            <a:prstDash val="solid"/>
          </a:ln>
        </p:spPr>
      </p:sp>
      <p:sp>
        <p:nvSpPr>
          <p:cNvPr id="43" name="Shape 36"/>
          <p:cNvSpPr/>
          <p:nvPr/>
        </p:nvSpPr>
        <p:spPr>
          <a:xfrm>
            <a:off x="7973568" y="4846320"/>
            <a:ext cx="438912" cy="73152"/>
          </a:xfrm>
          <a:prstGeom prst="rect">
            <a:avLst/>
          </a:prstGeom>
          <a:solidFill>
            <a:srgbClr val="D2DCEB"/>
          </a:solidFill>
          <a:ln w="12700">
            <a:solidFill>
              <a:srgbClr val="D2DCEB"/>
            </a:solidFill>
            <a:prstDash val="solid"/>
          </a:ln>
        </p:spPr>
      </p:sp>
      <p:sp>
        <p:nvSpPr>
          <p:cNvPr id="44" name="Shape 37"/>
          <p:cNvSpPr/>
          <p:nvPr/>
        </p:nvSpPr>
        <p:spPr>
          <a:xfrm>
            <a:off x="8485632" y="4846320"/>
            <a:ext cx="438912" cy="73152"/>
          </a:xfrm>
          <a:prstGeom prst="rect">
            <a:avLst/>
          </a:prstGeom>
          <a:solidFill>
            <a:srgbClr val="D2DCEB"/>
          </a:solidFill>
          <a:ln w="12700">
            <a:solidFill>
              <a:srgbClr val="D2DCEB"/>
            </a:solidFill>
            <a:prstDash val="solid"/>
          </a:ln>
        </p:spPr>
      </p:sp>
      <p:sp>
        <p:nvSpPr>
          <p:cNvPr id="45" name="Shape 38"/>
          <p:cNvSpPr/>
          <p:nvPr/>
        </p:nvSpPr>
        <p:spPr>
          <a:xfrm>
            <a:off x="8997696" y="4846320"/>
            <a:ext cx="438912" cy="73152"/>
          </a:xfrm>
          <a:prstGeom prst="rect">
            <a:avLst/>
          </a:prstGeom>
          <a:solidFill>
            <a:srgbClr val="D2DCEB"/>
          </a:solidFill>
          <a:ln w="12700">
            <a:solidFill>
              <a:srgbClr val="D2DCEB"/>
            </a:solidFill>
            <a:prstDash val="solid"/>
          </a:ln>
        </p:spPr>
      </p:sp>
      <p:sp>
        <p:nvSpPr>
          <p:cNvPr id="46" name="Shape 39"/>
          <p:cNvSpPr/>
          <p:nvPr/>
        </p:nvSpPr>
        <p:spPr>
          <a:xfrm>
            <a:off x="9509760" y="4846320"/>
            <a:ext cx="438912" cy="73152"/>
          </a:xfrm>
          <a:prstGeom prst="rect">
            <a:avLst/>
          </a:prstGeom>
          <a:solidFill>
            <a:srgbClr val="D2DCEB"/>
          </a:solidFill>
          <a:ln w="12700">
            <a:solidFill>
              <a:srgbClr val="D2DCEB"/>
            </a:solidFill>
            <a:prstDash val="solid"/>
          </a:ln>
        </p:spPr>
      </p:sp>
      <p:sp>
        <p:nvSpPr>
          <p:cNvPr id="47" name="Shape 40"/>
          <p:cNvSpPr/>
          <p:nvPr/>
        </p:nvSpPr>
        <p:spPr>
          <a:xfrm>
            <a:off x="10021824" y="4846320"/>
            <a:ext cx="438912" cy="73152"/>
          </a:xfrm>
          <a:prstGeom prst="rect">
            <a:avLst/>
          </a:prstGeom>
          <a:solidFill>
            <a:srgbClr val="D2DCEB"/>
          </a:solidFill>
          <a:ln w="12700">
            <a:solidFill>
              <a:srgbClr val="D2DCEB"/>
            </a:solidFill>
            <a:prstDash val="solid"/>
          </a:ln>
        </p:spPr>
      </p:sp>
      <p:sp>
        <p:nvSpPr>
          <p:cNvPr id="48" name="Shape 41"/>
          <p:cNvSpPr/>
          <p:nvPr/>
        </p:nvSpPr>
        <p:spPr>
          <a:xfrm>
            <a:off x="6949440" y="4956048"/>
            <a:ext cx="438912" cy="73152"/>
          </a:xfrm>
          <a:prstGeom prst="rect">
            <a:avLst/>
          </a:prstGeom>
          <a:solidFill>
            <a:srgbClr val="D2DCEB"/>
          </a:solidFill>
          <a:ln w="12700">
            <a:solidFill>
              <a:srgbClr val="D2DCEB"/>
            </a:solidFill>
            <a:prstDash val="solid"/>
          </a:ln>
        </p:spPr>
      </p:sp>
      <p:sp>
        <p:nvSpPr>
          <p:cNvPr id="49" name="Shape 42"/>
          <p:cNvSpPr/>
          <p:nvPr/>
        </p:nvSpPr>
        <p:spPr>
          <a:xfrm>
            <a:off x="7461504" y="4956048"/>
            <a:ext cx="438912" cy="73152"/>
          </a:xfrm>
          <a:prstGeom prst="rect">
            <a:avLst/>
          </a:prstGeom>
          <a:solidFill>
            <a:srgbClr val="D2DCEB"/>
          </a:solidFill>
          <a:ln w="12700">
            <a:solidFill>
              <a:srgbClr val="D2DCEB"/>
            </a:solidFill>
            <a:prstDash val="solid"/>
          </a:ln>
        </p:spPr>
      </p:sp>
      <p:sp>
        <p:nvSpPr>
          <p:cNvPr id="50" name="Shape 43"/>
          <p:cNvSpPr/>
          <p:nvPr/>
        </p:nvSpPr>
        <p:spPr>
          <a:xfrm>
            <a:off x="7973568" y="4956048"/>
            <a:ext cx="438912" cy="73152"/>
          </a:xfrm>
          <a:prstGeom prst="rect">
            <a:avLst/>
          </a:prstGeom>
          <a:solidFill>
            <a:srgbClr val="D2DCEB"/>
          </a:solidFill>
          <a:ln w="12700">
            <a:solidFill>
              <a:srgbClr val="D2DCEB"/>
            </a:solidFill>
            <a:prstDash val="solid"/>
          </a:ln>
        </p:spPr>
      </p:sp>
      <p:sp>
        <p:nvSpPr>
          <p:cNvPr id="51" name="Shape 44"/>
          <p:cNvSpPr/>
          <p:nvPr/>
        </p:nvSpPr>
        <p:spPr>
          <a:xfrm>
            <a:off x="8485632" y="4956048"/>
            <a:ext cx="438912" cy="73152"/>
          </a:xfrm>
          <a:prstGeom prst="rect">
            <a:avLst/>
          </a:prstGeom>
          <a:solidFill>
            <a:srgbClr val="D2DCEB"/>
          </a:solidFill>
          <a:ln w="12700">
            <a:solidFill>
              <a:srgbClr val="D2DCEB"/>
            </a:solidFill>
            <a:prstDash val="solid"/>
          </a:ln>
        </p:spPr>
      </p:sp>
      <p:sp>
        <p:nvSpPr>
          <p:cNvPr id="52" name="Shape 45"/>
          <p:cNvSpPr/>
          <p:nvPr/>
        </p:nvSpPr>
        <p:spPr>
          <a:xfrm>
            <a:off x="8997696" y="4956048"/>
            <a:ext cx="438912" cy="73152"/>
          </a:xfrm>
          <a:prstGeom prst="rect">
            <a:avLst/>
          </a:prstGeom>
          <a:solidFill>
            <a:srgbClr val="D2DCEB"/>
          </a:solidFill>
          <a:ln w="12700">
            <a:solidFill>
              <a:srgbClr val="D2DCEB"/>
            </a:solidFill>
            <a:prstDash val="solid"/>
          </a:ln>
        </p:spPr>
      </p:sp>
      <p:sp>
        <p:nvSpPr>
          <p:cNvPr id="53" name="Shape 46"/>
          <p:cNvSpPr/>
          <p:nvPr/>
        </p:nvSpPr>
        <p:spPr>
          <a:xfrm>
            <a:off x="9509760" y="4956048"/>
            <a:ext cx="438912" cy="73152"/>
          </a:xfrm>
          <a:prstGeom prst="rect">
            <a:avLst/>
          </a:prstGeom>
          <a:solidFill>
            <a:srgbClr val="D2DCEB"/>
          </a:solidFill>
          <a:ln w="12700">
            <a:solidFill>
              <a:srgbClr val="D2DCEB"/>
            </a:solidFill>
            <a:prstDash val="solid"/>
          </a:ln>
        </p:spPr>
      </p:sp>
      <p:sp>
        <p:nvSpPr>
          <p:cNvPr id="54" name="Shape 47"/>
          <p:cNvSpPr/>
          <p:nvPr/>
        </p:nvSpPr>
        <p:spPr>
          <a:xfrm>
            <a:off x="10021824" y="4956048"/>
            <a:ext cx="438912" cy="73152"/>
          </a:xfrm>
          <a:prstGeom prst="rect">
            <a:avLst/>
          </a:prstGeom>
          <a:solidFill>
            <a:srgbClr val="D2DCEB"/>
          </a:solidFill>
          <a:ln w="12700">
            <a:solidFill>
              <a:srgbClr val="D2DCEB"/>
            </a:solidFill>
            <a:prstDash val="solid"/>
          </a:ln>
        </p:spPr>
      </p:sp>
      <p:sp>
        <p:nvSpPr>
          <p:cNvPr id="55" name="Shape 48"/>
          <p:cNvSpPr/>
          <p:nvPr/>
        </p:nvSpPr>
        <p:spPr>
          <a:xfrm>
            <a:off x="6949440" y="5065776"/>
            <a:ext cx="438912" cy="73152"/>
          </a:xfrm>
          <a:prstGeom prst="rect">
            <a:avLst/>
          </a:prstGeom>
          <a:solidFill>
            <a:srgbClr val="D2DCEB"/>
          </a:solidFill>
          <a:ln w="12700">
            <a:solidFill>
              <a:srgbClr val="D2DCEB"/>
            </a:solidFill>
            <a:prstDash val="solid"/>
          </a:ln>
        </p:spPr>
      </p:sp>
      <p:sp>
        <p:nvSpPr>
          <p:cNvPr id="56" name="Shape 49"/>
          <p:cNvSpPr/>
          <p:nvPr/>
        </p:nvSpPr>
        <p:spPr>
          <a:xfrm>
            <a:off x="7461504" y="5065776"/>
            <a:ext cx="438912" cy="73152"/>
          </a:xfrm>
          <a:prstGeom prst="rect">
            <a:avLst/>
          </a:prstGeom>
          <a:solidFill>
            <a:srgbClr val="D2DCEB"/>
          </a:solidFill>
          <a:ln w="12700">
            <a:solidFill>
              <a:srgbClr val="D2DCEB"/>
            </a:solidFill>
            <a:prstDash val="solid"/>
          </a:ln>
        </p:spPr>
      </p:sp>
      <p:sp>
        <p:nvSpPr>
          <p:cNvPr id="57" name="Shape 50"/>
          <p:cNvSpPr/>
          <p:nvPr/>
        </p:nvSpPr>
        <p:spPr>
          <a:xfrm>
            <a:off x="7973568" y="5065776"/>
            <a:ext cx="438912" cy="73152"/>
          </a:xfrm>
          <a:prstGeom prst="rect">
            <a:avLst/>
          </a:prstGeom>
          <a:solidFill>
            <a:srgbClr val="D2DCEB"/>
          </a:solidFill>
          <a:ln w="12700">
            <a:solidFill>
              <a:srgbClr val="D2DCEB"/>
            </a:solidFill>
            <a:prstDash val="solid"/>
          </a:ln>
        </p:spPr>
      </p:sp>
      <p:sp>
        <p:nvSpPr>
          <p:cNvPr id="58" name="Shape 51"/>
          <p:cNvSpPr/>
          <p:nvPr/>
        </p:nvSpPr>
        <p:spPr>
          <a:xfrm>
            <a:off x="8485632" y="5065776"/>
            <a:ext cx="438912" cy="73152"/>
          </a:xfrm>
          <a:prstGeom prst="rect">
            <a:avLst/>
          </a:prstGeom>
          <a:solidFill>
            <a:srgbClr val="D2DCEB"/>
          </a:solidFill>
          <a:ln w="12700">
            <a:solidFill>
              <a:srgbClr val="D2DCEB"/>
            </a:solidFill>
            <a:prstDash val="solid"/>
          </a:ln>
        </p:spPr>
      </p:sp>
      <p:sp>
        <p:nvSpPr>
          <p:cNvPr id="59" name="Shape 52"/>
          <p:cNvSpPr/>
          <p:nvPr/>
        </p:nvSpPr>
        <p:spPr>
          <a:xfrm>
            <a:off x="8997696" y="5065776"/>
            <a:ext cx="438912" cy="73152"/>
          </a:xfrm>
          <a:prstGeom prst="rect">
            <a:avLst/>
          </a:prstGeom>
          <a:solidFill>
            <a:srgbClr val="D2DCEB"/>
          </a:solidFill>
          <a:ln w="12700">
            <a:solidFill>
              <a:srgbClr val="D2DCEB"/>
            </a:solidFill>
            <a:prstDash val="solid"/>
          </a:ln>
        </p:spPr>
      </p:sp>
      <p:sp>
        <p:nvSpPr>
          <p:cNvPr id="60" name="Shape 53"/>
          <p:cNvSpPr/>
          <p:nvPr/>
        </p:nvSpPr>
        <p:spPr>
          <a:xfrm>
            <a:off x="9509760" y="5065776"/>
            <a:ext cx="438912" cy="73152"/>
          </a:xfrm>
          <a:prstGeom prst="rect">
            <a:avLst/>
          </a:prstGeom>
          <a:solidFill>
            <a:srgbClr val="D2DCEB"/>
          </a:solidFill>
          <a:ln w="12700">
            <a:solidFill>
              <a:srgbClr val="D2DCEB"/>
            </a:solidFill>
            <a:prstDash val="solid"/>
          </a:ln>
        </p:spPr>
      </p:sp>
      <p:sp>
        <p:nvSpPr>
          <p:cNvPr id="61" name="Shape 54"/>
          <p:cNvSpPr/>
          <p:nvPr/>
        </p:nvSpPr>
        <p:spPr>
          <a:xfrm>
            <a:off x="10021824" y="5065776"/>
            <a:ext cx="438912" cy="73152"/>
          </a:xfrm>
          <a:prstGeom prst="rect">
            <a:avLst/>
          </a:prstGeom>
          <a:solidFill>
            <a:srgbClr val="D2DCEB"/>
          </a:solidFill>
          <a:ln w="12700">
            <a:solidFill>
              <a:srgbClr val="D2DCEB"/>
            </a:solidFill>
            <a:prstDash val="solid"/>
          </a:ln>
        </p:spPr>
      </p:sp>
      <p:sp>
        <p:nvSpPr>
          <p:cNvPr id="62" name="Shape 55"/>
          <p:cNvSpPr/>
          <p:nvPr/>
        </p:nvSpPr>
        <p:spPr>
          <a:xfrm>
            <a:off x="6949440" y="5175504"/>
            <a:ext cx="438912" cy="73152"/>
          </a:xfrm>
          <a:prstGeom prst="rect">
            <a:avLst/>
          </a:prstGeom>
          <a:solidFill>
            <a:srgbClr val="D2DCEB"/>
          </a:solidFill>
          <a:ln w="12700">
            <a:solidFill>
              <a:srgbClr val="D2DCEB"/>
            </a:solidFill>
            <a:prstDash val="solid"/>
          </a:ln>
        </p:spPr>
      </p:sp>
      <p:sp>
        <p:nvSpPr>
          <p:cNvPr id="63" name="Shape 56"/>
          <p:cNvSpPr/>
          <p:nvPr/>
        </p:nvSpPr>
        <p:spPr>
          <a:xfrm>
            <a:off x="7461504" y="5175504"/>
            <a:ext cx="438912" cy="73152"/>
          </a:xfrm>
          <a:prstGeom prst="rect">
            <a:avLst/>
          </a:prstGeom>
          <a:solidFill>
            <a:srgbClr val="D2DCEB"/>
          </a:solidFill>
          <a:ln w="12700">
            <a:solidFill>
              <a:srgbClr val="D2DCEB"/>
            </a:solidFill>
            <a:prstDash val="solid"/>
          </a:ln>
        </p:spPr>
      </p:sp>
      <p:sp>
        <p:nvSpPr>
          <p:cNvPr id="64" name="Shape 57"/>
          <p:cNvSpPr/>
          <p:nvPr/>
        </p:nvSpPr>
        <p:spPr>
          <a:xfrm>
            <a:off x="7973568" y="5175504"/>
            <a:ext cx="438912" cy="73152"/>
          </a:xfrm>
          <a:prstGeom prst="rect">
            <a:avLst/>
          </a:prstGeom>
          <a:solidFill>
            <a:srgbClr val="D2DCEB"/>
          </a:solidFill>
          <a:ln w="12700">
            <a:solidFill>
              <a:srgbClr val="D2DCEB"/>
            </a:solidFill>
            <a:prstDash val="solid"/>
          </a:ln>
        </p:spPr>
      </p:sp>
      <p:sp>
        <p:nvSpPr>
          <p:cNvPr id="65" name="Shape 58"/>
          <p:cNvSpPr/>
          <p:nvPr/>
        </p:nvSpPr>
        <p:spPr>
          <a:xfrm>
            <a:off x="8485632" y="5175504"/>
            <a:ext cx="438912" cy="73152"/>
          </a:xfrm>
          <a:prstGeom prst="rect">
            <a:avLst/>
          </a:prstGeom>
          <a:solidFill>
            <a:srgbClr val="D2DCEB"/>
          </a:solidFill>
          <a:ln w="12700">
            <a:solidFill>
              <a:srgbClr val="D2DCEB"/>
            </a:solidFill>
            <a:prstDash val="solid"/>
          </a:ln>
        </p:spPr>
      </p:sp>
      <p:sp>
        <p:nvSpPr>
          <p:cNvPr id="66" name="Shape 59"/>
          <p:cNvSpPr/>
          <p:nvPr/>
        </p:nvSpPr>
        <p:spPr>
          <a:xfrm>
            <a:off x="8997696" y="5175504"/>
            <a:ext cx="438912" cy="73152"/>
          </a:xfrm>
          <a:prstGeom prst="rect">
            <a:avLst/>
          </a:prstGeom>
          <a:solidFill>
            <a:srgbClr val="D2DCEB"/>
          </a:solidFill>
          <a:ln w="12700">
            <a:solidFill>
              <a:srgbClr val="D2DCEB"/>
            </a:solidFill>
            <a:prstDash val="solid"/>
          </a:ln>
        </p:spPr>
      </p:sp>
      <p:sp>
        <p:nvSpPr>
          <p:cNvPr id="67" name="Shape 60"/>
          <p:cNvSpPr/>
          <p:nvPr/>
        </p:nvSpPr>
        <p:spPr>
          <a:xfrm>
            <a:off x="9509760" y="5175504"/>
            <a:ext cx="438912" cy="73152"/>
          </a:xfrm>
          <a:prstGeom prst="rect">
            <a:avLst/>
          </a:prstGeom>
          <a:solidFill>
            <a:srgbClr val="D2DCEB"/>
          </a:solidFill>
          <a:ln w="12700">
            <a:solidFill>
              <a:srgbClr val="D2DCEB"/>
            </a:solidFill>
            <a:prstDash val="solid"/>
          </a:ln>
        </p:spPr>
      </p:sp>
      <p:sp>
        <p:nvSpPr>
          <p:cNvPr id="68" name="Shape 61"/>
          <p:cNvSpPr/>
          <p:nvPr/>
        </p:nvSpPr>
        <p:spPr>
          <a:xfrm>
            <a:off x="10021824" y="5175504"/>
            <a:ext cx="438912" cy="73152"/>
          </a:xfrm>
          <a:prstGeom prst="rect">
            <a:avLst/>
          </a:prstGeom>
          <a:solidFill>
            <a:srgbClr val="D2DCEB"/>
          </a:solidFill>
          <a:ln w="12700">
            <a:solidFill>
              <a:srgbClr val="D2DCEB"/>
            </a:solidFill>
            <a:prstDash val="solid"/>
          </a:ln>
        </p:spPr>
      </p:sp>
      <p:sp>
        <p:nvSpPr>
          <p:cNvPr id="69" name="Shape 62"/>
          <p:cNvSpPr/>
          <p:nvPr/>
        </p:nvSpPr>
        <p:spPr>
          <a:xfrm>
            <a:off x="6720840" y="5559552"/>
            <a:ext cx="4251960" cy="384048"/>
          </a:xfrm>
          <a:prstGeom prst="roundRect">
            <a:avLst/>
          </a:prstGeom>
          <a:solidFill>
            <a:srgbClr val="EFF4FA"/>
          </a:solidFill>
          <a:ln w="12700">
            <a:solidFill>
              <a:srgbClr val="EFF4FA"/>
            </a:solidFill>
            <a:prstDash val="solid"/>
          </a:ln>
        </p:spPr>
      </p:sp>
      <p:sp>
        <p:nvSpPr>
          <p:cNvPr id="70" name="Text 63"/>
          <p:cNvSpPr/>
          <p:nvPr/>
        </p:nvSpPr>
        <p:spPr>
          <a:xfrm>
            <a:off x="6903720" y="5669280"/>
            <a:ext cx="914400" cy="109728"/>
          </a:xfrm>
          <a:prstGeom prst="rect">
            <a:avLst/>
          </a:prstGeom>
          <a:noFill/>
          <a:ln/>
        </p:spPr>
        <p:txBody>
          <a:bodyPr wrap="square" lIns="0" tIns="0" rIns="0" bIns="0" rtlCol="0" anchor="t">
            <a:normAutofit/>
          </a:bodyPr>
          <a:lstStyle/>
          <a:p>
            <a:pPr algn="l" indent="0" marL="0">
              <a:buNone/>
            </a:pPr>
            <a:r>
              <a:rPr lang="en-US" sz="950" b="1" dirty="0">
                <a:solidFill>
                  <a:srgbClr val="1E2761"/>
                </a:solidFill>
                <a:latin typeface="Calibri" pitchFamily="34" charset="0"/>
                <a:ea typeface="Calibri" pitchFamily="34" charset="-122"/>
                <a:cs typeface="Calibri" pitchFamily="34" charset="-120"/>
              </a:rPr>
              <a:t>Quick Links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Four tools. One job each.</a:t>
            </a:r>
            <a:endParaRPr lang="en-US" sz="2500" dirty="0"/>
          </a:p>
        </p:txBody>
      </p:sp>
      <p:sp>
        <p:nvSpPr>
          <p:cNvPr id="3" name="Shape 1"/>
          <p:cNvSpPr/>
          <p:nvPr/>
        </p:nvSpPr>
        <p:spPr>
          <a:xfrm>
            <a:off x="777240" y="1417320"/>
            <a:ext cx="4983480" cy="1508760"/>
          </a:xfrm>
          <a:prstGeom prst="roundRect">
            <a:avLst>
              <a:gd name="adj" fmla="val 4848"/>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4" name="Shape 2"/>
          <p:cNvSpPr/>
          <p:nvPr/>
        </p:nvSpPr>
        <p:spPr>
          <a:xfrm>
            <a:off x="777240" y="1417320"/>
            <a:ext cx="64008" cy="1508760"/>
          </a:xfrm>
          <a:prstGeom prst="rect">
            <a:avLst/>
          </a:prstGeom>
          <a:solidFill>
            <a:srgbClr val="4FC3F7"/>
          </a:solidFill>
          <a:ln w="12700">
            <a:solidFill>
              <a:srgbClr val="4FC3F7"/>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78408" y="1636776"/>
            <a:ext cx="420624" cy="420624"/>
          </a:xfrm>
          <a:prstGeom prst="rect">
            <a:avLst/>
          </a:prstGeom>
        </p:spPr>
      </p:pic>
      <p:sp>
        <p:nvSpPr>
          <p:cNvPr id="6" name="Text 3"/>
          <p:cNvSpPr/>
          <p:nvPr/>
        </p:nvSpPr>
        <p:spPr>
          <a:xfrm>
            <a:off x="1527048" y="1600200"/>
            <a:ext cx="1645920" cy="201168"/>
          </a:xfrm>
          <a:prstGeom prst="rect">
            <a:avLst/>
          </a:prstGeom>
          <a:noFill/>
          <a:ln/>
        </p:spPr>
        <p:txBody>
          <a:bodyPr wrap="square" lIns="0" tIns="0" rIns="0" bIns="0" rtlCol="0" anchor="t">
            <a:normAutofit/>
          </a:bodyPr>
          <a:lstStyle/>
          <a:p>
            <a:pPr algn="l" indent="0" marL="0">
              <a:buNone/>
            </a:pPr>
            <a:r>
              <a:rPr lang="en-US" sz="1450" b="1" dirty="0">
                <a:solidFill>
                  <a:srgbClr val="1E2761"/>
                </a:solidFill>
                <a:latin typeface="Calibri" pitchFamily="34" charset="0"/>
                <a:ea typeface="Calibri" pitchFamily="34" charset="-122"/>
                <a:cs typeface="Calibri" pitchFamily="34" charset="-120"/>
              </a:rPr>
              <a:t>Notion</a:t>
            </a:r>
            <a:endParaRPr lang="en-US" sz="1450" dirty="0"/>
          </a:p>
        </p:txBody>
      </p:sp>
      <p:sp>
        <p:nvSpPr>
          <p:cNvPr id="7" name="Text 4"/>
          <p:cNvSpPr/>
          <p:nvPr/>
        </p:nvSpPr>
        <p:spPr>
          <a:xfrm>
            <a:off x="978408" y="2020824"/>
            <a:ext cx="4526280" cy="182880"/>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Company OS — all structured knowledge</a:t>
            </a:r>
            <a:endParaRPr lang="en-US" sz="1150" dirty="0"/>
          </a:p>
        </p:txBody>
      </p:sp>
      <p:sp>
        <p:nvSpPr>
          <p:cNvPr id="8" name="Text 5"/>
          <p:cNvSpPr/>
          <p:nvPr/>
        </p:nvSpPr>
        <p:spPr>
          <a:xfrm>
            <a:off x="978408" y="2295144"/>
            <a:ext cx="4526280" cy="347472"/>
          </a:xfrm>
          <a:prstGeom prst="rect">
            <a:avLst/>
          </a:prstGeom>
          <a:noFill/>
          <a:ln/>
        </p:spPr>
        <p:txBody>
          <a:bodyPr wrap="square" lIns="0" tIns="0" rIns="0" bIns="0" rtlCol="0" anchor="t">
            <a:normAutofit/>
          </a:bodyPr>
          <a:lstStyle/>
          <a:p>
            <a:pPr algn="l" indent="0" marL="0">
              <a:buNone/>
            </a:pPr>
            <a:r>
              <a:rPr lang="en-US" sz="1020" dirty="0">
                <a:solidFill>
                  <a:srgbClr val="5A6E8C"/>
                </a:solidFill>
                <a:latin typeface="Calibri" pitchFamily="34" charset="0"/>
                <a:ea typeface="Calibri" pitchFamily="34" charset="-122"/>
                <a:cs typeface="Calibri" pitchFamily="34" charset="-120"/>
              </a:rPr>
              <a:t>If it's a decision, goal, log, or summary → Notion</a:t>
            </a:r>
            <a:endParaRPr lang="en-US" sz="1020" dirty="0"/>
          </a:p>
        </p:txBody>
      </p:sp>
      <p:sp>
        <p:nvSpPr>
          <p:cNvPr id="9" name="Shape 6"/>
          <p:cNvSpPr/>
          <p:nvPr/>
        </p:nvSpPr>
        <p:spPr>
          <a:xfrm>
            <a:off x="6355080" y="1417320"/>
            <a:ext cx="4983480" cy="1508760"/>
          </a:xfrm>
          <a:prstGeom prst="roundRect">
            <a:avLst>
              <a:gd name="adj" fmla="val 4848"/>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0" name="Shape 7"/>
          <p:cNvSpPr/>
          <p:nvPr/>
        </p:nvSpPr>
        <p:spPr>
          <a:xfrm>
            <a:off x="6355080" y="1417320"/>
            <a:ext cx="64008" cy="1508760"/>
          </a:xfrm>
          <a:prstGeom prst="rect">
            <a:avLst/>
          </a:prstGeom>
          <a:solidFill>
            <a:srgbClr val="5865F2"/>
          </a:solidFill>
          <a:ln w="12700">
            <a:solidFill>
              <a:srgbClr val="5865F2"/>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6248" y="1636776"/>
            <a:ext cx="420624" cy="420624"/>
          </a:xfrm>
          <a:prstGeom prst="rect">
            <a:avLst/>
          </a:prstGeom>
        </p:spPr>
      </p:pic>
      <p:sp>
        <p:nvSpPr>
          <p:cNvPr id="12" name="Text 8"/>
          <p:cNvSpPr/>
          <p:nvPr/>
        </p:nvSpPr>
        <p:spPr>
          <a:xfrm>
            <a:off x="7104888" y="1600200"/>
            <a:ext cx="1645920" cy="201168"/>
          </a:xfrm>
          <a:prstGeom prst="rect">
            <a:avLst/>
          </a:prstGeom>
          <a:noFill/>
          <a:ln/>
        </p:spPr>
        <p:txBody>
          <a:bodyPr wrap="square" lIns="0" tIns="0" rIns="0" bIns="0" rtlCol="0" anchor="t">
            <a:normAutofit/>
          </a:bodyPr>
          <a:lstStyle/>
          <a:p>
            <a:pPr algn="l" indent="0" marL="0">
              <a:buNone/>
            </a:pPr>
            <a:r>
              <a:rPr lang="en-US" sz="1450" b="1" dirty="0">
                <a:solidFill>
                  <a:srgbClr val="1E2761"/>
                </a:solidFill>
                <a:latin typeface="Calibri" pitchFamily="34" charset="0"/>
                <a:ea typeface="Calibri" pitchFamily="34" charset="-122"/>
                <a:cs typeface="Calibri" pitchFamily="34" charset="-120"/>
              </a:rPr>
              <a:t>Discord</a:t>
            </a:r>
            <a:endParaRPr lang="en-US" sz="1450" dirty="0"/>
          </a:p>
        </p:txBody>
      </p:sp>
      <p:sp>
        <p:nvSpPr>
          <p:cNvPr id="13" name="Text 9"/>
          <p:cNvSpPr/>
          <p:nvPr/>
        </p:nvSpPr>
        <p:spPr>
          <a:xfrm>
            <a:off x="6556248" y="2020824"/>
            <a:ext cx="4526280" cy="182880"/>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Real-time async comms + voice</a:t>
            </a:r>
            <a:endParaRPr lang="en-US" sz="1150" dirty="0"/>
          </a:p>
        </p:txBody>
      </p:sp>
      <p:sp>
        <p:nvSpPr>
          <p:cNvPr id="14" name="Text 10"/>
          <p:cNvSpPr/>
          <p:nvPr/>
        </p:nvSpPr>
        <p:spPr>
          <a:xfrm>
            <a:off x="6556248" y="2295144"/>
            <a:ext cx="4526280" cy="347472"/>
          </a:xfrm>
          <a:prstGeom prst="rect">
            <a:avLst/>
          </a:prstGeom>
          <a:noFill/>
          <a:ln/>
        </p:spPr>
        <p:txBody>
          <a:bodyPr wrap="square" lIns="0" tIns="0" rIns="0" bIns="0" rtlCol="0" anchor="t">
            <a:normAutofit/>
          </a:bodyPr>
          <a:lstStyle/>
          <a:p>
            <a:pPr algn="l" indent="0" marL="0">
              <a:buNone/>
            </a:pPr>
            <a:r>
              <a:rPr lang="en-US" sz="1020" dirty="0">
                <a:solidFill>
                  <a:srgbClr val="5A6E8C"/>
                </a:solidFill>
                <a:latin typeface="Calibri" pitchFamily="34" charset="0"/>
                <a:ea typeface="Calibri" pitchFamily="34" charset="-122"/>
                <a:cs typeface="Calibri" pitchFamily="34" charset="-120"/>
              </a:rPr>
              <a:t>Working memory. Ephemeral. Decisions migrate to Notion.</a:t>
            </a:r>
            <a:endParaRPr lang="en-US" sz="1020" dirty="0"/>
          </a:p>
        </p:txBody>
      </p:sp>
      <p:sp>
        <p:nvSpPr>
          <p:cNvPr id="15" name="Shape 11"/>
          <p:cNvSpPr/>
          <p:nvPr/>
        </p:nvSpPr>
        <p:spPr>
          <a:xfrm>
            <a:off x="777240" y="3429000"/>
            <a:ext cx="4983480" cy="1508760"/>
          </a:xfrm>
          <a:prstGeom prst="roundRect">
            <a:avLst>
              <a:gd name="adj" fmla="val 4848"/>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6" name="Shape 12"/>
          <p:cNvSpPr/>
          <p:nvPr/>
        </p:nvSpPr>
        <p:spPr>
          <a:xfrm>
            <a:off x="777240" y="3429000"/>
            <a:ext cx="64008" cy="1508760"/>
          </a:xfrm>
          <a:prstGeom prst="rect">
            <a:avLst/>
          </a:prstGeom>
          <a:solidFill>
            <a:srgbClr val="34A853"/>
          </a:solidFill>
          <a:ln w="12700">
            <a:solidFill>
              <a:srgbClr val="34A853"/>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8408" y="3648456"/>
            <a:ext cx="420624" cy="420624"/>
          </a:xfrm>
          <a:prstGeom prst="rect">
            <a:avLst/>
          </a:prstGeom>
        </p:spPr>
      </p:pic>
      <p:sp>
        <p:nvSpPr>
          <p:cNvPr id="18" name="Text 13"/>
          <p:cNvSpPr/>
          <p:nvPr/>
        </p:nvSpPr>
        <p:spPr>
          <a:xfrm>
            <a:off x="1527048" y="3611880"/>
            <a:ext cx="1645920" cy="201168"/>
          </a:xfrm>
          <a:prstGeom prst="rect">
            <a:avLst/>
          </a:prstGeom>
          <a:noFill/>
          <a:ln/>
        </p:spPr>
        <p:txBody>
          <a:bodyPr wrap="square" lIns="0" tIns="0" rIns="0" bIns="0" rtlCol="0" anchor="t">
            <a:normAutofit/>
          </a:bodyPr>
          <a:lstStyle/>
          <a:p>
            <a:pPr algn="l" indent="0" marL="0">
              <a:buNone/>
            </a:pPr>
            <a:r>
              <a:rPr lang="en-US" sz="1450" b="1" dirty="0">
                <a:solidFill>
                  <a:srgbClr val="1E2761"/>
                </a:solidFill>
                <a:latin typeface="Calibri" pitchFamily="34" charset="0"/>
                <a:ea typeface="Calibri" pitchFamily="34" charset="-122"/>
                <a:cs typeface="Calibri" pitchFamily="34" charset="-120"/>
              </a:rPr>
              <a:t>Drive</a:t>
            </a:r>
            <a:endParaRPr lang="en-US" sz="1450" dirty="0"/>
          </a:p>
        </p:txBody>
      </p:sp>
      <p:sp>
        <p:nvSpPr>
          <p:cNvPr id="19" name="Text 14"/>
          <p:cNvSpPr/>
          <p:nvPr/>
        </p:nvSpPr>
        <p:spPr>
          <a:xfrm>
            <a:off x="978408" y="4032504"/>
            <a:ext cx="4526280" cy="182880"/>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Binary blobs only</a:t>
            </a:r>
            <a:endParaRPr lang="en-US" sz="1150" dirty="0"/>
          </a:p>
        </p:txBody>
      </p:sp>
      <p:sp>
        <p:nvSpPr>
          <p:cNvPr id="20" name="Text 15"/>
          <p:cNvSpPr/>
          <p:nvPr/>
        </p:nvSpPr>
        <p:spPr>
          <a:xfrm>
            <a:off x="978408" y="4306824"/>
            <a:ext cx="4526280" cy="347472"/>
          </a:xfrm>
          <a:prstGeom prst="rect">
            <a:avLst/>
          </a:prstGeom>
          <a:noFill/>
          <a:ln/>
        </p:spPr>
        <p:txBody>
          <a:bodyPr wrap="square" lIns="0" tIns="0" rIns="0" bIns="0" rtlCol="0" anchor="t">
            <a:normAutofit/>
          </a:bodyPr>
          <a:lstStyle/>
          <a:p>
            <a:pPr algn="l" indent="0" marL="0">
              <a:buNone/>
            </a:pPr>
            <a:r>
              <a:rPr lang="en-US" sz="1020" dirty="0">
                <a:solidFill>
                  <a:srgbClr val="5A6E8C"/>
                </a:solidFill>
                <a:latin typeface="Calibri" pitchFamily="34" charset="0"/>
                <a:ea typeface="Calibri" pitchFamily="34" charset="-122"/>
                <a:cs typeface="Calibri" pitchFamily="34" charset="-120"/>
              </a:rPr>
              <a:t>PPTs, contracts, invoices, CSV exports, large files</a:t>
            </a:r>
            <a:endParaRPr lang="en-US" sz="1020" dirty="0"/>
          </a:p>
        </p:txBody>
      </p:sp>
      <p:sp>
        <p:nvSpPr>
          <p:cNvPr id="21" name="Shape 16"/>
          <p:cNvSpPr/>
          <p:nvPr/>
        </p:nvSpPr>
        <p:spPr>
          <a:xfrm>
            <a:off x="6355080" y="3429000"/>
            <a:ext cx="4983480" cy="1508760"/>
          </a:xfrm>
          <a:prstGeom prst="roundRect">
            <a:avLst>
              <a:gd name="adj" fmla="val 4848"/>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22" name="Shape 17"/>
          <p:cNvSpPr/>
          <p:nvPr/>
        </p:nvSpPr>
        <p:spPr>
          <a:xfrm>
            <a:off x="6355080" y="3429000"/>
            <a:ext cx="64008" cy="1508760"/>
          </a:xfrm>
          <a:prstGeom prst="rect">
            <a:avLst/>
          </a:prstGeom>
          <a:solidFill>
            <a:srgbClr val="25D366"/>
          </a:solidFill>
          <a:ln w="12700">
            <a:solidFill>
              <a:srgbClr val="25D366"/>
            </a:solidFill>
            <a:prstDash val="solid"/>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56248" y="3648456"/>
            <a:ext cx="420624" cy="420624"/>
          </a:xfrm>
          <a:prstGeom prst="rect">
            <a:avLst/>
          </a:prstGeom>
        </p:spPr>
      </p:pic>
      <p:sp>
        <p:nvSpPr>
          <p:cNvPr id="24" name="Text 18"/>
          <p:cNvSpPr/>
          <p:nvPr/>
        </p:nvSpPr>
        <p:spPr>
          <a:xfrm>
            <a:off x="7104888" y="3611880"/>
            <a:ext cx="1645920" cy="201168"/>
          </a:xfrm>
          <a:prstGeom prst="rect">
            <a:avLst/>
          </a:prstGeom>
          <a:noFill/>
          <a:ln/>
        </p:spPr>
        <p:txBody>
          <a:bodyPr wrap="square" lIns="0" tIns="0" rIns="0" bIns="0" rtlCol="0" anchor="t">
            <a:normAutofit/>
          </a:bodyPr>
          <a:lstStyle/>
          <a:p>
            <a:pPr algn="l" indent="0" marL="0">
              <a:buNone/>
            </a:pPr>
            <a:r>
              <a:rPr lang="en-US" sz="1450" b="1" dirty="0">
                <a:solidFill>
                  <a:srgbClr val="1E2761"/>
                </a:solidFill>
                <a:latin typeface="Calibri" pitchFamily="34" charset="0"/>
                <a:ea typeface="Calibri" pitchFamily="34" charset="-122"/>
                <a:cs typeface="Calibri" pitchFamily="34" charset="-120"/>
              </a:rPr>
              <a:t>WhatsApp</a:t>
            </a:r>
            <a:endParaRPr lang="en-US" sz="1450" dirty="0"/>
          </a:p>
        </p:txBody>
      </p:sp>
      <p:sp>
        <p:nvSpPr>
          <p:cNvPr id="25" name="Text 19"/>
          <p:cNvSpPr/>
          <p:nvPr/>
        </p:nvSpPr>
        <p:spPr>
          <a:xfrm>
            <a:off x="6556248" y="4032504"/>
            <a:ext cx="4526280" cy="182880"/>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Personal / emergency only</a:t>
            </a:r>
            <a:endParaRPr lang="en-US" sz="1150" dirty="0"/>
          </a:p>
        </p:txBody>
      </p:sp>
      <p:sp>
        <p:nvSpPr>
          <p:cNvPr id="26" name="Text 20"/>
          <p:cNvSpPr/>
          <p:nvPr/>
        </p:nvSpPr>
        <p:spPr>
          <a:xfrm>
            <a:off x="6556248" y="4306824"/>
            <a:ext cx="4526280" cy="347472"/>
          </a:xfrm>
          <a:prstGeom prst="rect">
            <a:avLst/>
          </a:prstGeom>
          <a:noFill/>
          <a:ln/>
        </p:spPr>
        <p:txBody>
          <a:bodyPr wrap="square" lIns="0" tIns="0" rIns="0" bIns="0" rtlCol="0" anchor="t">
            <a:normAutofit/>
          </a:bodyPr>
          <a:lstStyle/>
          <a:p>
            <a:pPr algn="l" indent="0" marL="0">
              <a:buNone/>
            </a:pPr>
            <a:r>
              <a:rPr lang="en-US" sz="1020" dirty="0">
                <a:solidFill>
                  <a:srgbClr val="5A6E8C"/>
                </a:solidFill>
                <a:latin typeface="Calibri" pitchFamily="34" charset="0"/>
                <a:ea typeface="Calibri" pitchFamily="34" charset="-122"/>
                <a:cs typeface="Calibri" pitchFamily="34" charset="-120"/>
              </a:rPr>
              <a:t>Urgent pings that cannot wait for Discord</a:t>
            </a:r>
            <a:endParaRPr lang="en-US" sz="1020" dirty="0"/>
          </a:p>
        </p:txBody>
      </p:sp>
      <p:sp>
        <p:nvSpPr>
          <p:cNvPr id="27" name="Shape 21"/>
          <p:cNvSpPr/>
          <p:nvPr/>
        </p:nvSpPr>
        <p:spPr>
          <a:xfrm>
            <a:off x="1097280" y="5669280"/>
            <a:ext cx="10012680" cy="530352"/>
          </a:xfrm>
          <a:prstGeom prst="roundRect">
            <a:avLst>
              <a:gd name="adj" fmla="val 13793"/>
            </a:avLst>
          </a:prstGeom>
          <a:solidFill>
            <a:srgbClr val="FFFFFF"/>
          </a:solidFill>
          <a:ln w="12700">
            <a:solidFill>
              <a:srgbClr val="F96167"/>
            </a:solidFill>
            <a:prstDash val="solid"/>
          </a:ln>
        </p:spPr>
      </p:sp>
      <p:sp>
        <p:nvSpPr>
          <p:cNvPr id="28" name="Shape 22"/>
          <p:cNvSpPr/>
          <p:nvPr/>
        </p:nvSpPr>
        <p:spPr>
          <a:xfrm>
            <a:off x="1097280" y="5669280"/>
            <a:ext cx="64008" cy="530352"/>
          </a:xfrm>
          <a:prstGeom prst="rect">
            <a:avLst/>
          </a:prstGeom>
          <a:solidFill>
            <a:srgbClr val="F96167"/>
          </a:solidFill>
          <a:ln w="12700">
            <a:solidFill>
              <a:srgbClr val="F96167"/>
            </a:solidFill>
            <a:prstDash val="solid"/>
          </a:ln>
        </p:spPr>
      </p:sp>
      <p:sp>
        <p:nvSpPr>
          <p:cNvPr id="29" name="Text 23"/>
          <p:cNvSpPr/>
          <p:nvPr/>
        </p:nvSpPr>
        <p:spPr>
          <a:xfrm>
            <a:off x="1243584" y="5779008"/>
            <a:ext cx="9756648" cy="384048"/>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 Slack: not used. Redundant with Discord at 3 people. Revisit at first hire.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28600" y="594360"/>
            <a:ext cx="11704320" cy="1554480"/>
          </a:xfrm>
          <a:prstGeom prst="rect">
            <a:avLst/>
          </a:prstGeom>
          <a:noFill/>
          <a:ln/>
        </p:spPr>
        <p:txBody>
          <a:bodyPr wrap="square" lIns="0" tIns="0" rIns="0" bIns="0" rtlCol="0" anchor="ctr"/>
          <a:lstStyle/>
          <a:p>
            <a:pPr algn="ctr" indent="0" marL="0">
              <a:buNone/>
            </a:pPr>
            <a:r>
              <a:rPr lang="en-US" sz="9800" b="1" dirty="0">
                <a:solidFill>
                  <a:srgbClr val="4FC3F7">
                    <a:alpha val="20000"/>
                  </a:srgbClr>
                </a:solidFill>
                <a:latin typeface="Calibri" pitchFamily="34" charset="0"/>
                <a:ea typeface="Calibri" pitchFamily="34" charset="-122"/>
                <a:cs typeface="Calibri" pitchFamily="34" charset="-120"/>
              </a:rPr>
              <a:t>02</a:t>
            </a:r>
            <a:endParaRPr lang="en-US" sz="9800" dirty="0"/>
          </a:p>
        </p:txBody>
      </p:sp>
      <p:sp>
        <p:nvSpPr>
          <p:cNvPr id="3" name="Text 1"/>
          <p:cNvSpPr/>
          <p:nvPr/>
        </p:nvSpPr>
        <p:spPr>
          <a:xfrm>
            <a:off x="1097280" y="2697480"/>
            <a:ext cx="996696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Where We're Going</a:t>
            </a:r>
            <a:endParaRPr lang="en-US" sz="3000" dirty="0"/>
          </a:p>
        </p:txBody>
      </p:sp>
      <p:sp>
        <p:nvSpPr>
          <p:cNvPr id="4" name="Text 2"/>
          <p:cNvSpPr/>
          <p:nvPr/>
        </p:nvSpPr>
        <p:spPr>
          <a:xfrm>
            <a:off x="1463040" y="3291840"/>
            <a:ext cx="9235440" cy="256032"/>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Phase model, growth math, and our 2026 OKR cascade</a:t>
            </a:r>
            <a:endParaRPr lang="en-US" sz="1600" dirty="0"/>
          </a:p>
        </p:txBody>
      </p:sp>
      <p:sp>
        <p:nvSpPr>
          <p:cNvPr id="5" name="Shape 3"/>
          <p:cNvSpPr/>
          <p:nvPr/>
        </p:nvSpPr>
        <p:spPr>
          <a:xfrm>
            <a:off x="3657600" y="3886200"/>
            <a:ext cx="4846320" cy="0"/>
          </a:xfrm>
          <a:prstGeom prst="line">
            <a:avLst/>
          </a:prstGeom>
          <a:noFill/>
          <a:ln w="25400">
            <a:solidFill>
              <a:srgbClr val="4FC3F7"/>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Two different questions</a:t>
            </a:r>
            <a:endParaRPr lang="en-US" sz="2500" dirty="0"/>
          </a:p>
        </p:txBody>
      </p:sp>
      <p:sp>
        <p:nvSpPr>
          <p:cNvPr id="3" name="Shape 1"/>
          <p:cNvSpPr/>
          <p:nvPr/>
        </p:nvSpPr>
        <p:spPr>
          <a:xfrm>
            <a:off x="868680" y="1417320"/>
            <a:ext cx="5212080" cy="4297680"/>
          </a:xfrm>
          <a:prstGeom prst="roundRect">
            <a:avLst>
              <a:gd name="adj" fmla="val 1702"/>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4" name="Shape 2"/>
          <p:cNvSpPr/>
          <p:nvPr/>
        </p:nvSpPr>
        <p:spPr>
          <a:xfrm>
            <a:off x="868680" y="1417320"/>
            <a:ext cx="64008" cy="4297680"/>
          </a:xfrm>
          <a:prstGeom prst="rect">
            <a:avLst/>
          </a:prstGeom>
          <a:solidFill>
            <a:srgbClr val="1E2761"/>
          </a:solidFill>
          <a:ln w="12700">
            <a:solidFill>
              <a:srgbClr val="1E2761"/>
            </a:solidFill>
            <a:prstDash val="solid"/>
          </a:ln>
        </p:spPr>
      </p:sp>
      <p:sp>
        <p:nvSpPr>
          <p:cNvPr id="5" name="Shape 3"/>
          <p:cNvSpPr/>
          <p:nvPr/>
        </p:nvSpPr>
        <p:spPr>
          <a:xfrm>
            <a:off x="1143000" y="1664208"/>
            <a:ext cx="685800" cy="256032"/>
          </a:xfrm>
          <a:prstGeom prst="roundRect">
            <a:avLst/>
          </a:prstGeom>
          <a:solidFill>
            <a:srgbClr val="1E2761"/>
          </a:solidFill>
          <a:ln w="12700">
            <a:solidFill>
              <a:srgbClr val="1E2761"/>
            </a:solidFill>
            <a:prstDash val="solid"/>
          </a:ln>
        </p:spPr>
      </p:sp>
      <p:sp>
        <p:nvSpPr>
          <p:cNvPr id="6" name="Text 4"/>
          <p:cNvSpPr/>
          <p:nvPr/>
        </p:nvSpPr>
        <p:spPr>
          <a:xfrm>
            <a:off x="1143000" y="1682496"/>
            <a:ext cx="6858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KPI</a:t>
            </a:r>
            <a:endParaRPr lang="en-US" sz="1100" dirty="0"/>
          </a:p>
        </p:txBody>
      </p:sp>
      <p:sp>
        <p:nvSpPr>
          <p:cNvPr id="7" name="Text 5"/>
          <p:cNvSpPr/>
          <p:nvPr/>
        </p:nvSpPr>
        <p:spPr>
          <a:xfrm>
            <a:off x="1143000" y="2011680"/>
            <a:ext cx="4480560" cy="301752"/>
          </a:xfrm>
          <a:prstGeom prst="rect">
            <a:avLst/>
          </a:prstGeom>
          <a:noFill/>
          <a:ln/>
        </p:spPr>
        <p:txBody>
          <a:bodyPr wrap="square" lIns="0" tIns="0" rIns="0" bIns="0" rtlCol="0" anchor="t">
            <a:normAutofit/>
          </a:bodyPr>
          <a:lstStyle/>
          <a:p>
            <a:pPr algn="l" indent="0" marL="0">
              <a:buNone/>
            </a:pPr>
            <a:r>
              <a:rPr lang="en-US" sz="1600" b="1" dirty="0">
                <a:solidFill>
                  <a:srgbClr val="1E2761"/>
                </a:solidFill>
                <a:latin typeface="Calibri" pitchFamily="34" charset="0"/>
                <a:ea typeface="Calibri" pitchFamily="34" charset="-122"/>
                <a:cs typeface="Calibri" pitchFamily="34" charset="-120"/>
              </a:rPr>
              <a:t>Is the business healthy right now?</a:t>
            </a:r>
            <a:endParaRPr lang="en-US" sz="1600" dirty="0"/>
          </a:p>
        </p:txBody>
      </p:sp>
      <p:sp>
        <p:nvSpPr>
          <p:cNvPr id="8" name="Text 6"/>
          <p:cNvSpPr/>
          <p:nvPr/>
        </p:nvSpPr>
        <p:spPr>
          <a:xfrm>
            <a:off x="1143000" y="2395728"/>
            <a:ext cx="4297680" cy="384048"/>
          </a:xfrm>
          <a:prstGeom prst="rect">
            <a:avLst/>
          </a:prstGeom>
          <a:noFill/>
          <a:ln/>
        </p:spPr>
        <p:txBody>
          <a:bodyPr wrap="square" lIns="0" tIns="0" rIns="0" bIns="0" rtlCol="0" anchor="t">
            <a:normAutofit/>
          </a:bodyPr>
          <a:lstStyle/>
          <a:p>
            <a:pPr algn="l" indent="0" marL="0">
              <a:buNone/>
            </a:pPr>
            <a:r>
              <a:rPr lang="en-US" sz="1100" dirty="0">
                <a:solidFill>
                  <a:srgbClr val="5A6E8C"/>
                </a:solidFill>
                <a:latin typeface="Calibri" pitchFamily="34" charset="0"/>
                <a:ea typeface="Calibri" pitchFamily="34" charset="-122"/>
                <a:cs typeface="Calibri" pitchFamily="34" charset="-120"/>
              </a:rPr>
              <a:t>Permanent dials on your dashboard. Never disappear. Measured every week forever.</a:t>
            </a:r>
            <a:endParaRPr lang="en-US" sz="1100" dirty="0"/>
          </a:p>
        </p:txBody>
      </p:sp>
      <p:sp>
        <p:nvSpPr>
          <p:cNvPr id="9" name="Text 7"/>
          <p:cNvSpPr/>
          <p:nvPr/>
        </p:nvSpPr>
        <p:spPr>
          <a:xfrm>
            <a:off x="1325880" y="3017520"/>
            <a:ext cx="1645920" cy="1097280"/>
          </a:xfrm>
          <a:prstGeom prst="rect">
            <a:avLst/>
          </a:prstGeom>
          <a:noFill/>
          <a:ln/>
        </p:spPr>
        <p:txBody>
          <a:bodyPr wrap="square" lIns="0" tIns="0" rIns="0" bIns="0" rtlCol="0" anchor="t">
            <a:normAutofit/>
          </a:bodyPr>
          <a:lstStyle/>
          <a:p>
            <a:pPr algn="l" indent="0" marL="0">
              <a:buNone/>
            </a:pPr>
            <a:r>
              <a:rPr lang="en-US" sz="1200" dirty="0">
                <a:solidFill>
                  <a:srgbClr val="1E2761"/>
                </a:solidFill>
                <a:latin typeface="Calibri" pitchFamily="34" charset="0"/>
                <a:ea typeface="Calibri" pitchFamily="34" charset="-122"/>
                <a:cs typeface="Calibri" pitchFamily="34" charset="-120"/>
              </a:rPr>
              <a:t>ARR</a:t>
            </a:r>
            <a:endParaRPr lang="en-US" sz="1200" dirty="0"/>
          </a:p>
          <a:p>
            <a:pPr algn="l" indent="0" marL="0">
              <a:buNone/>
            </a:pPr>
            <a:r>
              <a:rPr lang="en-US" sz="1200" dirty="0">
                <a:solidFill>
                  <a:srgbClr val="1E2761"/>
                </a:solidFill>
                <a:latin typeface="Calibri" pitchFamily="34" charset="0"/>
                <a:ea typeface="Calibri" pitchFamily="34" charset="-122"/>
                <a:cs typeface="Calibri" pitchFamily="34" charset="-120"/>
              </a:rPr>
              <a:t>Pipeline count</a:t>
            </a:r>
            <a:endParaRPr lang="en-US" sz="1200" dirty="0"/>
          </a:p>
          <a:p>
            <a:pPr algn="l" indent="0" marL="0">
              <a:buNone/>
            </a:pPr>
            <a:r>
              <a:rPr lang="en-US" sz="1200" dirty="0">
                <a:solidFill>
                  <a:srgbClr val="1E2761"/>
                </a:solidFill>
                <a:latin typeface="Calibri" pitchFamily="34" charset="0"/>
                <a:ea typeface="Calibri" pitchFamily="34" charset="-122"/>
                <a:cs typeface="Calibri" pitchFamily="34" charset="-120"/>
              </a:rPr>
              <a:t>Burn rate</a:t>
            </a:r>
            <a:endParaRPr lang="en-US" sz="1200" dirty="0"/>
          </a:p>
          <a:p>
            <a:pPr algn="l" indent="0" marL="0">
              <a:buNone/>
            </a:pPr>
            <a:r>
              <a:rPr lang="en-US" sz="1200" dirty="0">
                <a:solidFill>
                  <a:srgbClr val="1E2761"/>
                </a:solidFill>
                <a:latin typeface="Calibri" pitchFamily="34" charset="0"/>
                <a:ea typeface="Calibri" pitchFamily="34" charset="-122"/>
                <a:cs typeface="Calibri" pitchFamily="34" charset="-120"/>
              </a:rPr>
              <a:t>A score</a:t>
            </a:r>
            <a:endParaRPr lang="en-US" sz="1200" dirty="0"/>
          </a:p>
          <a:p>
            <a:pPr algn="l" indent="0" marL="0">
              <a:buNone/>
            </a:pPr>
            <a:r>
              <a:rPr lang="en-US" sz="1200" dirty="0">
                <a:solidFill>
                  <a:srgbClr val="1E2761"/>
                </a:solidFill>
                <a:latin typeface="Calibri" pitchFamily="34" charset="0"/>
                <a:ea typeface="Calibri" pitchFamily="34" charset="-122"/>
                <a:cs typeface="Calibri" pitchFamily="34" charset="-120"/>
              </a:rPr>
              <a:t>Runway</a:t>
            </a:r>
            <a:endParaRPr lang="en-US" sz="1200" dirty="0"/>
          </a:p>
        </p:txBody>
      </p:sp>
      <p:sp>
        <p:nvSpPr>
          <p:cNvPr id="10" name="Text 8"/>
          <p:cNvSpPr/>
          <p:nvPr/>
        </p:nvSpPr>
        <p:spPr>
          <a:xfrm>
            <a:off x="1143000" y="5230368"/>
            <a:ext cx="1097280" cy="146304"/>
          </a:xfrm>
          <a:prstGeom prst="rect">
            <a:avLst/>
          </a:prstGeom>
          <a:noFill/>
          <a:ln/>
        </p:spPr>
        <p:txBody>
          <a:bodyPr wrap="square" lIns="0" tIns="0" rIns="0" bIns="0" rtlCol="0" anchor="t">
            <a:normAutofit/>
          </a:bodyPr>
          <a:lstStyle/>
          <a:p>
            <a:pPr algn="l" indent="0" marL="0">
              <a:buNone/>
            </a:pPr>
            <a:r>
              <a:rPr lang="en-US" sz="950" b="1" dirty="0">
                <a:solidFill>
                  <a:srgbClr val="5A6E8C"/>
                </a:solidFill>
                <a:latin typeface="Calibri" pitchFamily="34" charset="0"/>
                <a:ea typeface="Calibri" pitchFamily="34" charset="-122"/>
                <a:cs typeface="Calibri" pitchFamily="34" charset="-120"/>
              </a:rPr>
              <a:t>READ WEEKLY</a:t>
            </a:r>
            <a:endParaRPr lang="en-US" sz="950" dirty="0"/>
          </a:p>
        </p:txBody>
      </p:sp>
      <p:sp>
        <p:nvSpPr>
          <p:cNvPr id="11" name="Shape 9"/>
          <p:cNvSpPr/>
          <p:nvPr/>
        </p:nvSpPr>
        <p:spPr>
          <a:xfrm>
            <a:off x="6327648" y="1417320"/>
            <a:ext cx="4983480" cy="4297680"/>
          </a:xfrm>
          <a:prstGeom prst="roundRect">
            <a:avLst>
              <a:gd name="adj" fmla="val 1702"/>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2" name="Shape 10"/>
          <p:cNvSpPr/>
          <p:nvPr/>
        </p:nvSpPr>
        <p:spPr>
          <a:xfrm>
            <a:off x="6327648" y="1417320"/>
            <a:ext cx="64008" cy="4297680"/>
          </a:xfrm>
          <a:prstGeom prst="rect">
            <a:avLst/>
          </a:prstGeom>
          <a:solidFill>
            <a:srgbClr val="4FC3F7"/>
          </a:solidFill>
          <a:ln w="12700">
            <a:solidFill>
              <a:srgbClr val="4FC3F7"/>
            </a:solidFill>
            <a:prstDash val="solid"/>
          </a:ln>
        </p:spPr>
      </p:sp>
      <p:sp>
        <p:nvSpPr>
          <p:cNvPr id="13" name="Shape 11"/>
          <p:cNvSpPr/>
          <p:nvPr/>
        </p:nvSpPr>
        <p:spPr>
          <a:xfrm>
            <a:off x="6601968" y="1664208"/>
            <a:ext cx="713232" cy="256032"/>
          </a:xfrm>
          <a:prstGeom prst="roundRect">
            <a:avLst/>
          </a:prstGeom>
          <a:solidFill>
            <a:srgbClr val="4FC3F7"/>
          </a:solidFill>
          <a:ln w="12700">
            <a:solidFill>
              <a:srgbClr val="4FC3F7"/>
            </a:solidFill>
            <a:prstDash val="solid"/>
          </a:ln>
        </p:spPr>
      </p:sp>
      <p:sp>
        <p:nvSpPr>
          <p:cNvPr id="14" name="Text 12"/>
          <p:cNvSpPr/>
          <p:nvPr/>
        </p:nvSpPr>
        <p:spPr>
          <a:xfrm>
            <a:off x="6601968" y="1682496"/>
            <a:ext cx="713232" cy="256032"/>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OKR</a:t>
            </a:r>
            <a:endParaRPr lang="en-US" sz="1100" dirty="0"/>
          </a:p>
        </p:txBody>
      </p:sp>
      <p:sp>
        <p:nvSpPr>
          <p:cNvPr id="15" name="Text 13"/>
          <p:cNvSpPr/>
          <p:nvPr/>
        </p:nvSpPr>
        <p:spPr>
          <a:xfrm>
            <a:off x="6601968" y="2011680"/>
            <a:ext cx="4297680" cy="310896"/>
          </a:xfrm>
          <a:prstGeom prst="rect">
            <a:avLst/>
          </a:prstGeom>
          <a:noFill/>
          <a:ln/>
        </p:spPr>
        <p:txBody>
          <a:bodyPr wrap="square" lIns="0" tIns="0" rIns="0" bIns="0" rtlCol="0" anchor="t">
            <a:normAutofit/>
          </a:bodyPr>
          <a:lstStyle/>
          <a:p>
            <a:pPr algn="l" indent="0" marL="0">
              <a:buNone/>
            </a:pPr>
            <a:r>
              <a:rPr lang="en-US" sz="1600" b="1" dirty="0">
                <a:solidFill>
                  <a:srgbClr val="1E2761"/>
                </a:solidFill>
                <a:latin typeface="Calibri" pitchFamily="34" charset="0"/>
                <a:ea typeface="Calibri" pitchFamily="34" charset="-122"/>
                <a:cs typeface="Calibri" pitchFamily="34" charset="-120"/>
              </a:rPr>
              <a:t>Where are we trying to go this quarter?</a:t>
            </a:r>
            <a:endParaRPr lang="en-US" sz="1600" dirty="0"/>
          </a:p>
        </p:txBody>
      </p:sp>
      <p:sp>
        <p:nvSpPr>
          <p:cNvPr id="16" name="Text 14"/>
          <p:cNvSpPr/>
          <p:nvPr/>
        </p:nvSpPr>
        <p:spPr>
          <a:xfrm>
            <a:off x="6601968" y="2395728"/>
            <a:ext cx="4160520" cy="384048"/>
          </a:xfrm>
          <a:prstGeom prst="rect">
            <a:avLst/>
          </a:prstGeom>
          <a:noFill/>
          <a:ln/>
        </p:spPr>
        <p:txBody>
          <a:bodyPr wrap="square" lIns="0" tIns="0" rIns="0" bIns="0" rtlCol="0" anchor="t">
            <a:normAutofit/>
          </a:bodyPr>
          <a:lstStyle/>
          <a:p>
            <a:pPr algn="l" indent="0" marL="0">
              <a:buNone/>
            </a:pPr>
            <a:r>
              <a:rPr lang="en-US" sz="1100" dirty="0">
                <a:solidFill>
                  <a:srgbClr val="5A6E8C"/>
                </a:solidFill>
                <a:latin typeface="Calibri" pitchFamily="34" charset="0"/>
                <a:ea typeface="Calibri" pitchFamily="34" charset="-122"/>
                <a:cs typeface="Calibri" pitchFamily="34" charset="-120"/>
              </a:rPr>
              <a:t>Temporary targets with an expiry date. Die at end of quarter. Hit or missed, then replaced.</a:t>
            </a:r>
            <a:endParaRPr lang="en-US" sz="1100" dirty="0"/>
          </a:p>
        </p:txBody>
      </p:sp>
      <p:sp>
        <p:nvSpPr>
          <p:cNvPr id="17" name="Text 15"/>
          <p:cNvSpPr/>
          <p:nvPr/>
        </p:nvSpPr>
        <p:spPr>
          <a:xfrm>
            <a:off x="6766560" y="2999232"/>
            <a:ext cx="4069080" cy="1234440"/>
          </a:xfrm>
          <a:prstGeom prst="rect">
            <a:avLst/>
          </a:prstGeom>
          <a:noFill/>
          <a:ln/>
        </p:spPr>
        <p:txBody>
          <a:bodyPr wrap="square" lIns="0" tIns="0" rIns="0" bIns="0" rtlCol="0" anchor="t">
            <a:normAutofit/>
          </a:bodyPr>
          <a:lstStyle/>
          <a:p>
            <a:pPr algn="l" indent="0" marL="0">
              <a:buNone/>
            </a:pPr>
            <a:r>
              <a:rPr lang="en-US" sz="1120" dirty="0">
                <a:solidFill>
                  <a:srgbClr val="1E2761"/>
                </a:solidFill>
                <a:latin typeface="Calibri" pitchFamily="34" charset="0"/>
                <a:ea typeface="Calibri" pitchFamily="34" charset="-122"/>
                <a:cs typeface="Calibri" pitchFamily="34" charset="-120"/>
              </a:rPr>
              <a:t>Objective: Prove product-market fit in industrial SMEs</a:t>
            </a:r>
            <a:endParaRPr lang="en-US" sz="1120" dirty="0"/>
          </a:p>
          <a:p>
            <a:pPr algn="l" indent="0" marL="0">
              <a:buNone/>
            </a:pPr>
            <a:r>
              <a:rPr lang="en-US" sz="1120" dirty="0">
                <a:solidFill>
                  <a:srgbClr val="1E2761"/>
                </a:solidFill>
                <a:latin typeface="Calibri" pitchFamily="34" charset="0"/>
                <a:ea typeface="Calibri" pitchFamily="34" charset="-122"/>
                <a:cs typeface="Calibri" pitchFamily="34" charset="-120"/>
              </a:rPr>
              <a:t>KR1: 2 paying PoCs by Jun 30</a:t>
            </a:r>
            <a:endParaRPr lang="en-US" sz="1120" dirty="0"/>
          </a:p>
          <a:p>
            <a:pPr algn="l" indent="0" marL="0">
              <a:buNone/>
            </a:pPr>
            <a:r>
              <a:rPr lang="en-US" sz="1120" dirty="0">
                <a:solidFill>
                  <a:srgbClr val="1E2761"/>
                </a:solidFill>
                <a:latin typeface="Calibri" pitchFamily="34" charset="0"/>
                <a:ea typeface="Calibri" pitchFamily="34" charset="-122"/>
                <a:cs typeface="Calibri" pitchFamily="34" charset="-120"/>
              </a:rPr>
              <a:t>KR2: A score &gt; 0.80 on Decfa corpus</a:t>
            </a:r>
            <a:endParaRPr lang="en-US" sz="1120" dirty="0"/>
          </a:p>
          <a:p>
            <a:pPr algn="l" indent="0" marL="0">
              <a:buNone/>
            </a:pPr>
            <a:r>
              <a:rPr lang="en-US" sz="1120" dirty="0">
                <a:solidFill>
                  <a:srgbClr val="1E2761"/>
                </a:solidFill>
                <a:latin typeface="Calibri" pitchFamily="34" charset="0"/>
                <a:ea typeface="Calibri" pitchFamily="34" charset="-122"/>
                <a:cs typeface="Calibri" pitchFamily="34" charset="-120"/>
              </a:rPr>
              <a:t>KR3: 5 qualified pipeline conversations</a:t>
            </a:r>
            <a:endParaRPr lang="en-US" sz="1120" dirty="0"/>
          </a:p>
        </p:txBody>
      </p:sp>
      <p:sp>
        <p:nvSpPr>
          <p:cNvPr id="18" name="Text 16"/>
          <p:cNvSpPr/>
          <p:nvPr/>
        </p:nvSpPr>
        <p:spPr>
          <a:xfrm>
            <a:off x="6601968" y="5230368"/>
            <a:ext cx="1645920" cy="146304"/>
          </a:xfrm>
          <a:prstGeom prst="rect">
            <a:avLst/>
          </a:prstGeom>
          <a:noFill/>
          <a:ln/>
        </p:spPr>
        <p:txBody>
          <a:bodyPr wrap="square" lIns="0" tIns="0" rIns="0" bIns="0" rtlCol="0" anchor="t">
            <a:normAutofit/>
          </a:bodyPr>
          <a:lstStyle/>
          <a:p>
            <a:pPr algn="l" indent="0" marL="0">
              <a:buNone/>
            </a:pPr>
            <a:r>
              <a:rPr lang="en-US" sz="950" b="1" dirty="0">
                <a:solidFill>
                  <a:srgbClr val="5A6E8C"/>
                </a:solidFill>
                <a:latin typeface="Calibri" pitchFamily="34" charset="0"/>
                <a:ea typeface="Calibri" pitchFamily="34" charset="-122"/>
                <a:cs typeface="Calibri" pitchFamily="34" charset="-120"/>
              </a:rPr>
              <a:t>REVIEWED QUARTERLY</a:t>
            </a:r>
            <a:endParaRPr lang="en-US" sz="950" dirty="0"/>
          </a:p>
        </p:txBody>
      </p:sp>
      <p:sp>
        <p:nvSpPr>
          <p:cNvPr id="19" name="Shape 17"/>
          <p:cNvSpPr/>
          <p:nvPr/>
        </p:nvSpPr>
        <p:spPr>
          <a:xfrm>
            <a:off x="640080" y="5989320"/>
            <a:ext cx="10881360" cy="475488"/>
          </a:xfrm>
          <a:prstGeom prst="roundRect">
            <a:avLst>
              <a:gd name="adj" fmla="val 15385"/>
            </a:avLst>
          </a:prstGeom>
          <a:solidFill>
            <a:srgbClr val="FFFFFF"/>
          </a:solidFill>
          <a:ln w="12700">
            <a:solidFill>
              <a:srgbClr val="D9E4F2"/>
            </a:solidFill>
            <a:prstDash val="solid"/>
          </a:ln>
        </p:spPr>
      </p:sp>
      <p:sp>
        <p:nvSpPr>
          <p:cNvPr id="20" name="Shape 18"/>
          <p:cNvSpPr/>
          <p:nvPr/>
        </p:nvSpPr>
        <p:spPr>
          <a:xfrm>
            <a:off x="640080" y="5989320"/>
            <a:ext cx="64008" cy="475488"/>
          </a:xfrm>
          <a:prstGeom prst="rect">
            <a:avLst/>
          </a:prstGeom>
          <a:solidFill>
            <a:srgbClr val="4FC3F7"/>
          </a:solidFill>
          <a:ln w="12700">
            <a:solidFill>
              <a:srgbClr val="4FC3F7"/>
            </a:solidFill>
            <a:prstDash val="solid"/>
          </a:ln>
        </p:spPr>
      </p:sp>
      <p:sp>
        <p:nvSpPr>
          <p:cNvPr id="21" name="Text 19"/>
          <p:cNvSpPr/>
          <p:nvPr/>
        </p:nvSpPr>
        <p:spPr>
          <a:xfrm>
            <a:off x="795528" y="6099048"/>
            <a:ext cx="10561320" cy="228600"/>
          </a:xfrm>
          <a:prstGeom prst="rect">
            <a:avLst/>
          </a:prstGeom>
          <a:noFill/>
          <a:ln/>
        </p:spPr>
        <p:txBody>
          <a:bodyPr wrap="square" lIns="0" tIns="0" rIns="0" bIns="0" rtlCol="0" anchor="t">
            <a:normAutofit/>
          </a:bodyPr>
          <a:lstStyle/>
          <a:p>
            <a:pPr algn="ctr" indent="0" marL="0">
              <a:buNone/>
            </a:pPr>
            <a:r>
              <a:rPr lang="en-US" sz="1150" i="1" dirty="0">
                <a:solidFill>
                  <a:srgbClr val="1E2761"/>
                </a:solidFill>
                <a:latin typeface="Calibri" pitchFamily="34" charset="0"/>
                <a:ea typeface="Calibri" pitchFamily="34" charset="-122"/>
                <a:cs typeface="Calibri" pitchFamily="34" charset="-120"/>
              </a:rPr>
              <a:t>The relationship: OKR defines the destination. KPI tells you if you're moving toward it.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02920"/>
            <a:ext cx="3657600" cy="411480"/>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Calibri" pitchFamily="34" charset="0"/>
                <a:ea typeface="Calibri" pitchFamily="34" charset="-122"/>
                <a:cs typeface="Calibri" pitchFamily="34" charset="-120"/>
              </a:rPr>
              <a:t>The ARR equation</a:t>
            </a:r>
            <a:endParaRPr lang="en-US" sz="2800" dirty="0"/>
          </a:p>
        </p:txBody>
      </p:sp>
      <p:sp>
        <p:nvSpPr>
          <p:cNvPr id="3" name="Text 1"/>
          <p:cNvSpPr/>
          <p:nvPr/>
        </p:nvSpPr>
        <p:spPr>
          <a:xfrm>
            <a:off x="822960" y="1325880"/>
            <a:ext cx="1463040" cy="146304"/>
          </a:xfrm>
          <a:prstGeom prst="rect">
            <a:avLst/>
          </a:prstGeom>
          <a:noFill/>
          <a:ln/>
        </p:spPr>
        <p:txBody>
          <a:bodyPr wrap="square" lIns="0" tIns="0" rIns="0" bIns="0" rtlCol="0" anchor="t">
            <a:normAutofit/>
          </a:bodyPr>
          <a:lstStyle/>
          <a:p>
            <a:pPr algn="l" indent="0" marL="0">
              <a:buNone/>
            </a:pPr>
            <a:r>
              <a:rPr lang="en-US" sz="1000" dirty="0">
                <a:solidFill>
                  <a:srgbClr val="CADCFC"/>
                </a:solidFill>
                <a:latin typeface="Calibri" pitchFamily="34" charset="0"/>
                <a:ea typeface="Calibri" pitchFamily="34" charset="-122"/>
                <a:cs typeface="Calibri" pitchFamily="34" charset="-120"/>
              </a:rPr>
              <a:t>Annual target</a:t>
            </a:r>
            <a:endParaRPr lang="en-US" sz="1000" dirty="0"/>
          </a:p>
        </p:txBody>
      </p:sp>
      <p:sp>
        <p:nvSpPr>
          <p:cNvPr id="4" name="Text 2"/>
          <p:cNvSpPr/>
          <p:nvPr/>
        </p:nvSpPr>
        <p:spPr>
          <a:xfrm>
            <a:off x="1828800" y="1307592"/>
            <a:ext cx="3383280" cy="256032"/>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Calibri" pitchFamily="34" charset="0"/>
                <a:ea typeface="Calibri" pitchFamily="34" charset="-122"/>
                <a:cs typeface="Calibri" pitchFamily="34" charset="-120"/>
              </a:rPr>
              <a:t>ARR × 3</a:t>
            </a:r>
            <a:endParaRPr lang="en-US" sz="1800" dirty="0"/>
          </a:p>
        </p:txBody>
      </p:sp>
      <p:sp>
        <p:nvSpPr>
          <p:cNvPr id="5" name="Text 3"/>
          <p:cNvSpPr/>
          <p:nvPr/>
        </p:nvSpPr>
        <p:spPr>
          <a:xfrm>
            <a:off x="822960" y="2148840"/>
            <a:ext cx="1463040" cy="146304"/>
          </a:xfrm>
          <a:prstGeom prst="rect">
            <a:avLst/>
          </a:prstGeom>
          <a:noFill/>
          <a:ln/>
        </p:spPr>
        <p:txBody>
          <a:bodyPr wrap="square" lIns="0" tIns="0" rIns="0" bIns="0" rtlCol="0" anchor="t">
            <a:normAutofit/>
          </a:bodyPr>
          <a:lstStyle/>
          <a:p>
            <a:pPr algn="l" indent="0" marL="0">
              <a:buNone/>
            </a:pPr>
            <a:r>
              <a:rPr lang="en-US" sz="1000" dirty="0">
                <a:solidFill>
                  <a:srgbClr val="CADCFC"/>
                </a:solidFill>
                <a:latin typeface="Calibri" pitchFamily="34" charset="0"/>
                <a:ea typeface="Calibri" pitchFamily="34" charset="-122"/>
                <a:cs typeface="Calibri" pitchFamily="34" charset="-120"/>
              </a:rPr>
              <a:t>Quarterly target</a:t>
            </a:r>
            <a:endParaRPr lang="en-US" sz="1000" dirty="0"/>
          </a:p>
        </p:txBody>
      </p:sp>
      <p:sp>
        <p:nvSpPr>
          <p:cNvPr id="6" name="Text 4"/>
          <p:cNvSpPr/>
          <p:nvPr/>
        </p:nvSpPr>
        <p:spPr>
          <a:xfrm>
            <a:off x="1828800" y="2130552"/>
            <a:ext cx="3383280" cy="256032"/>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Calibri" pitchFamily="34" charset="0"/>
                <a:ea typeface="Calibri" pitchFamily="34" charset="-122"/>
                <a:cs typeface="Calibri" pitchFamily="34" charset="-120"/>
              </a:rPr>
              <a:t>ARR × 1.75 per quarter</a:t>
            </a:r>
            <a:endParaRPr lang="en-US" sz="1800" dirty="0"/>
          </a:p>
        </p:txBody>
      </p:sp>
      <p:sp>
        <p:nvSpPr>
          <p:cNvPr id="7" name="Text 5"/>
          <p:cNvSpPr/>
          <p:nvPr/>
        </p:nvSpPr>
        <p:spPr>
          <a:xfrm>
            <a:off x="822960" y="3017520"/>
            <a:ext cx="1463040" cy="146304"/>
          </a:xfrm>
          <a:prstGeom prst="rect">
            <a:avLst/>
          </a:prstGeom>
          <a:noFill/>
          <a:ln/>
        </p:spPr>
        <p:txBody>
          <a:bodyPr wrap="square" lIns="0" tIns="0" rIns="0" bIns="0" rtlCol="0" anchor="t">
            <a:normAutofit/>
          </a:bodyPr>
          <a:lstStyle/>
          <a:p>
            <a:pPr algn="l" indent="0" marL="0">
              <a:buNone/>
            </a:pPr>
            <a:r>
              <a:rPr lang="en-US" sz="1000" dirty="0">
                <a:solidFill>
                  <a:srgbClr val="CADCFC"/>
                </a:solidFill>
                <a:latin typeface="Calibri" pitchFamily="34" charset="0"/>
                <a:ea typeface="Calibri" pitchFamily="34" charset="-122"/>
                <a:cs typeface="Calibri" pitchFamily="34" charset="-120"/>
              </a:rPr>
              <a:t>Weekly target</a:t>
            </a:r>
            <a:endParaRPr lang="en-US" sz="1000" dirty="0"/>
          </a:p>
        </p:txBody>
      </p:sp>
      <p:sp>
        <p:nvSpPr>
          <p:cNvPr id="8" name="Text 6"/>
          <p:cNvSpPr/>
          <p:nvPr/>
        </p:nvSpPr>
        <p:spPr>
          <a:xfrm>
            <a:off x="1828800" y="2999232"/>
            <a:ext cx="3383280" cy="256032"/>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Calibri" pitchFamily="34" charset="0"/>
                <a:ea typeface="Calibri" pitchFamily="34" charset="-122"/>
                <a:cs typeface="Calibri" pitchFamily="34" charset="-120"/>
              </a:rPr>
              <a:t>ARR × 1.06 per week</a:t>
            </a:r>
            <a:endParaRPr lang="en-US" sz="1800" dirty="0"/>
          </a:p>
        </p:txBody>
      </p:sp>
      <p:sp>
        <p:nvSpPr>
          <p:cNvPr id="9" name="Text 7"/>
          <p:cNvSpPr/>
          <p:nvPr/>
        </p:nvSpPr>
        <p:spPr>
          <a:xfrm>
            <a:off x="822960" y="4050792"/>
            <a:ext cx="4206240" cy="365760"/>
          </a:xfrm>
          <a:prstGeom prst="rect">
            <a:avLst/>
          </a:prstGeom>
          <a:noFill/>
          <a:ln/>
        </p:spPr>
        <p:txBody>
          <a:bodyPr wrap="square" lIns="0" tIns="0" rIns="0" bIns="0" rtlCol="0" anchor="t">
            <a:normAutofit/>
          </a:bodyPr>
          <a:lstStyle/>
          <a:p>
            <a:pPr algn="l" indent="0" marL="0">
              <a:buNone/>
            </a:pPr>
            <a:r>
              <a:rPr lang="en-US" sz="2600" b="1" dirty="0">
                <a:solidFill>
                  <a:srgbClr val="4FC3F7"/>
                </a:solidFill>
                <a:latin typeface="Calibri" pitchFamily="34" charset="0"/>
                <a:ea typeface="Calibri" pitchFamily="34" charset="-122"/>
                <a:cs typeface="Calibri" pitchFamily="34" charset="-120"/>
              </a:rPr>
              <a:t>= +6% week over week</a:t>
            </a:r>
            <a:endParaRPr lang="en-US" sz="2600" dirty="0"/>
          </a:p>
        </p:txBody>
      </p:sp>
      <p:sp>
        <p:nvSpPr>
          <p:cNvPr id="10" name="Shape 8"/>
          <p:cNvSpPr/>
          <p:nvPr/>
        </p:nvSpPr>
        <p:spPr>
          <a:xfrm>
            <a:off x="6675120" y="1325880"/>
            <a:ext cx="2057400" cy="1828800"/>
          </a:xfrm>
          <a:prstGeom prst="roundRect">
            <a:avLst>
              <a:gd name="adj" fmla="val 4000"/>
            </a:avLst>
          </a:prstGeom>
          <a:solidFill>
            <a:srgbClr val="1E2761"/>
          </a:solidFill>
          <a:ln w="12700">
            <a:solidFill>
              <a:srgbClr val="FFFFFF"/>
            </a:solidFill>
            <a:prstDash val="solid"/>
          </a:ln>
        </p:spPr>
      </p:sp>
      <p:sp>
        <p:nvSpPr>
          <p:cNvPr id="11" name="Shape 9"/>
          <p:cNvSpPr/>
          <p:nvPr/>
        </p:nvSpPr>
        <p:spPr>
          <a:xfrm>
            <a:off x="6675120" y="1325880"/>
            <a:ext cx="64008" cy="1828800"/>
          </a:xfrm>
          <a:prstGeom prst="rect">
            <a:avLst/>
          </a:prstGeom>
          <a:solidFill>
            <a:srgbClr val="4FC3F7"/>
          </a:solidFill>
          <a:ln w="12700">
            <a:solidFill>
              <a:srgbClr val="4FC3F7"/>
            </a:solidFill>
            <a:prstDash val="solid"/>
          </a:ln>
        </p:spPr>
      </p:sp>
      <p:sp>
        <p:nvSpPr>
          <p:cNvPr id="12" name="Text 10"/>
          <p:cNvSpPr/>
          <p:nvPr/>
        </p:nvSpPr>
        <p:spPr>
          <a:xfrm>
            <a:off x="6903720" y="1691640"/>
            <a:ext cx="1600200" cy="594360"/>
          </a:xfrm>
          <a:prstGeom prst="rect">
            <a:avLst/>
          </a:prstGeom>
          <a:noFill/>
          <a:ln/>
        </p:spPr>
        <p:txBody>
          <a:bodyPr wrap="square" lIns="0" tIns="0" rIns="0" bIns="0" rtlCol="0" anchor="t">
            <a:normAutofit/>
          </a:bodyPr>
          <a:lstStyle/>
          <a:p>
            <a:pPr algn="ctr" indent="0" marL="0">
              <a:buNone/>
            </a:pPr>
            <a:r>
              <a:rPr lang="en-US" sz="4000" b="1" dirty="0">
                <a:solidFill>
                  <a:srgbClr val="4FC3F7"/>
                </a:solidFill>
                <a:latin typeface="Calibri" pitchFamily="34" charset="0"/>
                <a:ea typeface="Calibri" pitchFamily="34" charset="-122"/>
                <a:cs typeface="Calibri" pitchFamily="34" charset="-120"/>
              </a:rPr>
              <a:t>5–7%</a:t>
            </a:r>
            <a:endParaRPr lang="en-US" sz="4000" dirty="0"/>
          </a:p>
        </p:txBody>
      </p:sp>
      <p:sp>
        <p:nvSpPr>
          <p:cNvPr id="13" name="Text 11"/>
          <p:cNvSpPr/>
          <p:nvPr/>
        </p:nvSpPr>
        <p:spPr>
          <a:xfrm>
            <a:off x="6903720" y="2423160"/>
            <a:ext cx="1600200" cy="182880"/>
          </a:xfrm>
          <a:prstGeom prst="rect">
            <a:avLst/>
          </a:prstGeom>
          <a:noFill/>
          <a:ln/>
        </p:spPr>
        <p:txBody>
          <a:bodyPr wrap="square" lIns="0" tIns="0" rIns="0" bIns="0" rtlCol="0" anchor="t">
            <a:normAutofit/>
          </a:bodyPr>
          <a:lstStyle/>
          <a:p>
            <a:pPr algn="ctr" indent="0" marL="0">
              <a:buNone/>
            </a:pPr>
            <a:r>
              <a:rPr lang="en-US" sz="1100" dirty="0">
                <a:solidFill>
                  <a:srgbClr val="FFFFFF"/>
                </a:solidFill>
                <a:latin typeface="Calibri" pitchFamily="34" charset="0"/>
                <a:ea typeface="Calibri" pitchFamily="34" charset="-122"/>
                <a:cs typeface="Calibri" pitchFamily="34" charset="-120"/>
              </a:rPr>
              <a:t>WoW growth = good</a:t>
            </a:r>
            <a:endParaRPr lang="en-US" sz="1100" dirty="0"/>
          </a:p>
        </p:txBody>
      </p:sp>
      <p:sp>
        <p:nvSpPr>
          <p:cNvPr id="14" name="Shape 12"/>
          <p:cNvSpPr/>
          <p:nvPr/>
        </p:nvSpPr>
        <p:spPr>
          <a:xfrm>
            <a:off x="9144000" y="1325880"/>
            <a:ext cx="2011680" cy="1828800"/>
          </a:xfrm>
          <a:prstGeom prst="roundRect">
            <a:avLst>
              <a:gd name="adj" fmla="val 4000"/>
            </a:avLst>
          </a:prstGeom>
          <a:solidFill>
            <a:srgbClr val="4FC3F7"/>
          </a:solidFill>
          <a:ln w="12700">
            <a:solidFill>
              <a:srgbClr val="4FC3F7"/>
            </a:solidFill>
            <a:prstDash val="solid"/>
          </a:ln>
        </p:spPr>
      </p:sp>
      <p:sp>
        <p:nvSpPr>
          <p:cNvPr id="15" name="Text 13"/>
          <p:cNvSpPr/>
          <p:nvPr/>
        </p:nvSpPr>
        <p:spPr>
          <a:xfrm>
            <a:off x="9235440" y="1691640"/>
            <a:ext cx="1828800" cy="594360"/>
          </a:xfrm>
          <a:prstGeom prst="rect">
            <a:avLst/>
          </a:prstGeom>
          <a:noFill/>
          <a:ln/>
        </p:spPr>
        <p:txBody>
          <a:bodyPr wrap="square" lIns="0" tIns="0" rIns="0" bIns="0" rtlCol="0" anchor="t">
            <a:normAutofit/>
          </a:bodyPr>
          <a:lstStyle/>
          <a:p>
            <a:pPr algn="ctr" indent="0" marL="0">
              <a:buNone/>
            </a:pPr>
            <a:r>
              <a:rPr lang="en-US" sz="4000" b="1" dirty="0">
                <a:solidFill>
                  <a:srgbClr val="1E2761"/>
                </a:solidFill>
                <a:latin typeface="Calibri" pitchFamily="34" charset="0"/>
                <a:ea typeface="Calibri" pitchFamily="34" charset="-122"/>
                <a:cs typeface="Calibri" pitchFamily="34" charset="-120"/>
              </a:rPr>
              <a:t>10%</a:t>
            </a:r>
            <a:endParaRPr lang="en-US" sz="4000" dirty="0"/>
          </a:p>
        </p:txBody>
      </p:sp>
      <p:sp>
        <p:nvSpPr>
          <p:cNvPr id="16" name="Text 14"/>
          <p:cNvSpPr/>
          <p:nvPr/>
        </p:nvSpPr>
        <p:spPr>
          <a:xfrm>
            <a:off x="9281160" y="2423160"/>
            <a:ext cx="1783080" cy="182880"/>
          </a:xfrm>
          <a:prstGeom prst="rect">
            <a:avLst/>
          </a:prstGeom>
          <a:noFill/>
          <a:ln/>
        </p:spPr>
        <p:txBody>
          <a:bodyPr wrap="square" lIns="0" tIns="0" rIns="0" bIns="0" rtlCol="0" anchor="t">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WoW growth = magic</a:t>
            </a:r>
            <a:endParaRPr lang="en-US" sz="1100" dirty="0"/>
          </a:p>
        </p:txBody>
      </p:sp>
      <p:sp>
        <p:nvSpPr>
          <p:cNvPr id="17" name="Text 15"/>
          <p:cNvSpPr/>
          <p:nvPr/>
        </p:nvSpPr>
        <p:spPr>
          <a:xfrm>
            <a:off x="731520" y="6080760"/>
            <a:ext cx="10698480" cy="164592"/>
          </a:xfrm>
          <a:prstGeom prst="rect">
            <a:avLst/>
          </a:prstGeom>
          <a:noFill/>
          <a:ln/>
        </p:spPr>
        <p:txBody>
          <a:bodyPr wrap="square" lIns="0" tIns="0" rIns="0" bIns="0" rtlCol="0" anchor="t">
            <a:normAutofit/>
          </a:bodyPr>
          <a:lstStyle/>
          <a:p>
            <a:pPr algn="ctr" indent="0" marL="0">
              <a:buNone/>
            </a:pPr>
            <a:r>
              <a:rPr lang="en-US" sz="1020" dirty="0">
                <a:solidFill>
                  <a:srgbClr val="CADCFC"/>
                </a:solidFill>
                <a:latin typeface="Calibri" pitchFamily="34" charset="0"/>
                <a:ea typeface="Calibri" pitchFamily="34" charset="-122"/>
                <a:cs typeface="Calibri" pitchFamily="34" charset="-120"/>
              </a:rPr>
              <a:t>Two levers only: N_clients (new logos) and ACV (upsell existing). Every week the question is one of these two — never both.</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Phase 0 — Ignition (Today)</a:t>
            </a:r>
            <a:endParaRPr lang="en-US" sz="2500" dirty="0"/>
          </a:p>
        </p:txBody>
      </p:sp>
      <p:sp>
        <p:nvSpPr>
          <p:cNvPr id="3" name="Shape 1"/>
          <p:cNvSpPr/>
          <p:nvPr/>
        </p:nvSpPr>
        <p:spPr>
          <a:xfrm>
            <a:off x="731520" y="1097280"/>
            <a:ext cx="2606040" cy="530352"/>
          </a:xfrm>
          <a:prstGeom prst="roundRect">
            <a:avLst/>
          </a:prstGeom>
          <a:solidFill>
            <a:srgbClr val="4FC3F7"/>
          </a:solidFill>
          <a:ln w="19050">
            <a:solidFill>
              <a:srgbClr val="4FC3F7"/>
            </a:solidFill>
            <a:prstDash val="solid"/>
          </a:ln>
        </p:spPr>
      </p:sp>
      <p:sp>
        <p:nvSpPr>
          <p:cNvPr id="4" name="Text 2"/>
          <p:cNvSpPr/>
          <p:nvPr/>
        </p:nvSpPr>
        <p:spPr>
          <a:xfrm>
            <a:off x="841248" y="1161288"/>
            <a:ext cx="2386584" cy="182880"/>
          </a:xfrm>
          <a:prstGeom prst="rect">
            <a:avLst/>
          </a:prstGeom>
          <a:noFill/>
          <a:ln/>
        </p:spPr>
        <p:txBody>
          <a:bodyPr wrap="square" lIns="0" tIns="0" rIns="0" bIns="0" rtlCol="0" anchor="t">
            <a:normAutofit/>
          </a:bodyPr>
          <a:lstStyle/>
          <a:p>
            <a:pPr algn="ctr" indent="0" marL="0">
              <a:buNone/>
            </a:pPr>
            <a:r>
              <a:rPr lang="en-US" sz="1130" b="1" dirty="0">
                <a:solidFill>
                  <a:srgbClr val="1E2761"/>
                </a:solidFill>
                <a:latin typeface="Calibri" pitchFamily="34" charset="0"/>
                <a:ea typeface="Calibri" pitchFamily="34" charset="-122"/>
                <a:cs typeface="Calibri" pitchFamily="34" charset="-120"/>
              </a:rPr>
              <a:t>Phase 0 · Ignition</a:t>
            </a:r>
            <a:endParaRPr lang="en-US" sz="1130" dirty="0"/>
          </a:p>
        </p:txBody>
      </p:sp>
      <p:sp>
        <p:nvSpPr>
          <p:cNvPr id="5" name="Text 3"/>
          <p:cNvSpPr/>
          <p:nvPr/>
        </p:nvSpPr>
        <p:spPr>
          <a:xfrm>
            <a:off x="841248" y="1353312"/>
            <a:ext cx="2386584" cy="146304"/>
          </a:xfrm>
          <a:prstGeom prst="rect">
            <a:avLst/>
          </a:prstGeom>
          <a:noFill/>
          <a:ln/>
        </p:spPr>
        <p:txBody>
          <a:bodyPr wrap="square" lIns="0" tIns="0" rIns="0" bIns="0" rtlCol="0" anchor="t">
            <a:normAutofit/>
          </a:bodyPr>
          <a:lstStyle/>
          <a:p>
            <a:pPr algn="ctr" indent="0" marL="0">
              <a:buNone/>
            </a:pPr>
            <a:r>
              <a:rPr lang="en-US" sz="850" dirty="0">
                <a:solidFill>
                  <a:srgbClr val="1E2761"/>
                </a:solidFill>
                <a:latin typeface="Calibri" pitchFamily="34" charset="0"/>
                <a:ea typeface="Calibri" pitchFamily="34" charset="-122"/>
                <a:cs typeface="Calibri" pitchFamily="34" charset="-120"/>
              </a:rPr>
              <a:t>TODAY</a:t>
            </a:r>
            <a:endParaRPr lang="en-US" sz="850" dirty="0"/>
          </a:p>
        </p:txBody>
      </p:sp>
      <p:sp>
        <p:nvSpPr>
          <p:cNvPr id="6" name="Shape 4"/>
          <p:cNvSpPr/>
          <p:nvPr/>
        </p:nvSpPr>
        <p:spPr>
          <a:xfrm>
            <a:off x="3364992" y="1207008"/>
            <a:ext cx="109728" cy="292608"/>
          </a:xfrm>
          <a:prstGeom prst="chevron">
            <a:avLst/>
          </a:prstGeom>
          <a:solidFill>
            <a:srgbClr val="D9E4F2"/>
          </a:solidFill>
          <a:ln w="12700">
            <a:solidFill>
              <a:srgbClr val="D9E4F2"/>
            </a:solidFill>
            <a:prstDash val="solid"/>
          </a:ln>
        </p:spPr>
      </p:sp>
      <p:sp>
        <p:nvSpPr>
          <p:cNvPr id="7" name="Shape 5"/>
          <p:cNvSpPr/>
          <p:nvPr/>
        </p:nvSpPr>
        <p:spPr>
          <a:xfrm>
            <a:off x="3520440" y="1097280"/>
            <a:ext cx="2606040" cy="530352"/>
          </a:xfrm>
          <a:prstGeom prst="roundRect">
            <a:avLst/>
          </a:prstGeom>
          <a:solidFill>
            <a:srgbClr val="F7F9FC"/>
          </a:solidFill>
          <a:ln w="19050">
            <a:solidFill>
              <a:srgbClr val="4FC3F7"/>
            </a:solidFill>
            <a:prstDash val="solid"/>
          </a:ln>
        </p:spPr>
      </p:sp>
      <p:sp>
        <p:nvSpPr>
          <p:cNvPr id="8" name="Text 6"/>
          <p:cNvSpPr/>
          <p:nvPr/>
        </p:nvSpPr>
        <p:spPr>
          <a:xfrm>
            <a:off x="3630168" y="1161288"/>
            <a:ext cx="2386584" cy="182880"/>
          </a:xfrm>
          <a:prstGeom prst="rect">
            <a:avLst/>
          </a:prstGeom>
          <a:noFill/>
          <a:ln/>
        </p:spPr>
        <p:txBody>
          <a:bodyPr wrap="square" lIns="0" tIns="0" rIns="0" bIns="0" rtlCol="0" anchor="t">
            <a:normAutofit/>
          </a:bodyPr>
          <a:lstStyle/>
          <a:p>
            <a:pPr algn="ctr" indent="0" marL="0">
              <a:buNone/>
            </a:pPr>
            <a:r>
              <a:rPr lang="en-US" sz="1130" b="1" dirty="0">
                <a:solidFill>
                  <a:srgbClr val="1E2761"/>
                </a:solidFill>
                <a:latin typeface="Calibri" pitchFamily="34" charset="0"/>
                <a:ea typeface="Calibri" pitchFamily="34" charset="-122"/>
                <a:cs typeface="Calibri" pitchFamily="34" charset="-120"/>
              </a:rPr>
              <a:t>Phase 1 · PoC Execution</a:t>
            </a:r>
            <a:endParaRPr lang="en-US" sz="1130" dirty="0"/>
          </a:p>
        </p:txBody>
      </p:sp>
      <p:sp>
        <p:nvSpPr>
          <p:cNvPr id="9" name="Text 7"/>
          <p:cNvSpPr/>
          <p:nvPr/>
        </p:nvSpPr>
        <p:spPr>
          <a:xfrm>
            <a:off x="3630168" y="1353312"/>
            <a:ext cx="2386584" cy="146304"/>
          </a:xfrm>
          <a:prstGeom prst="rect">
            <a:avLst/>
          </a:prstGeom>
          <a:noFill/>
          <a:ln/>
        </p:spPr>
        <p:txBody>
          <a:bodyPr wrap="square" lIns="0" tIns="0" rIns="0" bIns="0" rtlCol="0" anchor="t">
            <a:normAutofit/>
          </a:bodyPr>
          <a:lstStyle/>
          <a:p>
            <a:pPr algn="ctr" indent="0" marL="0">
              <a:buNone/>
            </a:pPr>
            <a:r>
              <a:rPr lang="en-US" sz="850" dirty="0">
                <a:solidFill>
                  <a:srgbClr val="5A6E8C"/>
                </a:solidFill>
                <a:latin typeface="Calibri" pitchFamily="34" charset="0"/>
                <a:ea typeface="Calibri" pitchFamily="34" charset="-122"/>
                <a:cs typeface="Calibri" pitchFamily="34" charset="-120"/>
              </a:rPr>
              <a:t>Apr 7 → Jul 1</a:t>
            </a:r>
            <a:endParaRPr lang="en-US" sz="850" dirty="0"/>
          </a:p>
        </p:txBody>
      </p:sp>
      <p:sp>
        <p:nvSpPr>
          <p:cNvPr id="10" name="Shape 8"/>
          <p:cNvSpPr/>
          <p:nvPr/>
        </p:nvSpPr>
        <p:spPr>
          <a:xfrm>
            <a:off x="6153912" y="1207008"/>
            <a:ext cx="109728" cy="292608"/>
          </a:xfrm>
          <a:prstGeom prst="chevron">
            <a:avLst/>
          </a:prstGeom>
          <a:solidFill>
            <a:srgbClr val="D9E4F2"/>
          </a:solidFill>
          <a:ln w="12700">
            <a:solidFill>
              <a:srgbClr val="D9E4F2"/>
            </a:solidFill>
            <a:prstDash val="solid"/>
          </a:ln>
        </p:spPr>
      </p:sp>
      <p:sp>
        <p:nvSpPr>
          <p:cNvPr id="11" name="Shape 9"/>
          <p:cNvSpPr/>
          <p:nvPr/>
        </p:nvSpPr>
        <p:spPr>
          <a:xfrm>
            <a:off x="6309360" y="1097280"/>
            <a:ext cx="2606040" cy="530352"/>
          </a:xfrm>
          <a:prstGeom prst="roundRect">
            <a:avLst/>
          </a:prstGeom>
          <a:solidFill>
            <a:srgbClr val="F7F9FC"/>
          </a:solidFill>
          <a:ln w="19050">
            <a:solidFill>
              <a:srgbClr val="4FC3F7"/>
            </a:solidFill>
            <a:prstDash val="solid"/>
          </a:ln>
        </p:spPr>
      </p:sp>
      <p:sp>
        <p:nvSpPr>
          <p:cNvPr id="12" name="Text 10"/>
          <p:cNvSpPr/>
          <p:nvPr/>
        </p:nvSpPr>
        <p:spPr>
          <a:xfrm>
            <a:off x="6419088" y="1161288"/>
            <a:ext cx="2386584" cy="182880"/>
          </a:xfrm>
          <a:prstGeom prst="rect">
            <a:avLst/>
          </a:prstGeom>
          <a:noFill/>
          <a:ln/>
        </p:spPr>
        <p:txBody>
          <a:bodyPr wrap="square" lIns="0" tIns="0" rIns="0" bIns="0" rtlCol="0" anchor="t">
            <a:normAutofit/>
          </a:bodyPr>
          <a:lstStyle/>
          <a:p>
            <a:pPr algn="ctr" indent="0" marL="0">
              <a:buNone/>
            </a:pPr>
            <a:r>
              <a:rPr lang="en-US" sz="1130" b="1" dirty="0">
                <a:solidFill>
                  <a:srgbClr val="1E2761"/>
                </a:solidFill>
                <a:latin typeface="Calibri" pitchFamily="34" charset="0"/>
                <a:ea typeface="Calibri" pitchFamily="34" charset="-122"/>
                <a:cs typeface="Calibri" pitchFamily="34" charset="-120"/>
              </a:rPr>
              <a:t>Phase 2 · Pipeline</a:t>
            </a:r>
            <a:endParaRPr lang="en-US" sz="1130" dirty="0"/>
          </a:p>
        </p:txBody>
      </p:sp>
      <p:sp>
        <p:nvSpPr>
          <p:cNvPr id="13" name="Text 11"/>
          <p:cNvSpPr/>
          <p:nvPr/>
        </p:nvSpPr>
        <p:spPr>
          <a:xfrm>
            <a:off x="6419088" y="1353312"/>
            <a:ext cx="2386584" cy="146304"/>
          </a:xfrm>
          <a:prstGeom prst="rect">
            <a:avLst/>
          </a:prstGeom>
          <a:noFill/>
          <a:ln/>
        </p:spPr>
        <p:txBody>
          <a:bodyPr wrap="square" lIns="0" tIns="0" rIns="0" bIns="0" rtlCol="0" anchor="t">
            <a:normAutofit/>
          </a:bodyPr>
          <a:lstStyle/>
          <a:p>
            <a:pPr algn="ctr" indent="0" marL="0">
              <a:buNone/>
            </a:pPr>
            <a:r>
              <a:rPr lang="en-US" sz="850" dirty="0">
                <a:solidFill>
                  <a:srgbClr val="5A6E8C"/>
                </a:solidFill>
                <a:latin typeface="Calibri" pitchFamily="34" charset="0"/>
                <a:ea typeface="Calibri" pitchFamily="34" charset="-122"/>
                <a:cs typeface="Calibri" pitchFamily="34" charset="-120"/>
              </a:rPr>
              <a:t>Jul → Sep</a:t>
            </a:r>
            <a:endParaRPr lang="en-US" sz="850" dirty="0"/>
          </a:p>
        </p:txBody>
      </p:sp>
      <p:sp>
        <p:nvSpPr>
          <p:cNvPr id="14" name="Shape 12"/>
          <p:cNvSpPr/>
          <p:nvPr/>
        </p:nvSpPr>
        <p:spPr>
          <a:xfrm>
            <a:off x="8942832" y="1207008"/>
            <a:ext cx="109728" cy="292608"/>
          </a:xfrm>
          <a:prstGeom prst="chevron">
            <a:avLst/>
          </a:prstGeom>
          <a:solidFill>
            <a:srgbClr val="D9E4F2"/>
          </a:solidFill>
          <a:ln w="12700">
            <a:solidFill>
              <a:srgbClr val="D9E4F2"/>
            </a:solidFill>
            <a:prstDash val="solid"/>
          </a:ln>
        </p:spPr>
      </p:sp>
      <p:sp>
        <p:nvSpPr>
          <p:cNvPr id="15" name="Shape 13"/>
          <p:cNvSpPr/>
          <p:nvPr/>
        </p:nvSpPr>
        <p:spPr>
          <a:xfrm>
            <a:off x="9098280" y="1097280"/>
            <a:ext cx="2606040" cy="530352"/>
          </a:xfrm>
          <a:prstGeom prst="roundRect">
            <a:avLst/>
          </a:prstGeom>
          <a:solidFill>
            <a:srgbClr val="F7F9FC"/>
          </a:solidFill>
          <a:ln w="19050">
            <a:solidFill>
              <a:srgbClr val="4FC3F7"/>
            </a:solidFill>
            <a:prstDash val="solid"/>
          </a:ln>
        </p:spPr>
      </p:sp>
      <p:sp>
        <p:nvSpPr>
          <p:cNvPr id="16" name="Text 14"/>
          <p:cNvSpPr/>
          <p:nvPr/>
        </p:nvSpPr>
        <p:spPr>
          <a:xfrm>
            <a:off x="9208008" y="1161288"/>
            <a:ext cx="2386584" cy="182880"/>
          </a:xfrm>
          <a:prstGeom prst="rect">
            <a:avLst/>
          </a:prstGeom>
          <a:noFill/>
          <a:ln/>
        </p:spPr>
        <p:txBody>
          <a:bodyPr wrap="square" lIns="0" tIns="0" rIns="0" bIns="0" rtlCol="0" anchor="t">
            <a:normAutofit/>
          </a:bodyPr>
          <a:lstStyle/>
          <a:p>
            <a:pPr algn="ctr" indent="0" marL="0">
              <a:buNone/>
            </a:pPr>
            <a:r>
              <a:rPr lang="en-US" sz="1130" b="1" dirty="0">
                <a:solidFill>
                  <a:srgbClr val="1E2761"/>
                </a:solidFill>
                <a:latin typeface="Calibri" pitchFamily="34" charset="0"/>
                <a:ea typeface="Calibri" pitchFamily="34" charset="-122"/>
                <a:cs typeface="Calibri" pitchFamily="34" charset="-120"/>
              </a:rPr>
              <a:t>Phase 3 · Launch</a:t>
            </a:r>
            <a:endParaRPr lang="en-US" sz="1130" dirty="0"/>
          </a:p>
        </p:txBody>
      </p:sp>
      <p:sp>
        <p:nvSpPr>
          <p:cNvPr id="17" name="Text 15"/>
          <p:cNvSpPr/>
          <p:nvPr/>
        </p:nvSpPr>
        <p:spPr>
          <a:xfrm>
            <a:off x="9208008" y="1353312"/>
            <a:ext cx="2386584" cy="146304"/>
          </a:xfrm>
          <a:prstGeom prst="rect">
            <a:avLst/>
          </a:prstGeom>
          <a:noFill/>
          <a:ln/>
        </p:spPr>
        <p:txBody>
          <a:bodyPr wrap="square" lIns="0" tIns="0" rIns="0" bIns="0" rtlCol="0" anchor="t">
            <a:normAutofit/>
          </a:bodyPr>
          <a:lstStyle/>
          <a:p>
            <a:pPr algn="ctr" indent="0" marL="0">
              <a:buNone/>
            </a:pPr>
            <a:r>
              <a:rPr lang="en-US" sz="850" dirty="0">
                <a:solidFill>
                  <a:srgbClr val="5A6E8C"/>
                </a:solidFill>
                <a:latin typeface="Calibri" pitchFamily="34" charset="0"/>
                <a:ea typeface="Calibri" pitchFamily="34" charset="-122"/>
                <a:cs typeface="Calibri" pitchFamily="34" charset="-120"/>
              </a:rPr>
              <a:t>Oct → Dec</a:t>
            </a:r>
            <a:endParaRPr lang="en-US" sz="850" dirty="0"/>
          </a:p>
        </p:txBody>
      </p:sp>
      <p:sp>
        <p:nvSpPr>
          <p:cNvPr id="18" name="Shape 16"/>
          <p:cNvSpPr/>
          <p:nvPr/>
        </p:nvSpPr>
        <p:spPr>
          <a:xfrm>
            <a:off x="1920240" y="1874520"/>
            <a:ext cx="8321040" cy="3017520"/>
          </a:xfrm>
          <a:prstGeom prst="roundRect">
            <a:avLst>
              <a:gd name="adj" fmla="val 2424"/>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9" name="Shape 17"/>
          <p:cNvSpPr/>
          <p:nvPr/>
        </p:nvSpPr>
        <p:spPr>
          <a:xfrm>
            <a:off x="1920240" y="1874520"/>
            <a:ext cx="64008" cy="3017520"/>
          </a:xfrm>
          <a:prstGeom prst="rect">
            <a:avLst/>
          </a:prstGeom>
          <a:solidFill>
            <a:srgbClr val="4FC3F7"/>
          </a:solidFill>
          <a:ln w="12700">
            <a:solidFill>
              <a:srgbClr val="4FC3F7"/>
            </a:solidFill>
            <a:prstDash val="solid"/>
          </a:ln>
        </p:spPr>
      </p:sp>
      <p:sp>
        <p:nvSpPr>
          <p:cNvPr id="20" name="Text 18"/>
          <p:cNvSpPr/>
          <p:nvPr/>
        </p:nvSpPr>
        <p:spPr>
          <a:xfrm>
            <a:off x="2240280" y="2148840"/>
            <a:ext cx="3200400" cy="256032"/>
          </a:xfrm>
          <a:prstGeom prst="rect">
            <a:avLst/>
          </a:prstGeom>
          <a:noFill/>
          <a:ln/>
        </p:spPr>
        <p:txBody>
          <a:bodyPr wrap="square" lIns="0" tIns="0" rIns="0" bIns="0" rtlCol="0" anchor="t">
            <a:normAutofit/>
          </a:bodyPr>
          <a:lstStyle/>
          <a:p>
            <a:pPr algn="l" indent="0" marL="0">
              <a:buNone/>
            </a:pPr>
            <a:r>
              <a:rPr lang="en-US" sz="1800" b="1" dirty="0">
                <a:solidFill>
                  <a:srgbClr val="1E2761"/>
                </a:solidFill>
                <a:latin typeface="Calibri" pitchFamily="34" charset="0"/>
                <a:ea typeface="Calibri" pitchFamily="34" charset="-122"/>
                <a:cs typeface="Calibri" pitchFamily="34" charset="-120"/>
              </a:rPr>
              <a:t>Phase 0 — Ignition</a:t>
            </a:r>
            <a:endParaRPr lang="en-US" sz="1800" dirty="0"/>
          </a:p>
        </p:txBody>
      </p:sp>
      <p:sp>
        <p:nvSpPr>
          <p:cNvPr id="21" name="Text 19"/>
          <p:cNvSpPr/>
          <p:nvPr/>
        </p:nvSpPr>
        <p:spPr>
          <a:xfrm>
            <a:off x="2240280" y="2450592"/>
            <a:ext cx="1828800" cy="146304"/>
          </a:xfrm>
          <a:prstGeom prst="rect">
            <a:avLst/>
          </a:prstGeom>
          <a:noFill/>
          <a:ln/>
        </p:spPr>
        <p:txBody>
          <a:bodyPr wrap="square" lIns="0" tIns="0" rIns="0" bIns="0" rtlCol="0" anchor="t">
            <a:normAutofit/>
          </a:bodyPr>
          <a:lstStyle/>
          <a:p>
            <a:pPr algn="l" indent="0" marL="0">
              <a:buNone/>
            </a:pPr>
            <a:r>
              <a:rPr lang="en-US" sz="1020" dirty="0">
                <a:solidFill>
                  <a:srgbClr val="5A6E8C"/>
                </a:solidFill>
                <a:latin typeface="Calibri" pitchFamily="34" charset="0"/>
                <a:ea typeface="Calibri" pitchFamily="34" charset="-122"/>
                <a:cs typeface="Calibri" pitchFamily="34" charset="-120"/>
              </a:rPr>
              <a:t>Apr 3 – Apr 7, 2026</a:t>
            </a:r>
            <a:endParaRPr lang="en-US" sz="1020" dirty="0"/>
          </a:p>
        </p:txBody>
      </p:sp>
      <p:sp>
        <p:nvSpPr>
          <p:cNvPr id="22" name="Text 20"/>
          <p:cNvSpPr/>
          <p:nvPr/>
        </p:nvSpPr>
        <p:spPr>
          <a:xfrm>
            <a:off x="2240280" y="2788920"/>
            <a:ext cx="5943600" cy="274320"/>
          </a:xfrm>
          <a:prstGeom prst="rect">
            <a:avLst/>
          </a:prstGeom>
          <a:noFill/>
          <a:ln/>
        </p:spPr>
        <p:txBody>
          <a:bodyPr wrap="square" lIns="0" tIns="0" rIns="0" bIns="0" rtlCol="0" anchor="t">
            <a:normAutofit/>
          </a:bodyPr>
          <a:lstStyle/>
          <a:p>
            <a:pPr algn="l" indent="0" marL="0">
              <a:buNone/>
            </a:pPr>
            <a:r>
              <a:rPr lang="en-US" sz="1500" i="1" dirty="0">
                <a:solidFill>
                  <a:srgbClr val="1E2761"/>
                </a:solidFill>
                <a:latin typeface="Calibri" pitchFamily="34" charset="0"/>
                <a:ea typeface="Calibri" pitchFamily="34" charset="-122"/>
                <a:cs typeface="Calibri" pitchFamily="34" charset="-120"/>
              </a:rPr>
              <a:t>Is the team operationally ready to execute?</a:t>
            </a:r>
            <a:endParaRPr lang="en-US" sz="1500" dirty="0"/>
          </a:p>
        </p:txBody>
      </p:sp>
      <p:sp>
        <p:nvSpPr>
          <p:cNvPr id="23" name="Text 21"/>
          <p:cNvSpPr/>
          <p:nvPr/>
        </p:nvSpPr>
        <p:spPr>
          <a:xfrm>
            <a:off x="2240280" y="3319272"/>
            <a:ext cx="914400" cy="146304"/>
          </a:xfrm>
          <a:prstGeom prst="rect">
            <a:avLst/>
          </a:prstGeom>
          <a:noFill/>
          <a:ln/>
        </p:spPr>
        <p:txBody>
          <a:bodyPr wrap="square" lIns="0" tIns="0" rIns="0" bIns="0" rtlCol="0" anchor="t">
            <a:normAutofit/>
          </a:bodyPr>
          <a:lstStyle/>
          <a:p>
            <a:pPr algn="l" indent="0" marL="0">
              <a:buNone/>
            </a:pPr>
            <a:r>
              <a:rPr lang="en-US" sz="1100" b="1" dirty="0">
                <a:solidFill>
                  <a:srgbClr val="1E2761"/>
                </a:solidFill>
                <a:latin typeface="Calibri" pitchFamily="34" charset="0"/>
                <a:ea typeface="Calibri" pitchFamily="34" charset="-122"/>
                <a:cs typeface="Calibri" pitchFamily="34" charset="-120"/>
              </a:rPr>
              <a:t>North Star:</a:t>
            </a:r>
            <a:endParaRPr lang="en-US" sz="1100" dirty="0"/>
          </a:p>
        </p:txBody>
      </p:sp>
      <p:sp>
        <p:nvSpPr>
          <p:cNvPr id="24" name="Text 22"/>
          <p:cNvSpPr/>
          <p:nvPr/>
        </p:nvSpPr>
        <p:spPr>
          <a:xfrm>
            <a:off x="3154680" y="3319272"/>
            <a:ext cx="6217920" cy="146304"/>
          </a:xfrm>
          <a:prstGeom prst="rect">
            <a:avLst/>
          </a:prstGeom>
          <a:noFill/>
          <a:ln/>
        </p:spPr>
        <p:txBody>
          <a:bodyPr wrap="square" lIns="0" tIns="0" rIns="0" bIns="0" rtlCol="0" anchor="t">
            <a:normAutofit/>
          </a:bodyPr>
          <a:lstStyle/>
          <a:p>
            <a:pPr algn="l" indent="0" marL="0">
              <a:buNone/>
            </a:pPr>
            <a:r>
              <a:rPr lang="en-US" sz="1100" dirty="0">
                <a:solidFill>
                  <a:srgbClr val="5A6E8C"/>
                </a:solidFill>
                <a:latin typeface="Calibri" pitchFamily="34" charset="0"/>
                <a:ea typeface="Calibri" pitchFamily="34" charset="-122"/>
                <a:cs typeface="Calibri" pitchFamily="34" charset="-120"/>
              </a:rPr>
              <a:t>Demo readiness + OS installed — binary by April 7</a:t>
            </a:r>
            <a:endParaRPr lang="en-US" sz="1100" dirty="0"/>
          </a:p>
        </p:txBody>
      </p:sp>
      <p:sp>
        <p:nvSpPr>
          <p:cNvPr id="25" name="Text 23"/>
          <p:cNvSpPr/>
          <p:nvPr/>
        </p:nvSpPr>
        <p:spPr>
          <a:xfrm>
            <a:off x="2240280" y="3703320"/>
            <a:ext cx="914400" cy="146304"/>
          </a:xfrm>
          <a:prstGeom prst="rect">
            <a:avLst/>
          </a:prstGeom>
          <a:noFill/>
          <a:ln/>
        </p:spPr>
        <p:txBody>
          <a:bodyPr wrap="square" lIns="0" tIns="0" rIns="0" bIns="0" rtlCol="0" anchor="t">
            <a:normAutofit/>
          </a:bodyPr>
          <a:lstStyle/>
          <a:p>
            <a:pPr algn="l" indent="0" marL="0">
              <a:buNone/>
            </a:pPr>
            <a:r>
              <a:rPr lang="en-US" sz="1100" b="1" dirty="0">
                <a:solidFill>
                  <a:srgbClr val="1E2761"/>
                </a:solidFill>
                <a:latin typeface="Calibri" pitchFamily="34" charset="0"/>
                <a:ea typeface="Calibri" pitchFamily="34" charset="-122"/>
                <a:cs typeface="Calibri" pitchFamily="34" charset="-120"/>
              </a:rPr>
              <a:t>Phase gate:</a:t>
            </a:r>
            <a:endParaRPr lang="en-US" sz="1100" dirty="0"/>
          </a:p>
        </p:txBody>
      </p:sp>
      <p:sp>
        <p:nvSpPr>
          <p:cNvPr id="26" name="Text 24"/>
          <p:cNvSpPr/>
          <p:nvPr/>
        </p:nvSpPr>
        <p:spPr>
          <a:xfrm>
            <a:off x="3154680" y="3703320"/>
            <a:ext cx="6217920" cy="201168"/>
          </a:xfrm>
          <a:prstGeom prst="rect">
            <a:avLst/>
          </a:prstGeom>
          <a:noFill/>
          <a:ln/>
        </p:spPr>
        <p:txBody>
          <a:bodyPr wrap="square" lIns="0" tIns="0" rIns="0" bIns="0" rtlCol="0" anchor="t">
            <a:normAutofit/>
          </a:bodyPr>
          <a:lstStyle/>
          <a:p>
            <a:pPr algn="l" indent="0" marL="0">
              <a:buNone/>
            </a:pPr>
            <a:r>
              <a:rPr lang="en-US" sz="1100" dirty="0">
                <a:solidFill>
                  <a:srgbClr val="5A6E8C"/>
                </a:solidFill>
                <a:latin typeface="Calibri" pitchFamily="34" charset="0"/>
                <a:ea typeface="Calibri" pitchFamily="34" charset="-122"/>
                <a:cs typeface="Calibri" pitchFamily="34" charset="-120"/>
              </a:rPr>
              <a:t>This meeting. Exit criteria: all 3 cofounders in Notion with Q2 KRs authored.</a:t>
            </a:r>
            <a:endParaRPr lang="en-US" sz="1100" dirty="0"/>
          </a:p>
        </p:txBody>
      </p:sp>
      <p:sp>
        <p:nvSpPr>
          <p:cNvPr id="27" name="Text 25"/>
          <p:cNvSpPr/>
          <p:nvPr/>
        </p:nvSpPr>
        <p:spPr>
          <a:xfrm>
            <a:off x="2240280" y="4160520"/>
            <a:ext cx="822960" cy="146304"/>
          </a:xfrm>
          <a:prstGeom prst="rect">
            <a:avLst/>
          </a:prstGeom>
          <a:noFill/>
          <a:ln/>
        </p:spPr>
        <p:txBody>
          <a:bodyPr wrap="square" lIns="0" tIns="0" rIns="0" bIns="0" rtlCol="0" anchor="t">
            <a:normAutofit/>
          </a:bodyPr>
          <a:lstStyle/>
          <a:p>
            <a:pPr algn="l" indent="0" marL="0">
              <a:buNone/>
            </a:pPr>
            <a:r>
              <a:rPr lang="en-US" sz="1100" b="1" dirty="0">
                <a:solidFill>
                  <a:srgbClr val="1E2761"/>
                </a:solidFill>
                <a:latin typeface="Calibri" pitchFamily="34" charset="0"/>
                <a:ea typeface="Calibri" pitchFamily="34" charset="-122"/>
                <a:cs typeface="Calibri" pitchFamily="34" charset="-120"/>
              </a:rPr>
              <a:t>Your USP:</a:t>
            </a:r>
            <a:endParaRPr lang="en-US" sz="1100" dirty="0"/>
          </a:p>
        </p:txBody>
      </p:sp>
      <p:sp>
        <p:nvSpPr>
          <p:cNvPr id="28" name="Text 26"/>
          <p:cNvSpPr/>
          <p:nvPr/>
        </p:nvSpPr>
        <p:spPr>
          <a:xfrm>
            <a:off x="3154680" y="4160520"/>
            <a:ext cx="6035040" cy="146304"/>
          </a:xfrm>
          <a:prstGeom prst="rect">
            <a:avLst/>
          </a:prstGeom>
          <a:noFill/>
          <a:ln/>
        </p:spPr>
        <p:txBody>
          <a:bodyPr wrap="square" lIns="0" tIns="0" rIns="0" bIns="0" rtlCol="0" anchor="t">
            <a:normAutofit/>
          </a:bodyPr>
          <a:lstStyle/>
          <a:p>
            <a:pPr algn="l" indent="0" marL="0">
              <a:buNone/>
            </a:pPr>
            <a:r>
              <a:rPr lang="en-US" sz="1100" dirty="0">
                <a:solidFill>
                  <a:srgbClr val="5A6E8C"/>
                </a:solidFill>
                <a:latin typeface="Calibri" pitchFamily="34" charset="0"/>
                <a:ea typeface="Calibri" pitchFamily="34" charset="-122"/>
                <a:cs typeface="Calibri" pitchFamily="34" charset="-120"/>
              </a:rPr>
              <a:t>Fully on-prem RAG — zero cloud dependency, NIS2-native</a:t>
            </a:r>
            <a:endParaRPr lang="en-US" sz="1100" dirty="0"/>
          </a:p>
        </p:txBody>
      </p:sp>
      <p:sp>
        <p:nvSpPr>
          <p:cNvPr id="29" name="Shape 27"/>
          <p:cNvSpPr/>
          <p:nvPr/>
        </p:nvSpPr>
        <p:spPr>
          <a:xfrm>
            <a:off x="2194560" y="5212080"/>
            <a:ext cx="7772400" cy="530352"/>
          </a:xfrm>
          <a:prstGeom prst="roundRect">
            <a:avLst>
              <a:gd name="adj" fmla="val 13793"/>
            </a:avLst>
          </a:prstGeom>
          <a:solidFill>
            <a:srgbClr val="FFFFFF"/>
          </a:solidFill>
          <a:ln w="12700">
            <a:solidFill>
              <a:srgbClr val="F96167"/>
            </a:solidFill>
            <a:prstDash val="solid"/>
          </a:ln>
        </p:spPr>
      </p:sp>
      <p:sp>
        <p:nvSpPr>
          <p:cNvPr id="30" name="Shape 28"/>
          <p:cNvSpPr/>
          <p:nvPr/>
        </p:nvSpPr>
        <p:spPr>
          <a:xfrm>
            <a:off x="2194560" y="5212080"/>
            <a:ext cx="64008" cy="530352"/>
          </a:xfrm>
          <a:prstGeom prst="rect">
            <a:avLst/>
          </a:prstGeom>
          <a:solidFill>
            <a:srgbClr val="F96167"/>
          </a:solidFill>
          <a:ln w="12700">
            <a:solidFill>
              <a:srgbClr val="F96167"/>
            </a:solidFill>
            <a:prstDash val="solid"/>
          </a:ln>
        </p:spPr>
      </p:sp>
      <p:sp>
        <p:nvSpPr>
          <p:cNvPr id="31" name="Text 29"/>
          <p:cNvSpPr/>
          <p:nvPr/>
        </p:nvSpPr>
        <p:spPr>
          <a:xfrm>
            <a:off x="2340864" y="5321808"/>
            <a:ext cx="7516368" cy="384048"/>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 This afternoon: Paver visit. Three possible outcomes → all are fine. Any result gets logged.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Phase 1 — PoC Execution</a:t>
            </a:r>
            <a:endParaRPr lang="en-US" sz="2500" dirty="0"/>
          </a:p>
        </p:txBody>
      </p:sp>
      <p:sp>
        <p:nvSpPr>
          <p:cNvPr id="3" name="Shape 1"/>
          <p:cNvSpPr/>
          <p:nvPr/>
        </p:nvSpPr>
        <p:spPr>
          <a:xfrm>
            <a:off x="731520" y="1097280"/>
            <a:ext cx="2606040" cy="530352"/>
          </a:xfrm>
          <a:prstGeom prst="roundRect">
            <a:avLst/>
          </a:prstGeom>
          <a:solidFill>
            <a:srgbClr val="F7F9FC"/>
          </a:solidFill>
          <a:ln w="19050">
            <a:solidFill>
              <a:srgbClr val="4FC3F7"/>
            </a:solidFill>
            <a:prstDash val="solid"/>
          </a:ln>
        </p:spPr>
      </p:sp>
      <p:sp>
        <p:nvSpPr>
          <p:cNvPr id="4" name="Text 2"/>
          <p:cNvSpPr/>
          <p:nvPr/>
        </p:nvSpPr>
        <p:spPr>
          <a:xfrm>
            <a:off x="841248" y="1161288"/>
            <a:ext cx="2386584" cy="182880"/>
          </a:xfrm>
          <a:prstGeom prst="rect">
            <a:avLst/>
          </a:prstGeom>
          <a:noFill/>
          <a:ln/>
        </p:spPr>
        <p:txBody>
          <a:bodyPr wrap="square" lIns="0" tIns="0" rIns="0" bIns="0" rtlCol="0" anchor="t">
            <a:normAutofit/>
          </a:bodyPr>
          <a:lstStyle/>
          <a:p>
            <a:pPr algn="ctr" indent="0" marL="0">
              <a:buNone/>
            </a:pPr>
            <a:r>
              <a:rPr lang="en-US" sz="1130" b="1" dirty="0">
                <a:solidFill>
                  <a:srgbClr val="1E2761"/>
                </a:solidFill>
                <a:latin typeface="Calibri" pitchFamily="34" charset="0"/>
                <a:ea typeface="Calibri" pitchFamily="34" charset="-122"/>
                <a:cs typeface="Calibri" pitchFamily="34" charset="-120"/>
              </a:rPr>
              <a:t>Phase 0 · Ignition</a:t>
            </a:r>
            <a:endParaRPr lang="en-US" sz="1130" dirty="0"/>
          </a:p>
        </p:txBody>
      </p:sp>
      <p:sp>
        <p:nvSpPr>
          <p:cNvPr id="5" name="Text 3"/>
          <p:cNvSpPr/>
          <p:nvPr/>
        </p:nvSpPr>
        <p:spPr>
          <a:xfrm>
            <a:off x="841248" y="1353312"/>
            <a:ext cx="2386584" cy="146304"/>
          </a:xfrm>
          <a:prstGeom prst="rect">
            <a:avLst/>
          </a:prstGeom>
          <a:noFill/>
          <a:ln/>
        </p:spPr>
        <p:txBody>
          <a:bodyPr wrap="square" lIns="0" tIns="0" rIns="0" bIns="0" rtlCol="0" anchor="t">
            <a:normAutofit/>
          </a:bodyPr>
          <a:lstStyle/>
          <a:p>
            <a:pPr algn="ctr" indent="0" marL="0">
              <a:buNone/>
            </a:pPr>
            <a:r>
              <a:rPr lang="en-US" sz="850" dirty="0">
                <a:solidFill>
                  <a:srgbClr val="5A6E8C"/>
                </a:solidFill>
                <a:latin typeface="Calibri" pitchFamily="34" charset="0"/>
                <a:ea typeface="Calibri" pitchFamily="34" charset="-122"/>
                <a:cs typeface="Calibri" pitchFamily="34" charset="-120"/>
              </a:rPr>
              <a:t>TODAY</a:t>
            </a:r>
            <a:endParaRPr lang="en-US" sz="850" dirty="0"/>
          </a:p>
        </p:txBody>
      </p:sp>
      <p:sp>
        <p:nvSpPr>
          <p:cNvPr id="6" name="Shape 4"/>
          <p:cNvSpPr/>
          <p:nvPr/>
        </p:nvSpPr>
        <p:spPr>
          <a:xfrm>
            <a:off x="3364992" y="1207008"/>
            <a:ext cx="109728" cy="292608"/>
          </a:xfrm>
          <a:prstGeom prst="chevron">
            <a:avLst/>
          </a:prstGeom>
          <a:solidFill>
            <a:srgbClr val="D9E4F2"/>
          </a:solidFill>
          <a:ln w="12700">
            <a:solidFill>
              <a:srgbClr val="D9E4F2"/>
            </a:solidFill>
            <a:prstDash val="solid"/>
          </a:ln>
        </p:spPr>
      </p:sp>
      <p:sp>
        <p:nvSpPr>
          <p:cNvPr id="7" name="Shape 5"/>
          <p:cNvSpPr/>
          <p:nvPr/>
        </p:nvSpPr>
        <p:spPr>
          <a:xfrm>
            <a:off x="3520440" y="1097280"/>
            <a:ext cx="2606040" cy="530352"/>
          </a:xfrm>
          <a:prstGeom prst="roundRect">
            <a:avLst/>
          </a:prstGeom>
          <a:solidFill>
            <a:srgbClr val="4FC3F7"/>
          </a:solidFill>
          <a:ln w="19050">
            <a:solidFill>
              <a:srgbClr val="4FC3F7"/>
            </a:solidFill>
            <a:prstDash val="solid"/>
          </a:ln>
        </p:spPr>
      </p:sp>
      <p:sp>
        <p:nvSpPr>
          <p:cNvPr id="8" name="Text 6"/>
          <p:cNvSpPr/>
          <p:nvPr/>
        </p:nvSpPr>
        <p:spPr>
          <a:xfrm>
            <a:off x="3630168" y="1161288"/>
            <a:ext cx="2386584" cy="182880"/>
          </a:xfrm>
          <a:prstGeom prst="rect">
            <a:avLst/>
          </a:prstGeom>
          <a:noFill/>
          <a:ln/>
        </p:spPr>
        <p:txBody>
          <a:bodyPr wrap="square" lIns="0" tIns="0" rIns="0" bIns="0" rtlCol="0" anchor="t">
            <a:normAutofit/>
          </a:bodyPr>
          <a:lstStyle/>
          <a:p>
            <a:pPr algn="ctr" indent="0" marL="0">
              <a:buNone/>
            </a:pPr>
            <a:r>
              <a:rPr lang="en-US" sz="1130" b="1" dirty="0">
                <a:solidFill>
                  <a:srgbClr val="1E2761"/>
                </a:solidFill>
                <a:latin typeface="Calibri" pitchFamily="34" charset="0"/>
                <a:ea typeface="Calibri" pitchFamily="34" charset="-122"/>
                <a:cs typeface="Calibri" pitchFamily="34" charset="-120"/>
              </a:rPr>
              <a:t>Phase 1 · PoC Execution</a:t>
            </a:r>
            <a:endParaRPr lang="en-US" sz="1130" dirty="0"/>
          </a:p>
        </p:txBody>
      </p:sp>
      <p:sp>
        <p:nvSpPr>
          <p:cNvPr id="9" name="Text 7"/>
          <p:cNvSpPr/>
          <p:nvPr/>
        </p:nvSpPr>
        <p:spPr>
          <a:xfrm>
            <a:off x="3630168" y="1353312"/>
            <a:ext cx="2386584" cy="146304"/>
          </a:xfrm>
          <a:prstGeom prst="rect">
            <a:avLst/>
          </a:prstGeom>
          <a:noFill/>
          <a:ln/>
        </p:spPr>
        <p:txBody>
          <a:bodyPr wrap="square" lIns="0" tIns="0" rIns="0" bIns="0" rtlCol="0" anchor="t">
            <a:normAutofit/>
          </a:bodyPr>
          <a:lstStyle/>
          <a:p>
            <a:pPr algn="ctr" indent="0" marL="0">
              <a:buNone/>
            </a:pPr>
            <a:r>
              <a:rPr lang="en-US" sz="850" dirty="0">
                <a:solidFill>
                  <a:srgbClr val="1E2761"/>
                </a:solidFill>
                <a:latin typeface="Calibri" pitchFamily="34" charset="0"/>
                <a:ea typeface="Calibri" pitchFamily="34" charset="-122"/>
                <a:cs typeface="Calibri" pitchFamily="34" charset="-120"/>
              </a:rPr>
              <a:t>Apr 7 → Jul 1</a:t>
            </a:r>
            <a:endParaRPr lang="en-US" sz="850" dirty="0"/>
          </a:p>
        </p:txBody>
      </p:sp>
      <p:sp>
        <p:nvSpPr>
          <p:cNvPr id="10" name="Shape 8"/>
          <p:cNvSpPr/>
          <p:nvPr/>
        </p:nvSpPr>
        <p:spPr>
          <a:xfrm>
            <a:off x="6153912" y="1207008"/>
            <a:ext cx="109728" cy="292608"/>
          </a:xfrm>
          <a:prstGeom prst="chevron">
            <a:avLst/>
          </a:prstGeom>
          <a:solidFill>
            <a:srgbClr val="D9E4F2"/>
          </a:solidFill>
          <a:ln w="12700">
            <a:solidFill>
              <a:srgbClr val="D9E4F2"/>
            </a:solidFill>
            <a:prstDash val="solid"/>
          </a:ln>
        </p:spPr>
      </p:sp>
      <p:sp>
        <p:nvSpPr>
          <p:cNvPr id="11" name="Shape 9"/>
          <p:cNvSpPr/>
          <p:nvPr/>
        </p:nvSpPr>
        <p:spPr>
          <a:xfrm>
            <a:off x="6309360" y="1097280"/>
            <a:ext cx="2606040" cy="530352"/>
          </a:xfrm>
          <a:prstGeom prst="roundRect">
            <a:avLst/>
          </a:prstGeom>
          <a:solidFill>
            <a:srgbClr val="F7F9FC"/>
          </a:solidFill>
          <a:ln w="19050">
            <a:solidFill>
              <a:srgbClr val="4FC3F7"/>
            </a:solidFill>
            <a:prstDash val="solid"/>
          </a:ln>
        </p:spPr>
      </p:sp>
      <p:sp>
        <p:nvSpPr>
          <p:cNvPr id="12" name="Text 10"/>
          <p:cNvSpPr/>
          <p:nvPr/>
        </p:nvSpPr>
        <p:spPr>
          <a:xfrm>
            <a:off x="6419088" y="1161288"/>
            <a:ext cx="2386584" cy="182880"/>
          </a:xfrm>
          <a:prstGeom prst="rect">
            <a:avLst/>
          </a:prstGeom>
          <a:noFill/>
          <a:ln/>
        </p:spPr>
        <p:txBody>
          <a:bodyPr wrap="square" lIns="0" tIns="0" rIns="0" bIns="0" rtlCol="0" anchor="t">
            <a:normAutofit/>
          </a:bodyPr>
          <a:lstStyle/>
          <a:p>
            <a:pPr algn="ctr" indent="0" marL="0">
              <a:buNone/>
            </a:pPr>
            <a:r>
              <a:rPr lang="en-US" sz="1130" b="1" dirty="0">
                <a:solidFill>
                  <a:srgbClr val="1E2761"/>
                </a:solidFill>
                <a:latin typeface="Calibri" pitchFamily="34" charset="0"/>
                <a:ea typeface="Calibri" pitchFamily="34" charset="-122"/>
                <a:cs typeface="Calibri" pitchFamily="34" charset="-120"/>
              </a:rPr>
              <a:t>Phase 2 · Pipeline</a:t>
            </a:r>
            <a:endParaRPr lang="en-US" sz="1130" dirty="0"/>
          </a:p>
        </p:txBody>
      </p:sp>
      <p:sp>
        <p:nvSpPr>
          <p:cNvPr id="13" name="Text 11"/>
          <p:cNvSpPr/>
          <p:nvPr/>
        </p:nvSpPr>
        <p:spPr>
          <a:xfrm>
            <a:off x="6419088" y="1353312"/>
            <a:ext cx="2386584" cy="146304"/>
          </a:xfrm>
          <a:prstGeom prst="rect">
            <a:avLst/>
          </a:prstGeom>
          <a:noFill/>
          <a:ln/>
        </p:spPr>
        <p:txBody>
          <a:bodyPr wrap="square" lIns="0" tIns="0" rIns="0" bIns="0" rtlCol="0" anchor="t">
            <a:normAutofit/>
          </a:bodyPr>
          <a:lstStyle/>
          <a:p>
            <a:pPr algn="ctr" indent="0" marL="0">
              <a:buNone/>
            </a:pPr>
            <a:r>
              <a:rPr lang="en-US" sz="850" dirty="0">
                <a:solidFill>
                  <a:srgbClr val="5A6E8C"/>
                </a:solidFill>
                <a:latin typeface="Calibri" pitchFamily="34" charset="0"/>
                <a:ea typeface="Calibri" pitchFamily="34" charset="-122"/>
                <a:cs typeface="Calibri" pitchFamily="34" charset="-120"/>
              </a:rPr>
              <a:t>Jul → Sep</a:t>
            </a:r>
            <a:endParaRPr lang="en-US" sz="850" dirty="0"/>
          </a:p>
        </p:txBody>
      </p:sp>
      <p:sp>
        <p:nvSpPr>
          <p:cNvPr id="14" name="Shape 12"/>
          <p:cNvSpPr/>
          <p:nvPr/>
        </p:nvSpPr>
        <p:spPr>
          <a:xfrm>
            <a:off x="8942832" y="1207008"/>
            <a:ext cx="109728" cy="292608"/>
          </a:xfrm>
          <a:prstGeom prst="chevron">
            <a:avLst/>
          </a:prstGeom>
          <a:solidFill>
            <a:srgbClr val="D9E4F2"/>
          </a:solidFill>
          <a:ln w="12700">
            <a:solidFill>
              <a:srgbClr val="D9E4F2"/>
            </a:solidFill>
            <a:prstDash val="solid"/>
          </a:ln>
        </p:spPr>
      </p:sp>
      <p:sp>
        <p:nvSpPr>
          <p:cNvPr id="15" name="Shape 13"/>
          <p:cNvSpPr/>
          <p:nvPr/>
        </p:nvSpPr>
        <p:spPr>
          <a:xfrm>
            <a:off x="9098280" y="1097280"/>
            <a:ext cx="2606040" cy="530352"/>
          </a:xfrm>
          <a:prstGeom prst="roundRect">
            <a:avLst/>
          </a:prstGeom>
          <a:solidFill>
            <a:srgbClr val="F7F9FC"/>
          </a:solidFill>
          <a:ln w="19050">
            <a:solidFill>
              <a:srgbClr val="4FC3F7"/>
            </a:solidFill>
            <a:prstDash val="solid"/>
          </a:ln>
        </p:spPr>
      </p:sp>
      <p:sp>
        <p:nvSpPr>
          <p:cNvPr id="16" name="Text 14"/>
          <p:cNvSpPr/>
          <p:nvPr/>
        </p:nvSpPr>
        <p:spPr>
          <a:xfrm>
            <a:off x="9208008" y="1161288"/>
            <a:ext cx="2386584" cy="182880"/>
          </a:xfrm>
          <a:prstGeom prst="rect">
            <a:avLst/>
          </a:prstGeom>
          <a:noFill/>
          <a:ln/>
        </p:spPr>
        <p:txBody>
          <a:bodyPr wrap="square" lIns="0" tIns="0" rIns="0" bIns="0" rtlCol="0" anchor="t">
            <a:normAutofit/>
          </a:bodyPr>
          <a:lstStyle/>
          <a:p>
            <a:pPr algn="ctr" indent="0" marL="0">
              <a:buNone/>
            </a:pPr>
            <a:r>
              <a:rPr lang="en-US" sz="1130" b="1" dirty="0">
                <a:solidFill>
                  <a:srgbClr val="1E2761"/>
                </a:solidFill>
                <a:latin typeface="Calibri" pitchFamily="34" charset="0"/>
                <a:ea typeface="Calibri" pitchFamily="34" charset="-122"/>
                <a:cs typeface="Calibri" pitchFamily="34" charset="-120"/>
              </a:rPr>
              <a:t>Phase 3 · Launch</a:t>
            </a:r>
            <a:endParaRPr lang="en-US" sz="1130" dirty="0"/>
          </a:p>
        </p:txBody>
      </p:sp>
      <p:sp>
        <p:nvSpPr>
          <p:cNvPr id="17" name="Text 15"/>
          <p:cNvSpPr/>
          <p:nvPr/>
        </p:nvSpPr>
        <p:spPr>
          <a:xfrm>
            <a:off x="9208008" y="1353312"/>
            <a:ext cx="2386584" cy="146304"/>
          </a:xfrm>
          <a:prstGeom prst="rect">
            <a:avLst/>
          </a:prstGeom>
          <a:noFill/>
          <a:ln/>
        </p:spPr>
        <p:txBody>
          <a:bodyPr wrap="square" lIns="0" tIns="0" rIns="0" bIns="0" rtlCol="0" anchor="t">
            <a:normAutofit/>
          </a:bodyPr>
          <a:lstStyle/>
          <a:p>
            <a:pPr algn="ctr" indent="0" marL="0">
              <a:buNone/>
            </a:pPr>
            <a:r>
              <a:rPr lang="en-US" sz="850" dirty="0">
                <a:solidFill>
                  <a:srgbClr val="5A6E8C"/>
                </a:solidFill>
                <a:latin typeface="Calibri" pitchFamily="34" charset="0"/>
                <a:ea typeface="Calibri" pitchFamily="34" charset="-122"/>
                <a:cs typeface="Calibri" pitchFamily="34" charset="-120"/>
              </a:rPr>
              <a:t>Oct → Dec</a:t>
            </a:r>
            <a:endParaRPr lang="en-US" sz="850" dirty="0"/>
          </a:p>
        </p:txBody>
      </p:sp>
      <p:sp>
        <p:nvSpPr>
          <p:cNvPr id="18" name="Shape 16"/>
          <p:cNvSpPr/>
          <p:nvPr/>
        </p:nvSpPr>
        <p:spPr>
          <a:xfrm>
            <a:off x="1280160" y="1828800"/>
            <a:ext cx="9509760" cy="3611880"/>
          </a:xfrm>
          <a:prstGeom prst="roundRect">
            <a:avLst>
              <a:gd name="adj" fmla="val 2025"/>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9" name="Shape 17"/>
          <p:cNvSpPr/>
          <p:nvPr/>
        </p:nvSpPr>
        <p:spPr>
          <a:xfrm>
            <a:off x="1280160" y="1828800"/>
            <a:ext cx="64008" cy="3611880"/>
          </a:xfrm>
          <a:prstGeom prst="rect">
            <a:avLst/>
          </a:prstGeom>
          <a:solidFill>
            <a:srgbClr val="4FC3F7"/>
          </a:solidFill>
          <a:ln w="12700">
            <a:solidFill>
              <a:srgbClr val="4FC3F7"/>
            </a:solidFill>
            <a:prstDash val="solid"/>
          </a:ln>
        </p:spPr>
      </p:sp>
      <p:sp>
        <p:nvSpPr>
          <p:cNvPr id="20" name="Text 18"/>
          <p:cNvSpPr/>
          <p:nvPr/>
        </p:nvSpPr>
        <p:spPr>
          <a:xfrm>
            <a:off x="1645920" y="2103120"/>
            <a:ext cx="3657600" cy="256032"/>
          </a:xfrm>
          <a:prstGeom prst="rect">
            <a:avLst/>
          </a:prstGeom>
          <a:noFill/>
          <a:ln/>
        </p:spPr>
        <p:txBody>
          <a:bodyPr wrap="square" lIns="0" tIns="0" rIns="0" bIns="0" rtlCol="0" anchor="t">
            <a:normAutofit/>
          </a:bodyPr>
          <a:lstStyle/>
          <a:p>
            <a:pPr algn="l" indent="0" marL="0">
              <a:buNone/>
            </a:pPr>
            <a:r>
              <a:rPr lang="en-US" sz="1800" b="1" dirty="0">
                <a:solidFill>
                  <a:srgbClr val="1E2761"/>
                </a:solidFill>
                <a:latin typeface="Calibri" pitchFamily="34" charset="0"/>
                <a:ea typeface="Calibri" pitchFamily="34" charset="-122"/>
                <a:cs typeface="Calibri" pitchFamily="34" charset="-120"/>
              </a:rPr>
              <a:t>Phase 1 — PoC Execution</a:t>
            </a:r>
            <a:endParaRPr lang="en-US" sz="1800" dirty="0"/>
          </a:p>
        </p:txBody>
      </p:sp>
      <p:sp>
        <p:nvSpPr>
          <p:cNvPr id="21" name="Text 19"/>
          <p:cNvSpPr/>
          <p:nvPr/>
        </p:nvSpPr>
        <p:spPr>
          <a:xfrm>
            <a:off x="1645920" y="2404872"/>
            <a:ext cx="1828800" cy="146304"/>
          </a:xfrm>
          <a:prstGeom prst="rect">
            <a:avLst/>
          </a:prstGeom>
          <a:noFill/>
          <a:ln/>
        </p:spPr>
        <p:txBody>
          <a:bodyPr wrap="square" lIns="0" tIns="0" rIns="0" bIns="0" rtlCol="0" anchor="t">
            <a:normAutofit/>
          </a:bodyPr>
          <a:lstStyle/>
          <a:p>
            <a:pPr algn="l" indent="0" marL="0">
              <a:buNone/>
            </a:pPr>
            <a:r>
              <a:rPr lang="en-US" sz="1020" dirty="0">
                <a:solidFill>
                  <a:srgbClr val="5A6E8C"/>
                </a:solidFill>
                <a:latin typeface="Calibri" pitchFamily="34" charset="0"/>
                <a:ea typeface="Calibri" pitchFamily="34" charset="-122"/>
                <a:cs typeface="Calibri" pitchFamily="34" charset="-120"/>
              </a:rPr>
              <a:t>Apr 7 → Jul 1, 2026</a:t>
            </a:r>
            <a:endParaRPr lang="en-US" sz="1020" dirty="0"/>
          </a:p>
        </p:txBody>
      </p:sp>
      <p:sp>
        <p:nvSpPr>
          <p:cNvPr id="22" name="Text 20"/>
          <p:cNvSpPr/>
          <p:nvPr/>
        </p:nvSpPr>
        <p:spPr>
          <a:xfrm>
            <a:off x="1645920" y="2706624"/>
            <a:ext cx="5577840" cy="256032"/>
          </a:xfrm>
          <a:prstGeom prst="rect">
            <a:avLst/>
          </a:prstGeom>
          <a:noFill/>
          <a:ln/>
        </p:spPr>
        <p:txBody>
          <a:bodyPr wrap="square" lIns="0" tIns="0" rIns="0" bIns="0" rtlCol="0" anchor="t">
            <a:normAutofit/>
          </a:bodyPr>
          <a:lstStyle/>
          <a:p>
            <a:pPr algn="l" indent="0" marL="0">
              <a:buNone/>
            </a:pPr>
            <a:r>
              <a:rPr lang="en-US" sz="1500" i="1" dirty="0">
                <a:solidFill>
                  <a:srgbClr val="1E2761"/>
                </a:solidFill>
                <a:latin typeface="Calibri" pitchFamily="34" charset="0"/>
                <a:ea typeface="Calibri" pitchFamily="34" charset="-122"/>
                <a:cs typeface="Calibri" pitchFamily="34" charset="-120"/>
              </a:rPr>
              <a:t>Can we produce a result a client would pay for?</a:t>
            </a:r>
            <a:endParaRPr lang="en-US" sz="1500" dirty="0"/>
          </a:p>
        </p:txBody>
      </p:sp>
      <p:sp>
        <p:nvSpPr>
          <p:cNvPr id="23" name="Text 21"/>
          <p:cNvSpPr/>
          <p:nvPr/>
        </p:nvSpPr>
        <p:spPr>
          <a:xfrm>
            <a:off x="1645920" y="3063240"/>
            <a:ext cx="5394960" cy="164592"/>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North Star: # of PoCs with documented, measurable outcome</a:t>
            </a:r>
            <a:endParaRPr lang="en-US" sz="1150" dirty="0"/>
          </a:p>
        </p:txBody>
      </p:sp>
      <p:sp>
        <p:nvSpPr>
          <p:cNvPr id="24" name="Text 22"/>
          <p:cNvSpPr/>
          <p:nvPr/>
        </p:nvSpPr>
        <p:spPr>
          <a:xfrm>
            <a:off x="1645920" y="3602736"/>
            <a:ext cx="5727802" cy="164592"/>
          </a:xfrm>
          <a:prstGeom prst="rect">
            <a:avLst/>
          </a:prstGeom>
          <a:noFill/>
          <a:ln/>
        </p:spPr>
        <p:txBody>
          <a:bodyPr wrap="square" lIns="0" tIns="0" rIns="0" bIns="0" rtlCol="0" anchor="t">
            <a:normAutofit/>
          </a:bodyPr>
          <a:lstStyle/>
          <a:p>
            <a:pPr algn="l" indent="0" marL="0">
              <a:buNone/>
            </a:pPr>
            <a:r>
              <a:rPr lang="en-US" sz="1130" dirty="0">
                <a:solidFill>
                  <a:srgbClr val="1E2761"/>
                </a:solidFill>
                <a:latin typeface="Calibri" pitchFamily="34" charset="0"/>
                <a:ea typeface="Calibri" pitchFamily="34" charset="-122"/>
                <a:cs typeface="Calibri" pitchFamily="34" charset="-120"/>
              </a:rPr>
              <a:t>#1  PoC count with A score logged</a:t>
            </a:r>
            <a:endParaRPr lang="en-US" sz="1130" dirty="0"/>
          </a:p>
        </p:txBody>
      </p:sp>
      <p:sp>
        <p:nvSpPr>
          <p:cNvPr id="25" name="Shape 23"/>
          <p:cNvSpPr/>
          <p:nvPr/>
        </p:nvSpPr>
        <p:spPr>
          <a:xfrm>
            <a:off x="6578194" y="3630168"/>
            <a:ext cx="1750162" cy="82296"/>
          </a:xfrm>
          <a:prstGeom prst="roundRect">
            <a:avLst/>
          </a:prstGeom>
          <a:solidFill>
            <a:srgbClr val="E4ECF7"/>
          </a:solidFill>
          <a:ln w="12700">
            <a:solidFill>
              <a:srgbClr val="E4ECF7"/>
            </a:solidFill>
            <a:prstDash val="solid"/>
          </a:ln>
        </p:spPr>
      </p:sp>
      <p:sp>
        <p:nvSpPr>
          <p:cNvPr id="26" name="Shape 24"/>
          <p:cNvSpPr/>
          <p:nvPr/>
        </p:nvSpPr>
        <p:spPr>
          <a:xfrm>
            <a:off x="6578194" y="3630168"/>
            <a:ext cx="52505" cy="82296"/>
          </a:xfrm>
          <a:prstGeom prst="roundRect">
            <a:avLst/>
          </a:prstGeom>
          <a:solidFill>
            <a:srgbClr val="4FC3F7"/>
          </a:solidFill>
          <a:ln w="12700">
            <a:solidFill>
              <a:srgbClr val="4FC3F7"/>
            </a:solidFill>
            <a:prstDash val="solid"/>
          </a:ln>
        </p:spPr>
      </p:sp>
      <p:sp>
        <p:nvSpPr>
          <p:cNvPr id="27" name="Text 25"/>
          <p:cNvSpPr/>
          <p:nvPr/>
        </p:nvSpPr>
        <p:spPr>
          <a:xfrm>
            <a:off x="8487461" y="3602736"/>
            <a:ext cx="1113739" cy="164592"/>
          </a:xfrm>
          <a:prstGeom prst="rect">
            <a:avLst/>
          </a:prstGeom>
          <a:noFill/>
          <a:ln/>
        </p:spPr>
        <p:txBody>
          <a:bodyPr wrap="square" lIns="0" tIns="0" rIns="0" bIns="0" rtlCol="0" anchor="t">
            <a:normAutofit/>
          </a:bodyPr>
          <a:lstStyle/>
          <a:p>
            <a:pPr algn="r" indent="0" marL="0">
              <a:buNone/>
            </a:pPr>
            <a:r>
              <a:rPr lang="en-US" sz="1130" dirty="0">
                <a:solidFill>
                  <a:srgbClr val="1E2761"/>
                </a:solidFill>
                <a:latin typeface="Calibri" pitchFamily="34" charset="0"/>
                <a:ea typeface="Calibri" pitchFamily="34" charset="-122"/>
                <a:cs typeface="Calibri" pitchFamily="34" charset="-120"/>
              </a:rPr>
              <a:t>0 / 2</a:t>
            </a:r>
            <a:endParaRPr lang="en-US" sz="1130" dirty="0"/>
          </a:p>
        </p:txBody>
      </p:sp>
      <p:sp>
        <p:nvSpPr>
          <p:cNvPr id="28" name="Text 26"/>
          <p:cNvSpPr/>
          <p:nvPr/>
        </p:nvSpPr>
        <p:spPr>
          <a:xfrm>
            <a:off x="1645920" y="3995928"/>
            <a:ext cx="5727802" cy="164592"/>
          </a:xfrm>
          <a:prstGeom prst="rect">
            <a:avLst/>
          </a:prstGeom>
          <a:noFill/>
          <a:ln/>
        </p:spPr>
        <p:txBody>
          <a:bodyPr wrap="square" lIns="0" tIns="0" rIns="0" bIns="0" rtlCol="0" anchor="t">
            <a:normAutofit/>
          </a:bodyPr>
          <a:lstStyle/>
          <a:p>
            <a:pPr algn="l" indent="0" marL="0">
              <a:buNone/>
            </a:pPr>
            <a:r>
              <a:rPr lang="en-US" sz="1130" dirty="0">
                <a:solidFill>
                  <a:srgbClr val="1E2761"/>
                </a:solidFill>
                <a:latin typeface="Calibri" pitchFamily="34" charset="0"/>
                <a:ea typeface="Calibri" pitchFamily="34" charset="-122"/>
                <a:cs typeface="Calibri" pitchFamily="34" charset="-120"/>
              </a:rPr>
              <a:t>#2  Pipeline conversations / week</a:t>
            </a:r>
            <a:endParaRPr lang="en-US" sz="1130" dirty="0"/>
          </a:p>
        </p:txBody>
      </p:sp>
      <p:sp>
        <p:nvSpPr>
          <p:cNvPr id="29" name="Shape 27"/>
          <p:cNvSpPr/>
          <p:nvPr/>
        </p:nvSpPr>
        <p:spPr>
          <a:xfrm>
            <a:off x="6578194" y="4023360"/>
            <a:ext cx="1750162" cy="82296"/>
          </a:xfrm>
          <a:prstGeom prst="roundRect">
            <a:avLst/>
          </a:prstGeom>
          <a:solidFill>
            <a:srgbClr val="E4ECF7"/>
          </a:solidFill>
          <a:ln w="12700">
            <a:solidFill>
              <a:srgbClr val="E4ECF7"/>
            </a:solidFill>
            <a:prstDash val="solid"/>
          </a:ln>
        </p:spPr>
      </p:sp>
      <p:sp>
        <p:nvSpPr>
          <p:cNvPr id="30" name="Shape 28"/>
          <p:cNvSpPr/>
          <p:nvPr/>
        </p:nvSpPr>
        <p:spPr>
          <a:xfrm>
            <a:off x="6578194" y="4023360"/>
            <a:ext cx="36576" cy="82296"/>
          </a:xfrm>
          <a:prstGeom prst="roundRect">
            <a:avLst/>
          </a:prstGeom>
          <a:solidFill>
            <a:srgbClr val="4FC3F7"/>
          </a:solidFill>
          <a:ln w="12700">
            <a:solidFill>
              <a:srgbClr val="4FC3F7"/>
            </a:solidFill>
            <a:prstDash val="solid"/>
          </a:ln>
        </p:spPr>
      </p:sp>
      <p:sp>
        <p:nvSpPr>
          <p:cNvPr id="31" name="Text 29"/>
          <p:cNvSpPr/>
          <p:nvPr/>
        </p:nvSpPr>
        <p:spPr>
          <a:xfrm>
            <a:off x="8487461" y="3995928"/>
            <a:ext cx="1113739" cy="164592"/>
          </a:xfrm>
          <a:prstGeom prst="rect">
            <a:avLst/>
          </a:prstGeom>
          <a:noFill/>
          <a:ln/>
        </p:spPr>
        <p:txBody>
          <a:bodyPr wrap="square" lIns="0" tIns="0" rIns="0" bIns="0" rtlCol="0" anchor="t">
            <a:normAutofit/>
          </a:bodyPr>
          <a:lstStyle/>
          <a:p>
            <a:pPr algn="r" indent="0" marL="0">
              <a:buNone/>
            </a:pPr>
            <a:r>
              <a:rPr lang="en-US" sz="1130" dirty="0">
                <a:solidFill>
                  <a:srgbClr val="1E2761"/>
                </a:solidFill>
                <a:latin typeface="Calibri" pitchFamily="34" charset="0"/>
                <a:ea typeface="Calibri" pitchFamily="34" charset="-122"/>
                <a:cs typeface="Calibri" pitchFamily="34" charset="-120"/>
              </a:rPr>
              <a:t>0</a:t>
            </a:r>
            <a:endParaRPr lang="en-US" sz="1130" dirty="0"/>
          </a:p>
        </p:txBody>
      </p:sp>
      <p:sp>
        <p:nvSpPr>
          <p:cNvPr id="32" name="Text 30"/>
          <p:cNvSpPr/>
          <p:nvPr/>
        </p:nvSpPr>
        <p:spPr>
          <a:xfrm>
            <a:off x="1645920" y="4389120"/>
            <a:ext cx="5727802" cy="164592"/>
          </a:xfrm>
          <a:prstGeom prst="rect">
            <a:avLst/>
          </a:prstGeom>
          <a:noFill/>
          <a:ln/>
        </p:spPr>
        <p:txBody>
          <a:bodyPr wrap="square" lIns="0" tIns="0" rIns="0" bIns="0" rtlCol="0" anchor="t">
            <a:normAutofit/>
          </a:bodyPr>
          <a:lstStyle/>
          <a:p>
            <a:pPr algn="l" indent="0" marL="0">
              <a:buNone/>
            </a:pPr>
            <a:r>
              <a:rPr lang="en-US" sz="1130" dirty="0">
                <a:solidFill>
                  <a:srgbClr val="1E2761"/>
                </a:solidFill>
                <a:latin typeface="Calibri" pitchFamily="34" charset="0"/>
                <a:ea typeface="Calibri" pitchFamily="34" charset="-122"/>
                <a:cs typeface="Calibri" pitchFamily="34" charset="-120"/>
              </a:rPr>
              <a:t>#3  A score on Decfa corpus</a:t>
            </a:r>
            <a:endParaRPr lang="en-US" sz="1130" dirty="0"/>
          </a:p>
        </p:txBody>
      </p:sp>
      <p:sp>
        <p:nvSpPr>
          <p:cNvPr id="33" name="Shape 31"/>
          <p:cNvSpPr/>
          <p:nvPr/>
        </p:nvSpPr>
        <p:spPr>
          <a:xfrm>
            <a:off x="6578194" y="4416552"/>
            <a:ext cx="1750162" cy="82296"/>
          </a:xfrm>
          <a:prstGeom prst="roundRect">
            <a:avLst/>
          </a:prstGeom>
          <a:solidFill>
            <a:srgbClr val="E4ECF7"/>
          </a:solidFill>
          <a:ln w="12700">
            <a:solidFill>
              <a:srgbClr val="E4ECF7"/>
            </a:solidFill>
            <a:prstDash val="solid"/>
          </a:ln>
        </p:spPr>
      </p:sp>
      <p:sp>
        <p:nvSpPr>
          <p:cNvPr id="34" name="Shape 32"/>
          <p:cNvSpPr/>
          <p:nvPr/>
        </p:nvSpPr>
        <p:spPr>
          <a:xfrm>
            <a:off x="6578194" y="4416552"/>
            <a:ext cx="36576" cy="82296"/>
          </a:xfrm>
          <a:prstGeom prst="roundRect">
            <a:avLst/>
          </a:prstGeom>
          <a:solidFill>
            <a:srgbClr val="4FC3F7"/>
          </a:solidFill>
          <a:ln w="12700">
            <a:solidFill>
              <a:srgbClr val="4FC3F7"/>
            </a:solidFill>
            <a:prstDash val="solid"/>
          </a:ln>
        </p:spPr>
      </p:sp>
      <p:sp>
        <p:nvSpPr>
          <p:cNvPr id="35" name="Text 33"/>
          <p:cNvSpPr/>
          <p:nvPr/>
        </p:nvSpPr>
        <p:spPr>
          <a:xfrm>
            <a:off x="8487461" y="4389120"/>
            <a:ext cx="1113739" cy="164592"/>
          </a:xfrm>
          <a:prstGeom prst="rect">
            <a:avLst/>
          </a:prstGeom>
          <a:noFill/>
          <a:ln/>
        </p:spPr>
        <p:txBody>
          <a:bodyPr wrap="square" lIns="0" tIns="0" rIns="0" bIns="0" rtlCol="0" anchor="t">
            <a:normAutofit/>
          </a:bodyPr>
          <a:lstStyle/>
          <a:p>
            <a:pPr algn="r" indent="0" marL="0">
              <a:buNone/>
            </a:pPr>
            <a:r>
              <a:rPr lang="en-US" sz="1130" dirty="0">
                <a:solidFill>
                  <a:srgbClr val="1E2761"/>
                </a:solidFill>
                <a:latin typeface="Calibri" pitchFamily="34" charset="0"/>
                <a:ea typeface="Calibri" pitchFamily="34" charset="-122"/>
                <a:cs typeface="Calibri" pitchFamily="34" charset="-120"/>
              </a:rPr>
              <a:t>0.00</a:t>
            </a:r>
            <a:endParaRPr lang="en-US" sz="1130" dirty="0"/>
          </a:p>
        </p:txBody>
      </p:sp>
      <p:sp>
        <p:nvSpPr>
          <p:cNvPr id="36" name="Text 34"/>
          <p:cNvSpPr/>
          <p:nvPr/>
        </p:nvSpPr>
        <p:spPr>
          <a:xfrm>
            <a:off x="1645920" y="4800600"/>
            <a:ext cx="7223760" cy="164592"/>
          </a:xfrm>
          <a:prstGeom prst="rect">
            <a:avLst/>
          </a:prstGeom>
          <a:noFill/>
          <a:ln/>
        </p:spPr>
        <p:txBody>
          <a:bodyPr wrap="square" lIns="0" tIns="0" rIns="0" bIns="0" rtlCol="0" anchor="t">
            <a:normAutofit/>
          </a:bodyPr>
          <a:lstStyle/>
          <a:p>
            <a:pPr algn="l" indent="0" marL="0">
              <a:buNone/>
            </a:pPr>
            <a:r>
              <a:rPr lang="en-US" sz="1080" dirty="0">
                <a:solidFill>
                  <a:srgbClr val="5A6E8C"/>
                </a:solidFill>
                <a:latin typeface="Calibri" pitchFamily="34" charset="0"/>
                <a:ea typeface="Calibri" pitchFamily="34" charset="-122"/>
                <a:cs typeface="Calibri" pitchFamily="34" charset="-120"/>
              </a:rPr>
              <a:t>Target: 5–7% WoW growth on pipeline conversations. A &gt; 0.80 on Decfa.</a:t>
            </a:r>
            <a:endParaRPr lang="en-US" sz="1080" dirty="0"/>
          </a:p>
        </p:txBody>
      </p:sp>
      <p:sp>
        <p:nvSpPr>
          <p:cNvPr id="37" name="Shape 35"/>
          <p:cNvSpPr/>
          <p:nvPr/>
        </p:nvSpPr>
        <p:spPr>
          <a:xfrm>
            <a:off x="7955280" y="2395728"/>
            <a:ext cx="2377440" cy="914400"/>
          </a:xfrm>
          <a:prstGeom prst="roundRect">
            <a:avLst>
              <a:gd name="adj" fmla="val 8000"/>
            </a:avLst>
          </a:prstGeom>
          <a:solidFill>
            <a:srgbClr val="4FC3F7"/>
          </a:solidFill>
          <a:ln w="12700">
            <a:solidFill>
              <a:srgbClr val="4FC3F7"/>
            </a:solidFill>
            <a:prstDash val="solid"/>
          </a:ln>
        </p:spPr>
      </p:sp>
      <p:sp>
        <p:nvSpPr>
          <p:cNvPr id="38" name="Text 36"/>
          <p:cNvSpPr/>
          <p:nvPr/>
        </p:nvSpPr>
        <p:spPr>
          <a:xfrm>
            <a:off x="8183880" y="2606040"/>
            <a:ext cx="1920240" cy="457200"/>
          </a:xfrm>
          <a:prstGeom prst="rect">
            <a:avLst/>
          </a:prstGeom>
          <a:noFill/>
          <a:ln/>
        </p:spPr>
        <p:txBody>
          <a:bodyPr wrap="square" lIns="0" tIns="0" rIns="0" bIns="0" rtlCol="0" anchor="t">
            <a:normAutofit/>
          </a:bodyPr>
          <a:lstStyle/>
          <a:p>
            <a:pPr algn="ctr" indent="0" marL="0">
              <a:buNone/>
            </a:pPr>
            <a:r>
              <a:rPr lang="en-US" sz="1080" b="1" dirty="0">
                <a:solidFill>
                  <a:srgbClr val="1E2761"/>
                </a:solidFill>
                <a:latin typeface="Calibri" pitchFamily="34" charset="0"/>
                <a:ea typeface="Calibri" pitchFamily="34" charset="-122"/>
                <a:cs typeface="Calibri" pitchFamily="34" charset="-120"/>
              </a:rPr>
              <a:t>Gate: July 1 — Thesis defense. 2 PoCs with hard numbers → pivot from builder to seller.</a:t>
            </a:r>
            <a:endParaRPr lang="en-US" sz="10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The back half of 2026</a:t>
            </a:r>
            <a:endParaRPr lang="en-US" sz="2500" dirty="0"/>
          </a:p>
        </p:txBody>
      </p:sp>
      <p:sp>
        <p:nvSpPr>
          <p:cNvPr id="3" name="Shape 1"/>
          <p:cNvSpPr/>
          <p:nvPr/>
        </p:nvSpPr>
        <p:spPr>
          <a:xfrm>
            <a:off x="777240" y="1417320"/>
            <a:ext cx="5212080" cy="4434840"/>
          </a:xfrm>
          <a:prstGeom prst="roundRect">
            <a:avLst>
              <a:gd name="adj" fmla="val 1649"/>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4" name="Shape 2"/>
          <p:cNvSpPr/>
          <p:nvPr/>
        </p:nvSpPr>
        <p:spPr>
          <a:xfrm>
            <a:off x="777240" y="1417320"/>
            <a:ext cx="64008" cy="4434840"/>
          </a:xfrm>
          <a:prstGeom prst="rect">
            <a:avLst/>
          </a:prstGeom>
          <a:solidFill>
            <a:srgbClr val="4FC3F7"/>
          </a:solidFill>
          <a:ln w="12700">
            <a:solidFill>
              <a:srgbClr val="4FC3F7"/>
            </a:solidFill>
            <a:prstDash val="solid"/>
          </a:ln>
        </p:spPr>
      </p:sp>
      <p:sp>
        <p:nvSpPr>
          <p:cNvPr id="5" name="Text 3"/>
          <p:cNvSpPr/>
          <p:nvPr/>
        </p:nvSpPr>
        <p:spPr>
          <a:xfrm>
            <a:off x="1051560" y="1682496"/>
            <a:ext cx="3017520" cy="228600"/>
          </a:xfrm>
          <a:prstGeom prst="rect">
            <a:avLst/>
          </a:prstGeom>
          <a:noFill/>
          <a:ln/>
        </p:spPr>
        <p:txBody>
          <a:bodyPr wrap="square" lIns="0" tIns="0" rIns="0" bIns="0" rtlCol="0" anchor="t">
            <a:normAutofit/>
          </a:bodyPr>
          <a:lstStyle/>
          <a:p>
            <a:pPr algn="l" indent="0" marL="0">
              <a:buNone/>
            </a:pPr>
            <a:r>
              <a:rPr lang="en-US" sz="1500" b="1" dirty="0">
                <a:solidFill>
                  <a:srgbClr val="1E2761"/>
                </a:solidFill>
                <a:latin typeface="Calibri" pitchFamily="34" charset="0"/>
                <a:ea typeface="Calibri" pitchFamily="34" charset="-122"/>
                <a:cs typeface="Calibri" pitchFamily="34" charset="-120"/>
              </a:rPr>
              <a:t>Phase 2 — Pipeline Building</a:t>
            </a:r>
            <a:endParaRPr lang="en-US" sz="1500" dirty="0"/>
          </a:p>
        </p:txBody>
      </p:sp>
      <p:sp>
        <p:nvSpPr>
          <p:cNvPr id="6" name="Text 4"/>
          <p:cNvSpPr/>
          <p:nvPr/>
        </p:nvSpPr>
        <p:spPr>
          <a:xfrm>
            <a:off x="1051560" y="1938528"/>
            <a:ext cx="1371600" cy="146304"/>
          </a:xfrm>
          <a:prstGeom prst="rect">
            <a:avLst/>
          </a:prstGeom>
          <a:noFill/>
          <a:ln/>
        </p:spPr>
        <p:txBody>
          <a:bodyPr wrap="square" lIns="0" tIns="0" rIns="0" bIns="0" rtlCol="0" anchor="t">
            <a:normAutofit/>
          </a:bodyPr>
          <a:lstStyle/>
          <a:p>
            <a:pPr algn="l" indent="0" marL="0">
              <a:buNone/>
            </a:pPr>
            <a:r>
              <a:rPr lang="en-US" sz="1000" dirty="0">
                <a:solidFill>
                  <a:srgbClr val="5A6E8C"/>
                </a:solidFill>
                <a:latin typeface="Calibri" pitchFamily="34" charset="0"/>
                <a:ea typeface="Calibri" pitchFamily="34" charset="-122"/>
                <a:cs typeface="Calibri" pitchFamily="34" charset="-120"/>
              </a:rPr>
              <a:t>Jul 1 → Sep/Oct</a:t>
            </a:r>
            <a:endParaRPr lang="en-US" sz="1000" dirty="0"/>
          </a:p>
        </p:txBody>
      </p:sp>
      <p:sp>
        <p:nvSpPr>
          <p:cNvPr id="7" name="Text 5"/>
          <p:cNvSpPr/>
          <p:nvPr/>
        </p:nvSpPr>
        <p:spPr>
          <a:xfrm>
            <a:off x="1051560" y="2249424"/>
            <a:ext cx="4526280" cy="164592"/>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North Star: # of LOIs / verbal Pioneer commitments (€199/mo)</a:t>
            </a:r>
            <a:endParaRPr lang="en-US" sz="1150" dirty="0"/>
          </a:p>
        </p:txBody>
      </p:sp>
      <p:sp>
        <p:nvSpPr>
          <p:cNvPr id="8" name="Text 6"/>
          <p:cNvSpPr/>
          <p:nvPr/>
        </p:nvSpPr>
        <p:spPr>
          <a:xfrm>
            <a:off x="1143000" y="2697480"/>
            <a:ext cx="4434840" cy="731520"/>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#1  LOI count (target: 10)</a:t>
            </a:r>
            <a:endParaRPr lang="en-US" sz="1100" dirty="0"/>
          </a:p>
          <a:p>
            <a:pPr algn="l" indent="0" marL="0">
              <a:buNone/>
            </a:pPr>
            <a:r>
              <a:rPr lang="en-US" sz="1100" dirty="0">
                <a:solidFill>
                  <a:srgbClr val="1E2761"/>
                </a:solidFill>
                <a:latin typeface="Calibri" pitchFamily="34" charset="0"/>
                <a:ea typeface="Calibri" pitchFamily="34" charset="-122"/>
                <a:cs typeface="Calibri" pitchFamily="34" charset="-120"/>
              </a:rPr>
              <a:t>#2  Demos given per week (5–7% WoW)</a:t>
            </a:r>
            <a:endParaRPr lang="en-US" sz="1100" dirty="0"/>
          </a:p>
          <a:p>
            <a:pPr algn="l" indent="0" marL="0">
              <a:buNone/>
            </a:pPr>
            <a:r>
              <a:rPr lang="en-US" sz="1100" dirty="0">
                <a:solidFill>
                  <a:srgbClr val="1E2761"/>
                </a:solidFill>
                <a:latin typeface="Calibri" pitchFamily="34" charset="0"/>
                <a:ea typeface="Calibri" pitchFamily="34" charset="-122"/>
                <a:cs typeface="Calibri" pitchFamily="34" charset="-120"/>
              </a:rPr>
              <a:t>#3  Demo → LOI conversion (track only, no target yet)</a:t>
            </a:r>
            <a:endParaRPr lang="en-US" sz="1100" dirty="0"/>
          </a:p>
        </p:txBody>
      </p:sp>
      <p:sp>
        <p:nvSpPr>
          <p:cNvPr id="9" name="Text 7"/>
          <p:cNvSpPr/>
          <p:nvPr/>
        </p:nvSpPr>
        <p:spPr>
          <a:xfrm>
            <a:off x="1051560" y="3858768"/>
            <a:ext cx="4114800" cy="164592"/>
          </a:xfrm>
          <a:prstGeom prst="rect">
            <a:avLst/>
          </a:prstGeom>
          <a:noFill/>
          <a:ln/>
        </p:spPr>
        <p:txBody>
          <a:bodyPr wrap="square" lIns="0" tIns="0" rIns="0" bIns="0" rtlCol="0" anchor="t">
            <a:normAutofit/>
          </a:bodyPr>
          <a:lstStyle/>
          <a:p>
            <a:pPr algn="l" indent="0" marL="0">
              <a:buNone/>
            </a:pPr>
            <a:r>
              <a:rPr lang="en-US" sz="1100" b="1" dirty="0">
                <a:solidFill>
                  <a:srgbClr val="1E2761"/>
                </a:solidFill>
                <a:latin typeface="Calibri" pitchFamily="34" charset="0"/>
                <a:ea typeface="Calibri" pitchFamily="34" charset="-122"/>
                <a:cs typeface="Calibri" pitchFamily="34" charset="-120"/>
              </a:rPr>
              <a:t>Gate: 10 verbal Pioneers before constitution</a:t>
            </a:r>
            <a:endParaRPr lang="en-US" sz="1100" dirty="0"/>
          </a:p>
        </p:txBody>
      </p:sp>
      <p:sp>
        <p:nvSpPr>
          <p:cNvPr id="10" name="Text 8"/>
          <p:cNvSpPr/>
          <p:nvPr/>
        </p:nvSpPr>
        <p:spPr>
          <a:xfrm>
            <a:off x="1051560" y="4224528"/>
            <a:ext cx="4480560" cy="365760"/>
          </a:xfrm>
          <a:prstGeom prst="rect">
            <a:avLst/>
          </a:prstGeom>
          <a:noFill/>
          <a:ln/>
        </p:spPr>
        <p:txBody>
          <a:bodyPr wrap="square" lIns="0" tIns="0" rIns="0" bIns="0" rtlCol="0" anchor="t">
            <a:normAutofit/>
          </a:bodyPr>
          <a:lstStyle/>
          <a:p>
            <a:pPr algn="l" indent="0" marL="0">
              <a:buNone/>
            </a:pPr>
            <a:r>
              <a:rPr lang="en-US" sz="1010" i="1" dirty="0">
                <a:solidFill>
                  <a:srgbClr val="5A6E8C"/>
                </a:solidFill>
                <a:latin typeface="Calibri" pitchFamily="34" charset="0"/>
                <a:ea typeface="Calibri" pitchFamily="34" charset="-122"/>
                <a:cs typeface="Calibri" pitchFamily="34" charset="-120"/>
              </a:rPr>
              <a:t>Charging before you can charge. A founder who said yes twice is far more likely to convert than a cold lead.</a:t>
            </a:r>
            <a:endParaRPr lang="en-US" sz="1010" dirty="0"/>
          </a:p>
        </p:txBody>
      </p:sp>
      <p:sp>
        <p:nvSpPr>
          <p:cNvPr id="11" name="Shape 9"/>
          <p:cNvSpPr/>
          <p:nvPr/>
        </p:nvSpPr>
        <p:spPr>
          <a:xfrm>
            <a:off x="6217920" y="1417320"/>
            <a:ext cx="5212080" cy="4434840"/>
          </a:xfrm>
          <a:prstGeom prst="roundRect">
            <a:avLst>
              <a:gd name="adj" fmla="val 1649"/>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2" name="Shape 10"/>
          <p:cNvSpPr/>
          <p:nvPr/>
        </p:nvSpPr>
        <p:spPr>
          <a:xfrm>
            <a:off x="6217920" y="1417320"/>
            <a:ext cx="64008" cy="4434840"/>
          </a:xfrm>
          <a:prstGeom prst="rect">
            <a:avLst/>
          </a:prstGeom>
          <a:solidFill>
            <a:srgbClr val="4FC3F7"/>
          </a:solidFill>
          <a:ln w="12700">
            <a:solidFill>
              <a:srgbClr val="4FC3F7"/>
            </a:solidFill>
            <a:prstDash val="solid"/>
          </a:ln>
        </p:spPr>
      </p:sp>
      <p:sp>
        <p:nvSpPr>
          <p:cNvPr id="13" name="Text 11"/>
          <p:cNvSpPr/>
          <p:nvPr/>
        </p:nvSpPr>
        <p:spPr>
          <a:xfrm>
            <a:off x="6492240" y="1682496"/>
            <a:ext cx="3474720" cy="228600"/>
          </a:xfrm>
          <a:prstGeom prst="rect">
            <a:avLst/>
          </a:prstGeom>
          <a:noFill/>
          <a:ln/>
        </p:spPr>
        <p:txBody>
          <a:bodyPr wrap="square" lIns="0" tIns="0" rIns="0" bIns="0" rtlCol="0" anchor="t">
            <a:normAutofit/>
          </a:bodyPr>
          <a:lstStyle/>
          <a:p>
            <a:pPr algn="l" indent="0" marL="0">
              <a:buNone/>
            </a:pPr>
            <a:r>
              <a:rPr lang="en-US" sz="1500" b="1" dirty="0">
                <a:solidFill>
                  <a:srgbClr val="1E2761"/>
                </a:solidFill>
                <a:latin typeface="Calibri" pitchFamily="34" charset="0"/>
                <a:ea typeface="Calibri" pitchFamily="34" charset="-122"/>
                <a:cs typeface="Calibri" pitchFamily="34" charset="-120"/>
              </a:rPr>
              <a:t>Phase 3 — Constitution + Launch</a:t>
            </a:r>
            <a:endParaRPr lang="en-US" sz="1500" dirty="0"/>
          </a:p>
        </p:txBody>
      </p:sp>
      <p:sp>
        <p:nvSpPr>
          <p:cNvPr id="14" name="Text 12"/>
          <p:cNvSpPr/>
          <p:nvPr/>
        </p:nvSpPr>
        <p:spPr>
          <a:xfrm>
            <a:off x="6492240" y="1938528"/>
            <a:ext cx="1280160" cy="146304"/>
          </a:xfrm>
          <a:prstGeom prst="rect">
            <a:avLst/>
          </a:prstGeom>
          <a:noFill/>
          <a:ln/>
        </p:spPr>
        <p:txBody>
          <a:bodyPr wrap="square" lIns="0" tIns="0" rIns="0" bIns="0" rtlCol="0" anchor="t">
            <a:normAutofit/>
          </a:bodyPr>
          <a:lstStyle/>
          <a:p>
            <a:pPr algn="l" indent="0" marL="0">
              <a:buNone/>
            </a:pPr>
            <a:r>
              <a:rPr lang="en-US" sz="1000" dirty="0">
                <a:solidFill>
                  <a:srgbClr val="5A6E8C"/>
                </a:solidFill>
                <a:latin typeface="Calibri" pitchFamily="34" charset="0"/>
                <a:ea typeface="Calibri" pitchFamily="34" charset="-122"/>
                <a:cs typeface="Calibri" pitchFamily="34" charset="-120"/>
              </a:rPr>
              <a:t>Oct → Dec (Q4)</a:t>
            </a:r>
            <a:endParaRPr lang="en-US" sz="1000" dirty="0"/>
          </a:p>
        </p:txBody>
      </p:sp>
      <p:sp>
        <p:nvSpPr>
          <p:cNvPr id="15" name="Text 13"/>
          <p:cNvSpPr/>
          <p:nvPr/>
        </p:nvSpPr>
        <p:spPr>
          <a:xfrm>
            <a:off x="6492240" y="2249424"/>
            <a:ext cx="3200400" cy="164592"/>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North Star: ARR (€/month, WoW %)</a:t>
            </a:r>
            <a:endParaRPr lang="en-US" sz="1150" dirty="0"/>
          </a:p>
        </p:txBody>
      </p:sp>
      <p:sp>
        <p:nvSpPr>
          <p:cNvPr id="16" name="Text 14"/>
          <p:cNvSpPr/>
          <p:nvPr/>
        </p:nvSpPr>
        <p:spPr>
          <a:xfrm>
            <a:off x="6492240" y="2560320"/>
            <a:ext cx="4572000" cy="164592"/>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Launch state: 10 × €199 = €1,990 MRR on day 1 of legal existence</a:t>
            </a:r>
            <a:endParaRPr lang="en-US" sz="1100" dirty="0"/>
          </a:p>
        </p:txBody>
      </p:sp>
      <p:sp>
        <p:nvSpPr>
          <p:cNvPr id="17" name="Text 15"/>
          <p:cNvSpPr/>
          <p:nvPr/>
        </p:nvSpPr>
        <p:spPr>
          <a:xfrm>
            <a:off x="6583680" y="2999232"/>
            <a:ext cx="4114800" cy="585216"/>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#1  ARR (5–7% WoW target)</a:t>
            </a:r>
            <a:endParaRPr lang="en-US" sz="1100" dirty="0"/>
          </a:p>
          <a:p>
            <a:pPr algn="l" indent="0" marL="0">
              <a:buNone/>
            </a:pPr>
            <a:r>
              <a:rPr lang="en-US" sz="1100" dirty="0">
                <a:solidFill>
                  <a:srgbClr val="1E2761"/>
                </a:solidFill>
                <a:latin typeface="Calibri" pitchFamily="34" charset="0"/>
                <a:ea typeface="Calibri" pitchFamily="34" charset="-122"/>
                <a:cs typeface="Calibri" pitchFamily="34" charset="-120"/>
              </a:rPr>
              <a:t>#2  Active users per PoC</a:t>
            </a:r>
            <a:endParaRPr lang="en-US" sz="1100" dirty="0"/>
          </a:p>
          <a:p>
            <a:pPr algn="l" indent="0" marL="0">
              <a:buNone/>
            </a:pPr>
            <a:r>
              <a:rPr lang="en-US" sz="1100" dirty="0">
                <a:solidFill>
                  <a:srgbClr val="1E2761"/>
                </a:solidFill>
                <a:latin typeface="Calibri" pitchFamily="34" charset="0"/>
                <a:ea typeface="Calibri" pitchFamily="34" charset="-122"/>
                <a:cs typeface="Calibri" pitchFamily="34" charset="-120"/>
              </a:rPr>
              <a:t>#3  Expansion pipeline</a:t>
            </a:r>
            <a:endParaRPr lang="en-US" sz="1100" dirty="0"/>
          </a:p>
        </p:txBody>
      </p:sp>
      <p:sp>
        <p:nvSpPr>
          <p:cNvPr id="18" name="Text 16"/>
          <p:cNvSpPr/>
          <p:nvPr/>
        </p:nvSpPr>
        <p:spPr>
          <a:xfrm>
            <a:off x="6492240" y="3858768"/>
            <a:ext cx="4297680" cy="164592"/>
          </a:xfrm>
          <a:prstGeom prst="rect">
            <a:avLst/>
          </a:prstGeom>
          <a:noFill/>
          <a:ln/>
        </p:spPr>
        <p:txBody>
          <a:bodyPr wrap="square" lIns="0" tIns="0" rIns="0" bIns="0" rtlCol="0" anchor="t">
            <a:normAutofit/>
          </a:bodyPr>
          <a:lstStyle/>
          <a:p>
            <a:pPr algn="l" indent="0" marL="0">
              <a:buNone/>
            </a:pPr>
            <a:r>
              <a:rPr lang="en-US" sz="1100" b="1" dirty="0">
                <a:solidFill>
                  <a:srgbClr val="1E2761"/>
                </a:solidFill>
                <a:latin typeface="Calibri" pitchFamily="34" charset="0"/>
                <a:ea typeface="Calibri" pitchFamily="34" charset="-122"/>
                <a:cs typeface="Calibri" pitchFamily="34" charset="-120"/>
              </a:rPr>
              <a:t>Gate: End Q4 with first upsell conversation opened</a:t>
            </a:r>
            <a:endParaRPr lang="en-US" sz="1100" dirty="0"/>
          </a:p>
        </p:txBody>
      </p:sp>
      <p:sp>
        <p:nvSpPr>
          <p:cNvPr id="19" name="Shape 17"/>
          <p:cNvSpPr/>
          <p:nvPr/>
        </p:nvSpPr>
        <p:spPr>
          <a:xfrm>
            <a:off x="0" y="6263640"/>
            <a:ext cx="12191695" cy="594360"/>
          </a:xfrm>
          <a:prstGeom prst="rect">
            <a:avLst/>
          </a:prstGeom>
          <a:solidFill>
            <a:srgbClr val="1E2761"/>
          </a:solidFill>
          <a:ln w="12700">
            <a:solidFill>
              <a:srgbClr val="1E2761"/>
            </a:solidFill>
            <a:prstDash val="solid"/>
          </a:ln>
        </p:spPr>
      </p:sp>
      <p:sp>
        <p:nvSpPr>
          <p:cNvPr id="20" name="Text 18"/>
          <p:cNvSpPr/>
          <p:nvPr/>
        </p:nvSpPr>
        <p:spPr>
          <a:xfrm>
            <a:off x="914400" y="6437376"/>
            <a:ext cx="10332720" cy="164592"/>
          </a:xfrm>
          <a:prstGeom prst="rect">
            <a:avLst/>
          </a:prstGeom>
          <a:noFill/>
          <a:ln/>
        </p:spPr>
        <p:txBody>
          <a:bodyPr wrap="square" lIns="0" tIns="0" rIns="0" bIns="0" rtlCol="0" anchor="t">
            <a:normAutofit/>
          </a:bodyPr>
          <a:lstStyle/>
          <a:p>
            <a:pPr algn="ctr" indent="0" marL="0">
              <a:buNone/>
            </a:pPr>
            <a:r>
              <a:rPr lang="en-US" sz="1150" dirty="0">
                <a:solidFill>
                  <a:srgbClr val="FFFFFF"/>
                </a:solidFill>
                <a:latin typeface="Calibri" pitchFamily="34" charset="0"/>
                <a:ea typeface="Calibri" pitchFamily="34" charset="-122"/>
                <a:cs typeface="Calibri" pitchFamily="34" charset="-120"/>
              </a:rPr>
              <a:t>Yearly goal: Constitute XC Gradient with 10 paying Pioneer clients by Q4 2026</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Every task traces up to this</a:t>
            </a:r>
            <a:endParaRPr lang="en-US" sz="2500" dirty="0"/>
          </a:p>
        </p:txBody>
      </p:sp>
      <p:sp>
        <p:nvSpPr>
          <p:cNvPr id="3" name="Text 1"/>
          <p:cNvSpPr/>
          <p:nvPr/>
        </p:nvSpPr>
        <p:spPr>
          <a:xfrm>
            <a:off x="822960" y="1188720"/>
            <a:ext cx="1280160" cy="164592"/>
          </a:xfrm>
          <a:prstGeom prst="rect">
            <a:avLst/>
          </a:prstGeom>
          <a:noFill/>
          <a:ln/>
        </p:spPr>
        <p:txBody>
          <a:bodyPr wrap="square" lIns="0" tIns="0" rIns="0" bIns="0" rtlCol="0" anchor="t">
            <a:normAutofit/>
          </a:bodyPr>
          <a:lstStyle/>
          <a:p>
            <a:pPr algn="l" indent="0" marL="0">
              <a:buNone/>
            </a:pPr>
            <a:r>
              <a:rPr lang="en-US" sz="1000" b="1" dirty="0">
                <a:solidFill>
                  <a:srgbClr val="4FC3F7"/>
                </a:solidFill>
                <a:latin typeface="Calibri" pitchFamily="34" charset="0"/>
                <a:ea typeface="Calibri" pitchFamily="34" charset="-122"/>
                <a:cs typeface="Calibri" pitchFamily="34" charset="-120"/>
              </a:rPr>
              <a:t>YEARLY GOAL</a:t>
            </a:r>
            <a:endParaRPr lang="en-US" sz="1000" dirty="0"/>
          </a:p>
        </p:txBody>
      </p:sp>
      <p:sp>
        <p:nvSpPr>
          <p:cNvPr id="4" name="Text 2"/>
          <p:cNvSpPr/>
          <p:nvPr/>
        </p:nvSpPr>
        <p:spPr>
          <a:xfrm>
            <a:off x="1234440" y="1444752"/>
            <a:ext cx="6035040" cy="201168"/>
          </a:xfrm>
          <a:prstGeom prst="rect">
            <a:avLst/>
          </a:prstGeom>
          <a:noFill/>
          <a:ln/>
        </p:spPr>
        <p:txBody>
          <a:bodyPr wrap="square" lIns="0" tIns="0" rIns="0" bIns="0" rtlCol="0" anchor="t">
            <a:normAutofit/>
          </a:bodyPr>
          <a:lstStyle/>
          <a:p>
            <a:pPr algn="l" indent="0" marL="0">
              <a:buNone/>
            </a:pPr>
            <a:r>
              <a:rPr lang="en-US" sz="1600" b="1" dirty="0">
                <a:solidFill>
                  <a:srgbClr val="1E2761"/>
                </a:solidFill>
                <a:latin typeface="Calibri" pitchFamily="34" charset="0"/>
                <a:ea typeface="Calibri" pitchFamily="34" charset="-122"/>
                <a:cs typeface="Calibri" pitchFamily="34" charset="-120"/>
              </a:rPr>
              <a:t>Constitute XC Gradient with 10 paying Pioneers by Q4 2026</a:t>
            </a:r>
            <a:endParaRPr lang="en-US" sz="1600" dirty="0"/>
          </a:p>
        </p:txBody>
      </p:sp>
      <p:sp>
        <p:nvSpPr>
          <p:cNvPr id="5" name="Shape 3"/>
          <p:cNvSpPr/>
          <p:nvPr/>
        </p:nvSpPr>
        <p:spPr>
          <a:xfrm>
            <a:off x="1115568" y="1764792"/>
            <a:ext cx="0" cy="3931920"/>
          </a:xfrm>
          <a:prstGeom prst="line">
            <a:avLst/>
          </a:prstGeom>
          <a:noFill/>
          <a:ln w="19050">
            <a:solidFill>
              <a:srgbClr val="4FC3F7"/>
            </a:solidFill>
            <a:prstDash val="solid"/>
          </a:ln>
        </p:spPr>
      </p:sp>
      <p:sp>
        <p:nvSpPr>
          <p:cNvPr id="6" name="Shape 4"/>
          <p:cNvSpPr/>
          <p:nvPr/>
        </p:nvSpPr>
        <p:spPr>
          <a:xfrm>
            <a:off x="1115568" y="2240280"/>
            <a:ext cx="274320" cy="0"/>
          </a:xfrm>
          <a:prstGeom prst="line">
            <a:avLst/>
          </a:prstGeom>
          <a:noFill/>
          <a:ln w="15240">
            <a:solidFill>
              <a:srgbClr val="4FC3F7"/>
            </a:solidFill>
            <a:prstDash val="solid"/>
          </a:ln>
        </p:spPr>
      </p:sp>
      <p:sp>
        <p:nvSpPr>
          <p:cNvPr id="7" name="Text 5"/>
          <p:cNvSpPr/>
          <p:nvPr/>
        </p:nvSpPr>
        <p:spPr>
          <a:xfrm>
            <a:off x="1481328" y="2066544"/>
            <a:ext cx="2651760" cy="164592"/>
          </a:xfrm>
          <a:prstGeom prst="rect">
            <a:avLst/>
          </a:prstGeom>
          <a:noFill/>
          <a:ln/>
        </p:spPr>
        <p:txBody>
          <a:bodyPr wrap="square" lIns="0" tIns="0" rIns="0" bIns="0" rtlCol="0" anchor="t">
            <a:normAutofit/>
          </a:bodyPr>
          <a:lstStyle/>
          <a:p>
            <a:pPr algn="l" indent="0" marL="0">
              <a:buNone/>
            </a:pPr>
            <a:r>
              <a:rPr lang="en-US" sz="1250" b="1" dirty="0">
                <a:solidFill>
                  <a:srgbClr val="4FC3F7"/>
                </a:solidFill>
                <a:latin typeface="Calibri" pitchFamily="34" charset="0"/>
                <a:ea typeface="Calibri" pitchFamily="34" charset="-122"/>
                <a:cs typeface="Calibri" pitchFamily="34" charset="-120"/>
              </a:rPr>
              <a:t>Q2 2026 (CURRENT — Apr–Jun)</a:t>
            </a:r>
            <a:endParaRPr lang="en-US" sz="1250" dirty="0"/>
          </a:p>
        </p:txBody>
      </p:sp>
      <p:sp>
        <p:nvSpPr>
          <p:cNvPr id="8" name="Text 6"/>
          <p:cNvSpPr/>
          <p:nvPr/>
        </p:nvSpPr>
        <p:spPr>
          <a:xfrm>
            <a:off x="1755648" y="2304288"/>
            <a:ext cx="4389120" cy="164592"/>
          </a:xfrm>
          <a:prstGeom prst="rect">
            <a:avLst/>
          </a:prstGeom>
          <a:noFill/>
          <a:ln/>
        </p:spPr>
        <p:txBody>
          <a:bodyPr wrap="square" lIns="0" tIns="0" rIns="0" bIns="0" rtlCol="0" anchor="t">
            <a:normAutofit/>
          </a:bodyPr>
          <a:lstStyle/>
          <a:p>
            <a:pPr algn="l" indent="0" marL="0">
              <a:buNone/>
            </a:pPr>
            <a:r>
              <a:rPr lang="en-US" sz="1080" b="1" dirty="0">
                <a:solidFill>
                  <a:srgbClr val="1E2761"/>
                </a:solidFill>
                <a:latin typeface="Calibri" pitchFamily="34" charset="0"/>
                <a:ea typeface="Calibri" pitchFamily="34" charset="-122"/>
                <a:cs typeface="Calibri" pitchFamily="34" charset="-120"/>
              </a:rPr>
              <a:t>Company: 2 PoCs A&gt;0.80 · 5 qualified leads · Thesis Jul 1</a:t>
            </a:r>
            <a:endParaRPr lang="en-US" sz="1080" dirty="0"/>
          </a:p>
        </p:txBody>
      </p:sp>
      <p:sp>
        <p:nvSpPr>
          <p:cNvPr id="9" name="Shape 7"/>
          <p:cNvSpPr/>
          <p:nvPr/>
        </p:nvSpPr>
        <p:spPr>
          <a:xfrm>
            <a:off x="1115568" y="2724912"/>
            <a:ext cx="411480" cy="0"/>
          </a:xfrm>
          <a:prstGeom prst="line">
            <a:avLst/>
          </a:prstGeom>
          <a:noFill/>
          <a:ln w="15240">
            <a:solidFill>
              <a:srgbClr val="D9E4F2"/>
            </a:solidFill>
            <a:prstDash val="solid"/>
          </a:ln>
        </p:spPr>
      </p:sp>
      <p:sp>
        <p:nvSpPr>
          <p:cNvPr id="10" name="Text 8"/>
          <p:cNvSpPr/>
          <p:nvPr/>
        </p:nvSpPr>
        <p:spPr>
          <a:xfrm>
            <a:off x="1627632" y="2606040"/>
            <a:ext cx="73152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ORIOL</a:t>
            </a:r>
            <a:endParaRPr lang="en-US" sz="1150" dirty="0"/>
          </a:p>
        </p:txBody>
      </p:sp>
      <p:sp>
        <p:nvSpPr>
          <p:cNvPr id="11" name="Text 9"/>
          <p:cNvSpPr/>
          <p:nvPr/>
        </p:nvSpPr>
        <p:spPr>
          <a:xfrm>
            <a:off x="2331720" y="2587752"/>
            <a:ext cx="2651760" cy="566928"/>
          </a:xfrm>
          <a:prstGeom prst="rect">
            <a:avLst/>
          </a:prstGeom>
          <a:noFill/>
          <a:ln/>
        </p:spPr>
        <p:txBody>
          <a:bodyPr wrap="square" lIns="0" tIns="0" rIns="0" bIns="0" rtlCol="0" anchor="t">
            <a:normAutofit/>
          </a:bodyPr>
          <a:lstStyle/>
          <a:p>
            <a:pPr algn="l" indent="0" marL="0">
              <a:buNone/>
            </a:pPr>
            <a:r>
              <a:rPr lang="en-US" sz="1050" dirty="0">
                <a:solidFill>
                  <a:srgbClr val="1E2761"/>
                </a:solidFill>
                <a:latin typeface="Calibri" pitchFamily="34" charset="0"/>
                <a:ea typeface="Calibri" pitchFamily="34" charset="-122"/>
                <a:cs typeface="Calibri" pitchFamily="34" charset="-120"/>
              </a:rPr>
              <a:t>KR1: Notion OS live Apr 7</a:t>
            </a:r>
            <a:endParaRPr lang="en-US" sz="1050" dirty="0"/>
          </a:p>
          <a:p>
            <a:pPr algn="l" indent="0" marL="0">
              <a:buNone/>
            </a:pPr>
            <a:r>
              <a:rPr lang="en-US" sz="1050" dirty="0">
                <a:solidFill>
                  <a:srgbClr val="1E2761"/>
                </a:solidFill>
                <a:latin typeface="Calibri" pitchFamily="34" charset="0"/>
                <a:ea typeface="Calibri" pitchFamily="34" charset="-122"/>
                <a:cs typeface="Calibri" pitchFamily="34" charset="-120"/>
              </a:rPr>
              <a:t>KR2: 5 pipeline conversations</a:t>
            </a:r>
            <a:endParaRPr lang="en-US" sz="1050" dirty="0"/>
          </a:p>
          <a:p>
            <a:pPr algn="l" indent="0" marL="0">
              <a:buNone/>
            </a:pPr>
            <a:r>
              <a:rPr lang="en-US" sz="1050" dirty="0">
                <a:solidFill>
                  <a:srgbClr val="1E2761"/>
                </a:solidFill>
                <a:latin typeface="Calibri" pitchFamily="34" charset="0"/>
                <a:ea typeface="Calibri" pitchFamily="34" charset="-122"/>
                <a:cs typeface="Calibri" pitchFamily="34" charset="-120"/>
              </a:rPr>
              <a:t>KR3: Thesis defended Jul 1</a:t>
            </a:r>
            <a:endParaRPr lang="en-US" sz="1050" dirty="0"/>
          </a:p>
        </p:txBody>
      </p:sp>
      <p:sp>
        <p:nvSpPr>
          <p:cNvPr id="12" name="Shape 10"/>
          <p:cNvSpPr/>
          <p:nvPr/>
        </p:nvSpPr>
        <p:spPr>
          <a:xfrm>
            <a:off x="1115568" y="3493008"/>
            <a:ext cx="411480" cy="0"/>
          </a:xfrm>
          <a:prstGeom prst="line">
            <a:avLst/>
          </a:prstGeom>
          <a:noFill/>
          <a:ln w="15240">
            <a:solidFill>
              <a:srgbClr val="D9E4F2"/>
            </a:solidFill>
            <a:prstDash val="solid"/>
          </a:ln>
        </p:spPr>
      </p:sp>
      <p:sp>
        <p:nvSpPr>
          <p:cNvPr id="13" name="Text 11"/>
          <p:cNvSpPr/>
          <p:nvPr/>
        </p:nvSpPr>
        <p:spPr>
          <a:xfrm>
            <a:off x="1627632" y="3374136"/>
            <a:ext cx="77724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ARNAU</a:t>
            </a:r>
            <a:endParaRPr lang="en-US" sz="1150" dirty="0"/>
          </a:p>
        </p:txBody>
      </p:sp>
      <p:sp>
        <p:nvSpPr>
          <p:cNvPr id="14" name="Text 12"/>
          <p:cNvSpPr/>
          <p:nvPr/>
        </p:nvSpPr>
        <p:spPr>
          <a:xfrm>
            <a:off x="2331720" y="3355848"/>
            <a:ext cx="2651760" cy="566928"/>
          </a:xfrm>
          <a:prstGeom prst="rect">
            <a:avLst/>
          </a:prstGeom>
          <a:noFill/>
          <a:ln/>
        </p:spPr>
        <p:txBody>
          <a:bodyPr wrap="square" lIns="0" tIns="0" rIns="0" bIns="0" rtlCol="0" anchor="t">
            <a:normAutofit/>
          </a:bodyPr>
          <a:lstStyle/>
          <a:p>
            <a:pPr algn="l" indent="0" marL="0">
              <a:buNone/>
            </a:pPr>
            <a:r>
              <a:rPr lang="en-US" sz="1050" i="1" dirty="0">
                <a:solidFill>
                  <a:srgbClr val="5A6E8C"/>
                </a:solidFill>
                <a:latin typeface="Calibri" pitchFamily="34" charset="0"/>
                <a:ea typeface="Calibri" pitchFamily="34" charset="-122"/>
                <a:cs typeface="Calibri" pitchFamily="34" charset="-120"/>
              </a:rPr>
              <a:t>KR1: __________</a:t>
            </a:r>
            <a:endParaRPr lang="en-US" sz="1050" dirty="0"/>
          </a:p>
          <a:p>
            <a:pPr algn="l" indent="0" marL="0">
              <a:buNone/>
            </a:pPr>
            <a:r>
              <a:rPr lang="en-US" sz="1050" i="1" dirty="0">
                <a:solidFill>
                  <a:srgbClr val="5A6E8C"/>
                </a:solidFill>
                <a:latin typeface="Calibri" pitchFamily="34" charset="0"/>
                <a:ea typeface="Calibri" pitchFamily="34" charset="-122"/>
                <a:cs typeface="Calibri" pitchFamily="34" charset="-120"/>
              </a:rPr>
              <a:t>KR2: __________</a:t>
            </a:r>
            <a:endParaRPr lang="en-US" sz="1050" dirty="0"/>
          </a:p>
          <a:p>
            <a:pPr algn="l" indent="0" marL="0">
              <a:buNone/>
            </a:pPr>
            <a:r>
              <a:rPr lang="en-US" sz="1050" i="1" dirty="0">
                <a:solidFill>
                  <a:srgbClr val="5A6E8C"/>
                </a:solidFill>
                <a:latin typeface="Calibri" pitchFamily="34" charset="0"/>
                <a:ea typeface="Calibri" pitchFamily="34" charset="-122"/>
                <a:cs typeface="Calibri" pitchFamily="34" charset="-120"/>
              </a:rPr>
              <a:t>KR3: __________</a:t>
            </a:r>
            <a:endParaRPr lang="en-US" sz="1050" dirty="0"/>
          </a:p>
        </p:txBody>
      </p:sp>
      <p:sp>
        <p:nvSpPr>
          <p:cNvPr id="15" name="Shape 13"/>
          <p:cNvSpPr/>
          <p:nvPr/>
        </p:nvSpPr>
        <p:spPr>
          <a:xfrm>
            <a:off x="1115568" y="4261104"/>
            <a:ext cx="411480" cy="0"/>
          </a:xfrm>
          <a:prstGeom prst="line">
            <a:avLst/>
          </a:prstGeom>
          <a:noFill/>
          <a:ln w="15240">
            <a:solidFill>
              <a:srgbClr val="D9E4F2"/>
            </a:solidFill>
            <a:prstDash val="solid"/>
          </a:ln>
        </p:spPr>
      </p:sp>
      <p:sp>
        <p:nvSpPr>
          <p:cNvPr id="16" name="Text 14"/>
          <p:cNvSpPr/>
          <p:nvPr/>
        </p:nvSpPr>
        <p:spPr>
          <a:xfrm>
            <a:off x="1627632" y="4142232"/>
            <a:ext cx="73152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ADAM</a:t>
            </a:r>
            <a:endParaRPr lang="en-US" sz="1150" dirty="0"/>
          </a:p>
        </p:txBody>
      </p:sp>
      <p:sp>
        <p:nvSpPr>
          <p:cNvPr id="17" name="Text 15"/>
          <p:cNvSpPr/>
          <p:nvPr/>
        </p:nvSpPr>
        <p:spPr>
          <a:xfrm>
            <a:off x="2331720" y="4123944"/>
            <a:ext cx="2651760" cy="566928"/>
          </a:xfrm>
          <a:prstGeom prst="rect">
            <a:avLst/>
          </a:prstGeom>
          <a:noFill/>
          <a:ln/>
        </p:spPr>
        <p:txBody>
          <a:bodyPr wrap="square" lIns="0" tIns="0" rIns="0" bIns="0" rtlCol="0" anchor="t">
            <a:normAutofit/>
          </a:bodyPr>
          <a:lstStyle/>
          <a:p>
            <a:pPr algn="l" indent="0" marL="0">
              <a:buNone/>
            </a:pPr>
            <a:r>
              <a:rPr lang="en-US" sz="1050" i="1" dirty="0">
                <a:solidFill>
                  <a:srgbClr val="5A6E8C"/>
                </a:solidFill>
                <a:latin typeface="Calibri" pitchFamily="34" charset="0"/>
                <a:ea typeface="Calibri" pitchFamily="34" charset="-122"/>
                <a:cs typeface="Calibri" pitchFamily="34" charset="-120"/>
              </a:rPr>
              <a:t>KR1: __________</a:t>
            </a:r>
            <a:endParaRPr lang="en-US" sz="1050" dirty="0"/>
          </a:p>
          <a:p>
            <a:pPr algn="l" indent="0" marL="0">
              <a:buNone/>
            </a:pPr>
            <a:r>
              <a:rPr lang="en-US" sz="1050" i="1" dirty="0">
                <a:solidFill>
                  <a:srgbClr val="5A6E8C"/>
                </a:solidFill>
                <a:latin typeface="Calibri" pitchFamily="34" charset="0"/>
                <a:ea typeface="Calibri" pitchFamily="34" charset="-122"/>
                <a:cs typeface="Calibri" pitchFamily="34" charset="-120"/>
              </a:rPr>
              <a:t>KR2: __________</a:t>
            </a:r>
            <a:endParaRPr lang="en-US" sz="1050" dirty="0"/>
          </a:p>
          <a:p>
            <a:pPr algn="l" indent="0" marL="0">
              <a:buNone/>
            </a:pPr>
            <a:r>
              <a:rPr lang="en-US" sz="1050" i="1" dirty="0">
                <a:solidFill>
                  <a:srgbClr val="5A6E8C"/>
                </a:solidFill>
                <a:latin typeface="Calibri" pitchFamily="34" charset="0"/>
                <a:ea typeface="Calibri" pitchFamily="34" charset="-122"/>
                <a:cs typeface="Calibri" pitchFamily="34" charset="-120"/>
              </a:rPr>
              <a:t>KR3: __________</a:t>
            </a:r>
            <a:endParaRPr lang="en-US" sz="1050" dirty="0"/>
          </a:p>
        </p:txBody>
      </p:sp>
      <p:sp>
        <p:nvSpPr>
          <p:cNvPr id="18" name="Shape 16"/>
          <p:cNvSpPr/>
          <p:nvPr/>
        </p:nvSpPr>
        <p:spPr>
          <a:xfrm>
            <a:off x="1115568" y="5056632"/>
            <a:ext cx="274320" cy="0"/>
          </a:xfrm>
          <a:prstGeom prst="line">
            <a:avLst/>
          </a:prstGeom>
          <a:noFill/>
          <a:ln w="15240">
            <a:solidFill>
              <a:srgbClr val="D9E4F2"/>
            </a:solidFill>
            <a:prstDash val="solid"/>
          </a:ln>
        </p:spPr>
      </p:sp>
      <p:sp>
        <p:nvSpPr>
          <p:cNvPr id="19" name="Text 17"/>
          <p:cNvSpPr/>
          <p:nvPr/>
        </p:nvSpPr>
        <p:spPr>
          <a:xfrm>
            <a:off x="1481328" y="4956048"/>
            <a:ext cx="1371600" cy="146304"/>
          </a:xfrm>
          <a:prstGeom prst="rect">
            <a:avLst/>
          </a:prstGeom>
          <a:noFill/>
          <a:ln/>
        </p:spPr>
        <p:txBody>
          <a:bodyPr wrap="square" lIns="0" tIns="0" rIns="0" bIns="0" rtlCol="0" anchor="t">
            <a:normAutofit/>
          </a:bodyPr>
          <a:lstStyle/>
          <a:p>
            <a:pPr algn="l" indent="0" marL="0">
              <a:buNone/>
            </a:pPr>
            <a:r>
              <a:rPr lang="en-US" sz="1150" b="1" dirty="0">
                <a:solidFill>
                  <a:srgbClr val="5A6E8C"/>
                </a:solidFill>
                <a:latin typeface="Calibri" pitchFamily="34" charset="0"/>
                <a:ea typeface="Calibri" pitchFamily="34" charset="-122"/>
                <a:cs typeface="Calibri" pitchFamily="34" charset="-120"/>
              </a:rPr>
              <a:t>Q3 2026 (stub)</a:t>
            </a:r>
            <a:endParaRPr lang="en-US" sz="1150" dirty="0"/>
          </a:p>
        </p:txBody>
      </p:sp>
      <p:sp>
        <p:nvSpPr>
          <p:cNvPr id="20" name="Text 18"/>
          <p:cNvSpPr/>
          <p:nvPr/>
        </p:nvSpPr>
        <p:spPr>
          <a:xfrm>
            <a:off x="2743200" y="4956048"/>
            <a:ext cx="2194560" cy="146304"/>
          </a:xfrm>
          <a:prstGeom prst="rect">
            <a:avLst/>
          </a:prstGeom>
          <a:noFill/>
          <a:ln/>
        </p:spPr>
        <p:txBody>
          <a:bodyPr wrap="square" lIns="0" tIns="0" rIns="0" bIns="0" rtlCol="0" anchor="t">
            <a:normAutofit/>
          </a:bodyPr>
          <a:lstStyle/>
          <a:p>
            <a:pPr algn="l" indent="0" marL="0">
              <a:buNone/>
            </a:pPr>
            <a:r>
              <a:rPr lang="en-US" sz="1050" i="1" dirty="0">
                <a:solidFill>
                  <a:srgbClr val="5A6E8C"/>
                </a:solidFill>
                <a:latin typeface="Calibri" pitchFamily="34" charset="0"/>
                <a:ea typeface="Calibri" pitchFamily="34" charset="-122"/>
                <a:cs typeface="Calibri" pitchFamily="34" charset="-120"/>
              </a:rPr>
              <a:t>Build 10 Pioneer LOIs</a:t>
            </a:r>
            <a:endParaRPr lang="en-US" sz="1050" dirty="0"/>
          </a:p>
        </p:txBody>
      </p:sp>
      <p:sp>
        <p:nvSpPr>
          <p:cNvPr id="21" name="Shape 19"/>
          <p:cNvSpPr/>
          <p:nvPr/>
        </p:nvSpPr>
        <p:spPr>
          <a:xfrm>
            <a:off x="1115568" y="5422392"/>
            <a:ext cx="274320" cy="0"/>
          </a:xfrm>
          <a:prstGeom prst="line">
            <a:avLst/>
          </a:prstGeom>
          <a:noFill/>
          <a:ln w="15240">
            <a:solidFill>
              <a:srgbClr val="D9E4F2"/>
            </a:solidFill>
            <a:prstDash val="solid"/>
          </a:ln>
        </p:spPr>
      </p:sp>
      <p:sp>
        <p:nvSpPr>
          <p:cNvPr id="22" name="Text 20"/>
          <p:cNvSpPr/>
          <p:nvPr/>
        </p:nvSpPr>
        <p:spPr>
          <a:xfrm>
            <a:off x="1481328" y="5321808"/>
            <a:ext cx="1371600" cy="146304"/>
          </a:xfrm>
          <a:prstGeom prst="rect">
            <a:avLst/>
          </a:prstGeom>
          <a:noFill/>
          <a:ln/>
        </p:spPr>
        <p:txBody>
          <a:bodyPr wrap="square" lIns="0" tIns="0" rIns="0" bIns="0" rtlCol="0" anchor="t">
            <a:normAutofit/>
          </a:bodyPr>
          <a:lstStyle/>
          <a:p>
            <a:pPr algn="l" indent="0" marL="0">
              <a:buNone/>
            </a:pPr>
            <a:r>
              <a:rPr lang="en-US" sz="1150" b="1" dirty="0">
                <a:solidFill>
                  <a:srgbClr val="5A6E8C"/>
                </a:solidFill>
                <a:latin typeface="Calibri" pitchFamily="34" charset="0"/>
                <a:ea typeface="Calibri" pitchFamily="34" charset="-122"/>
                <a:cs typeface="Calibri" pitchFamily="34" charset="-120"/>
              </a:rPr>
              <a:t>Q4 2026 (stub)</a:t>
            </a:r>
            <a:endParaRPr lang="en-US" sz="1150" dirty="0"/>
          </a:p>
        </p:txBody>
      </p:sp>
      <p:sp>
        <p:nvSpPr>
          <p:cNvPr id="23" name="Text 21"/>
          <p:cNvSpPr/>
          <p:nvPr/>
        </p:nvSpPr>
        <p:spPr>
          <a:xfrm>
            <a:off x="2743200" y="5321808"/>
            <a:ext cx="2560320" cy="146304"/>
          </a:xfrm>
          <a:prstGeom prst="rect">
            <a:avLst/>
          </a:prstGeom>
          <a:noFill/>
          <a:ln/>
        </p:spPr>
        <p:txBody>
          <a:bodyPr wrap="square" lIns="0" tIns="0" rIns="0" bIns="0" rtlCol="0" anchor="t">
            <a:normAutofit/>
          </a:bodyPr>
          <a:lstStyle/>
          <a:p>
            <a:pPr algn="l" indent="0" marL="0">
              <a:buNone/>
            </a:pPr>
            <a:r>
              <a:rPr lang="en-US" sz="1050" i="1" dirty="0">
                <a:solidFill>
                  <a:srgbClr val="5A6E8C"/>
                </a:solidFill>
                <a:latin typeface="Calibri" pitchFamily="34" charset="0"/>
                <a:ea typeface="Calibri" pitchFamily="34" charset="-122"/>
                <a:cs typeface="Calibri" pitchFamily="34" charset="-120"/>
              </a:rPr>
              <a:t>Launch constituted company</a:t>
            </a:r>
            <a:endParaRPr lang="en-US" sz="1050" dirty="0"/>
          </a:p>
        </p:txBody>
      </p:sp>
      <p:sp>
        <p:nvSpPr>
          <p:cNvPr id="24" name="Shape 22"/>
          <p:cNvSpPr/>
          <p:nvPr/>
        </p:nvSpPr>
        <p:spPr>
          <a:xfrm>
            <a:off x="8229600" y="2011680"/>
            <a:ext cx="2834640" cy="914400"/>
          </a:xfrm>
          <a:prstGeom prst="roundRect">
            <a:avLst>
              <a:gd name="adj" fmla="val 8000"/>
            </a:avLst>
          </a:prstGeom>
          <a:solidFill>
            <a:srgbClr val="FFFFFF"/>
          </a:solidFill>
          <a:ln w="12700">
            <a:solidFill>
              <a:srgbClr val="4FC3F7"/>
            </a:solidFill>
            <a:prstDash val="solid"/>
          </a:ln>
        </p:spPr>
      </p:sp>
      <p:sp>
        <p:nvSpPr>
          <p:cNvPr id="25" name="Shape 23"/>
          <p:cNvSpPr/>
          <p:nvPr/>
        </p:nvSpPr>
        <p:spPr>
          <a:xfrm>
            <a:off x="8229600" y="2011680"/>
            <a:ext cx="64008" cy="914400"/>
          </a:xfrm>
          <a:prstGeom prst="rect">
            <a:avLst/>
          </a:prstGeom>
          <a:solidFill>
            <a:srgbClr val="4FC3F7"/>
          </a:solidFill>
          <a:ln w="12700">
            <a:solidFill>
              <a:srgbClr val="4FC3F7"/>
            </a:solidFill>
            <a:prstDash val="solid"/>
          </a:ln>
        </p:spPr>
      </p:sp>
      <p:sp>
        <p:nvSpPr>
          <p:cNvPr id="26" name="Text 24"/>
          <p:cNvSpPr/>
          <p:nvPr/>
        </p:nvSpPr>
        <p:spPr>
          <a:xfrm>
            <a:off x="8375904" y="2121408"/>
            <a:ext cx="2578608" cy="768096"/>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Arnau and Adam's KRs are blank. We fill them together in the next 15 minutes.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28600" y="594360"/>
            <a:ext cx="11704320" cy="1554480"/>
          </a:xfrm>
          <a:prstGeom prst="rect">
            <a:avLst/>
          </a:prstGeom>
          <a:noFill/>
          <a:ln/>
        </p:spPr>
        <p:txBody>
          <a:bodyPr wrap="square" lIns="0" tIns="0" rIns="0" bIns="0" rtlCol="0" anchor="ctr"/>
          <a:lstStyle/>
          <a:p>
            <a:pPr algn="ctr" indent="0" marL="0">
              <a:buNone/>
            </a:pPr>
            <a:r>
              <a:rPr lang="en-US" sz="9800" b="1" dirty="0">
                <a:solidFill>
                  <a:srgbClr val="4FC3F7">
                    <a:alpha val="20000"/>
                  </a:srgbClr>
                </a:solidFill>
                <a:latin typeface="Calibri" pitchFamily="34" charset="0"/>
                <a:ea typeface="Calibri" pitchFamily="34" charset="-122"/>
                <a:cs typeface="Calibri" pitchFamily="34" charset="-120"/>
              </a:rPr>
              <a:t>03</a:t>
            </a:r>
            <a:endParaRPr lang="en-US" sz="9800" dirty="0"/>
          </a:p>
        </p:txBody>
      </p:sp>
      <p:sp>
        <p:nvSpPr>
          <p:cNvPr id="3" name="Text 1"/>
          <p:cNvSpPr/>
          <p:nvPr/>
        </p:nvSpPr>
        <p:spPr>
          <a:xfrm>
            <a:off x="1097280" y="2697480"/>
            <a:ext cx="996696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How We Work Every Day</a:t>
            </a:r>
            <a:endParaRPr lang="en-US" sz="3000" dirty="0"/>
          </a:p>
        </p:txBody>
      </p:sp>
      <p:sp>
        <p:nvSpPr>
          <p:cNvPr id="4" name="Text 2"/>
          <p:cNvSpPr/>
          <p:nvPr/>
        </p:nvSpPr>
        <p:spPr>
          <a:xfrm>
            <a:off x="1463040" y="3291840"/>
            <a:ext cx="9235440" cy="256032"/>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The daily log, sprint cards, and streak system</a:t>
            </a:r>
            <a:endParaRPr lang="en-US" sz="1600" dirty="0"/>
          </a:p>
        </p:txBody>
      </p:sp>
      <p:sp>
        <p:nvSpPr>
          <p:cNvPr id="5" name="Shape 3"/>
          <p:cNvSpPr/>
          <p:nvPr/>
        </p:nvSpPr>
        <p:spPr>
          <a:xfrm>
            <a:off x="3657600" y="3886200"/>
            <a:ext cx="4846320" cy="0"/>
          </a:xfrm>
          <a:prstGeom prst="line">
            <a:avLst/>
          </a:prstGeom>
          <a:noFill/>
          <a:ln w="25400">
            <a:solidFill>
              <a:srgbClr val="4FC3F7"/>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5 minutes. Every day. No exceptions.</a:t>
            </a:r>
            <a:endParaRPr lang="en-US" sz="25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22960" y="1508760"/>
            <a:ext cx="310896" cy="310896"/>
          </a:xfrm>
          <a:prstGeom prst="rect">
            <a:avLst/>
          </a:prstGeom>
        </p:spPr>
      </p:pic>
      <p:sp>
        <p:nvSpPr>
          <p:cNvPr id="4" name="Text 1"/>
          <p:cNvSpPr/>
          <p:nvPr/>
        </p:nvSpPr>
        <p:spPr>
          <a:xfrm>
            <a:off x="1234440" y="1527048"/>
            <a:ext cx="2651760" cy="164592"/>
          </a:xfrm>
          <a:prstGeom prst="rect">
            <a:avLst/>
          </a:prstGeom>
          <a:noFill/>
          <a:ln/>
        </p:spPr>
        <p:txBody>
          <a:bodyPr wrap="square" lIns="0" tIns="0" rIns="0" bIns="0" rtlCol="0" anchor="t">
            <a:normAutofit/>
          </a:bodyPr>
          <a:lstStyle/>
          <a:p>
            <a:pPr algn="l" indent="0" marL="0">
              <a:buNone/>
            </a:pPr>
            <a:r>
              <a:rPr lang="en-US" sz="1220" b="1" dirty="0">
                <a:solidFill>
                  <a:srgbClr val="1E2761"/>
                </a:solidFill>
                <a:latin typeface="Calibri" pitchFamily="34" charset="0"/>
                <a:ea typeface="Calibri" pitchFamily="34" charset="-122"/>
                <a:cs typeface="Calibri" pitchFamily="34" charset="-120"/>
              </a:rPr>
              <a:t>Fill before closing Notion</a:t>
            </a:r>
            <a:endParaRPr lang="en-US" sz="1220" dirty="0"/>
          </a:p>
        </p:txBody>
      </p:sp>
      <p:sp>
        <p:nvSpPr>
          <p:cNvPr id="5" name="Text 2"/>
          <p:cNvSpPr/>
          <p:nvPr/>
        </p:nvSpPr>
        <p:spPr>
          <a:xfrm>
            <a:off x="1234440" y="1746504"/>
            <a:ext cx="3977640" cy="310896"/>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If you worked today, you log today. Missing a day resets your streak to zero.</a:t>
            </a:r>
            <a:endParaRPr lang="en-US" sz="104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560320"/>
            <a:ext cx="310896" cy="310896"/>
          </a:xfrm>
          <a:prstGeom prst="rect">
            <a:avLst/>
          </a:prstGeom>
        </p:spPr>
      </p:pic>
      <p:sp>
        <p:nvSpPr>
          <p:cNvPr id="7" name="Text 3"/>
          <p:cNvSpPr/>
          <p:nvPr/>
        </p:nvSpPr>
        <p:spPr>
          <a:xfrm>
            <a:off x="1234440" y="2578608"/>
            <a:ext cx="2651760" cy="164592"/>
          </a:xfrm>
          <a:prstGeom prst="rect">
            <a:avLst/>
          </a:prstGeom>
          <a:noFill/>
          <a:ln/>
        </p:spPr>
        <p:txBody>
          <a:bodyPr wrap="square" lIns="0" tIns="0" rIns="0" bIns="0" rtlCol="0" anchor="t">
            <a:normAutofit/>
          </a:bodyPr>
          <a:lstStyle/>
          <a:p>
            <a:pPr algn="l" indent="0" marL="0">
              <a:buNone/>
            </a:pPr>
            <a:r>
              <a:rPr lang="en-US" sz="1220" b="1" dirty="0">
                <a:solidFill>
                  <a:srgbClr val="1E2761"/>
                </a:solidFill>
                <a:latin typeface="Calibri" pitchFamily="34" charset="0"/>
                <a:ea typeface="Calibri" pitchFamily="34" charset="-122"/>
                <a:cs typeface="Calibri" pitchFamily="34" charset="-120"/>
              </a:rPr>
              <a:t>TOMORROW max 3 items</a:t>
            </a:r>
            <a:endParaRPr lang="en-US" sz="1220" dirty="0"/>
          </a:p>
        </p:txBody>
      </p:sp>
      <p:sp>
        <p:nvSpPr>
          <p:cNvPr id="8" name="Text 4"/>
          <p:cNvSpPr/>
          <p:nvPr/>
        </p:nvSpPr>
        <p:spPr>
          <a:xfrm>
            <a:off x="1234440" y="2798064"/>
            <a:ext cx="3977640" cy="310896"/>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Forces prioritization. If you have 10 things tomorrow, you do not have a plan — you have a list.</a:t>
            </a:r>
            <a:endParaRPr lang="en-US" sz="104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960" y="3611880"/>
            <a:ext cx="310896" cy="310896"/>
          </a:xfrm>
          <a:prstGeom prst="rect">
            <a:avLst/>
          </a:prstGeom>
        </p:spPr>
      </p:pic>
      <p:sp>
        <p:nvSpPr>
          <p:cNvPr id="10" name="Text 5"/>
          <p:cNvSpPr/>
          <p:nvPr/>
        </p:nvSpPr>
        <p:spPr>
          <a:xfrm>
            <a:off x="1234440" y="3630168"/>
            <a:ext cx="2651760" cy="164592"/>
          </a:xfrm>
          <a:prstGeom prst="rect">
            <a:avLst/>
          </a:prstGeom>
          <a:noFill/>
          <a:ln/>
        </p:spPr>
        <p:txBody>
          <a:bodyPr wrap="square" lIns="0" tIns="0" rIns="0" bIns="0" rtlCol="0" anchor="t">
            <a:normAutofit/>
          </a:bodyPr>
          <a:lstStyle/>
          <a:p>
            <a:pPr algn="l" indent="0" marL="0">
              <a:buNone/>
            </a:pPr>
            <a:r>
              <a:rPr lang="en-US" sz="1220" b="1" dirty="0">
                <a:solidFill>
                  <a:srgbClr val="1E2761"/>
                </a:solidFill>
                <a:latin typeface="Calibri" pitchFamily="34" charset="0"/>
                <a:ea typeface="Calibri" pitchFamily="34" charset="-122"/>
                <a:cs typeface="Calibri" pitchFamily="34" charset="-120"/>
              </a:rPr>
              <a:t>BLOCKERS must be visible</a:t>
            </a:r>
            <a:endParaRPr lang="en-US" sz="1220" dirty="0"/>
          </a:p>
        </p:txBody>
      </p:sp>
      <p:sp>
        <p:nvSpPr>
          <p:cNvPr id="11" name="Text 6"/>
          <p:cNvSpPr/>
          <p:nvPr/>
        </p:nvSpPr>
        <p:spPr>
          <a:xfrm>
            <a:off x="1234440" y="3849624"/>
            <a:ext cx="3977640" cy="310896"/>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If something is blocking you, the other two need to see it. That's the whole point of the system.</a:t>
            </a:r>
            <a:endParaRPr lang="en-US" sz="1040" dirty="0"/>
          </a:p>
        </p:txBody>
      </p:sp>
      <p:sp>
        <p:nvSpPr>
          <p:cNvPr id="12" name="Shape 7"/>
          <p:cNvSpPr/>
          <p:nvPr/>
        </p:nvSpPr>
        <p:spPr>
          <a:xfrm>
            <a:off x="6400800" y="1325880"/>
            <a:ext cx="5029200" cy="4526280"/>
          </a:xfrm>
          <a:prstGeom prst="roundRect">
            <a:avLst>
              <a:gd name="adj" fmla="val 1616"/>
            </a:avLst>
          </a:prstGeom>
          <a:solidFill>
            <a:srgbClr val="F3F6FA"/>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3" name="Shape 8"/>
          <p:cNvSpPr/>
          <p:nvPr/>
        </p:nvSpPr>
        <p:spPr>
          <a:xfrm>
            <a:off x="6400800" y="1325880"/>
            <a:ext cx="64008" cy="4526280"/>
          </a:xfrm>
          <a:prstGeom prst="rect">
            <a:avLst/>
          </a:prstGeom>
          <a:solidFill>
            <a:srgbClr val="4FC3F7"/>
          </a:solidFill>
          <a:ln w="12700">
            <a:solidFill>
              <a:srgbClr val="4FC3F7"/>
            </a:solidFill>
            <a:prstDash val="solid"/>
          </a:ln>
        </p:spPr>
      </p:sp>
      <p:sp>
        <p:nvSpPr>
          <p:cNvPr id="14" name="Text 9"/>
          <p:cNvSpPr/>
          <p:nvPr/>
        </p:nvSpPr>
        <p:spPr>
          <a:xfrm>
            <a:off x="6720840" y="1600200"/>
            <a:ext cx="2011680" cy="164592"/>
          </a:xfrm>
          <a:prstGeom prst="rect">
            <a:avLst/>
          </a:prstGeom>
          <a:noFill/>
          <a:ln/>
        </p:spPr>
        <p:txBody>
          <a:bodyPr wrap="square" lIns="0" tIns="0" rIns="0" bIns="0" rtlCol="0" anchor="t">
            <a:normAutofit/>
          </a:bodyPr>
          <a:lstStyle/>
          <a:p>
            <a:pPr algn="l" indent="0" marL="0">
              <a:buNone/>
            </a:pPr>
            <a:r>
              <a:rPr lang="en-US" sz="1100" b="1" dirty="0">
                <a:solidFill>
                  <a:srgbClr val="1E2761"/>
                </a:solidFill>
                <a:latin typeface="Calibri" pitchFamily="34" charset="0"/>
                <a:ea typeface="Calibri" pitchFamily="34" charset="-122"/>
                <a:cs typeface="Calibri" pitchFamily="34" charset="-120"/>
              </a:rPr>
              <a:t>2026-04-07  ·  Oriol</a:t>
            </a:r>
            <a:endParaRPr lang="en-US" sz="1100" dirty="0"/>
          </a:p>
        </p:txBody>
      </p:sp>
      <p:sp>
        <p:nvSpPr>
          <p:cNvPr id="15" name="Text 10"/>
          <p:cNvSpPr/>
          <p:nvPr/>
        </p:nvSpPr>
        <p:spPr>
          <a:xfrm>
            <a:off x="6720840" y="1828800"/>
            <a:ext cx="1097280" cy="128016"/>
          </a:xfrm>
          <a:prstGeom prst="rect">
            <a:avLst/>
          </a:prstGeom>
          <a:noFill/>
          <a:ln/>
        </p:spPr>
        <p:txBody>
          <a:bodyPr wrap="square" lIns="0" tIns="0" rIns="0" bIns="0" rtlCol="0" anchor="t">
            <a:normAutofit/>
          </a:bodyPr>
          <a:lstStyle/>
          <a:p>
            <a:pPr algn="l" indent="0" marL="0">
              <a:buNone/>
            </a:pPr>
            <a:r>
              <a:rPr lang="en-US" sz="970" dirty="0">
                <a:solidFill>
                  <a:srgbClr val="5A6E8C"/>
                </a:solidFill>
                <a:latin typeface="Calibri" pitchFamily="34" charset="0"/>
                <a:ea typeface="Calibri" pitchFamily="34" charset="-122"/>
                <a:cs typeface="Calibri" pitchFamily="34" charset="-120"/>
              </a:rPr>
              <a:t>Sprint: W15</a:t>
            </a:r>
            <a:endParaRPr lang="en-US" sz="970" dirty="0"/>
          </a:p>
        </p:txBody>
      </p:sp>
      <p:sp>
        <p:nvSpPr>
          <p:cNvPr id="16" name="Text 11"/>
          <p:cNvSpPr/>
          <p:nvPr/>
        </p:nvSpPr>
        <p:spPr>
          <a:xfrm>
            <a:off x="6720840" y="2194560"/>
            <a:ext cx="1005840" cy="146304"/>
          </a:xfrm>
          <a:prstGeom prst="rect">
            <a:avLst/>
          </a:prstGeom>
          <a:noFill/>
          <a:ln/>
        </p:spPr>
        <p:txBody>
          <a:bodyPr wrap="square" lIns="0" tIns="0" rIns="0" bIns="0" rtlCol="0" anchor="t">
            <a:normAutofit/>
          </a:bodyPr>
          <a:lstStyle/>
          <a:p>
            <a:pPr algn="l" indent="0" marL="0">
              <a:buNone/>
            </a:pPr>
            <a:r>
              <a:rPr lang="en-US" sz="1150" b="1" dirty="0">
                <a:solidFill>
                  <a:srgbClr val="69F0AE"/>
                </a:solidFill>
                <a:latin typeface="Calibri" pitchFamily="34" charset="0"/>
                <a:ea typeface="Calibri" pitchFamily="34" charset="-122"/>
                <a:cs typeface="Calibri" pitchFamily="34" charset="-120"/>
              </a:rPr>
              <a:t>DONE TODAY</a:t>
            </a:r>
            <a:endParaRPr lang="en-US" sz="1150" dirty="0"/>
          </a:p>
        </p:txBody>
      </p:sp>
      <p:sp>
        <p:nvSpPr>
          <p:cNvPr id="17" name="Text 12"/>
          <p:cNvSpPr/>
          <p:nvPr/>
        </p:nvSpPr>
        <p:spPr>
          <a:xfrm>
            <a:off x="6931152" y="2450592"/>
            <a:ext cx="4069080" cy="658368"/>
          </a:xfrm>
          <a:prstGeom prst="rect">
            <a:avLst/>
          </a:prstGeom>
          <a:noFill/>
          <a:ln/>
        </p:spPr>
        <p:txBody>
          <a:bodyPr wrap="square" lIns="0" tIns="0" rIns="0" bIns="0" rtlCol="0" anchor="t">
            <a:normAutofit/>
          </a:bodyPr>
          <a:lstStyle/>
          <a:p>
            <a:pPr algn="l" indent="0" marL="0">
              <a:buNone/>
            </a:pPr>
            <a:r>
              <a:rPr lang="en-US" sz="1040" dirty="0">
                <a:solidFill>
                  <a:srgbClr val="1E2761"/>
                </a:solidFill>
                <a:latin typeface="Calibri" pitchFamily="34" charset="0"/>
                <a:ea typeface="Calibri" pitchFamily="34" charset="-122"/>
                <a:cs typeface="Calibri" pitchFamily="34" charset="-120"/>
              </a:rPr>
              <a:t>· Pain point map finalized</a:t>
            </a:r>
            <a:endParaRPr lang="en-US" sz="1040" dirty="0"/>
          </a:p>
          <a:p>
            <a:pPr algn="l" indent="0" marL="0">
              <a:buNone/>
            </a:pPr>
            <a:r>
              <a:rPr lang="en-US" sz="1040" dirty="0">
                <a:solidFill>
                  <a:srgbClr val="1E2761"/>
                </a:solidFill>
                <a:latin typeface="Calibri" pitchFamily="34" charset="0"/>
                <a:ea typeface="Calibri" pitchFamily="34" charset="-122"/>
                <a:cs typeface="Calibri" pitchFamily="34" charset="-120"/>
              </a:rPr>
              <a:t>· Paver visit — outcome: qualified lead</a:t>
            </a:r>
            <a:endParaRPr lang="en-US" sz="1040" dirty="0"/>
          </a:p>
          <a:p>
            <a:pPr algn="l" indent="0" marL="0">
              <a:buNone/>
            </a:pPr>
            <a:r>
              <a:rPr lang="en-US" sz="1040" dirty="0">
                <a:solidFill>
                  <a:srgbClr val="1E2761"/>
                </a:solidFill>
                <a:latin typeface="Calibri" pitchFamily="34" charset="0"/>
                <a:ea typeface="Calibri" pitchFamily="34" charset="-122"/>
                <a:cs typeface="Calibri" pitchFamily="34" charset="-120"/>
              </a:rPr>
              <a:t>· Logged 2 decisions</a:t>
            </a:r>
            <a:endParaRPr lang="en-US" sz="1040" dirty="0"/>
          </a:p>
        </p:txBody>
      </p:sp>
      <p:sp>
        <p:nvSpPr>
          <p:cNvPr id="18" name="Text 13"/>
          <p:cNvSpPr/>
          <p:nvPr/>
        </p:nvSpPr>
        <p:spPr>
          <a:xfrm>
            <a:off x="6720840" y="3291840"/>
            <a:ext cx="914400" cy="146304"/>
          </a:xfrm>
          <a:prstGeom prst="rect">
            <a:avLst/>
          </a:prstGeom>
          <a:noFill/>
          <a:ln/>
        </p:spPr>
        <p:txBody>
          <a:bodyPr wrap="square" lIns="0" tIns="0" rIns="0" bIns="0" rtlCol="0" anchor="t">
            <a:normAutofit/>
          </a:bodyPr>
          <a:lstStyle/>
          <a:p>
            <a:pPr algn="l" indent="0" marL="0">
              <a:buNone/>
            </a:pPr>
            <a:r>
              <a:rPr lang="en-US" sz="1150" b="1" dirty="0">
                <a:solidFill>
                  <a:srgbClr val="4FC3F7"/>
                </a:solidFill>
                <a:latin typeface="Calibri" pitchFamily="34" charset="0"/>
                <a:ea typeface="Calibri" pitchFamily="34" charset="-122"/>
                <a:cs typeface="Calibri" pitchFamily="34" charset="-120"/>
              </a:rPr>
              <a:t>TOMORROW</a:t>
            </a:r>
            <a:endParaRPr lang="en-US" sz="1150" dirty="0"/>
          </a:p>
        </p:txBody>
      </p:sp>
      <p:sp>
        <p:nvSpPr>
          <p:cNvPr id="19" name="Text 14"/>
          <p:cNvSpPr/>
          <p:nvPr/>
        </p:nvSpPr>
        <p:spPr>
          <a:xfrm>
            <a:off x="6931152" y="3547872"/>
            <a:ext cx="3931920" cy="420624"/>
          </a:xfrm>
          <a:prstGeom prst="rect">
            <a:avLst/>
          </a:prstGeom>
          <a:noFill/>
          <a:ln/>
        </p:spPr>
        <p:txBody>
          <a:bodyPr wrap="square" lIns="0" tIns="0" rIns="0" bIns="0" rtlCol="0" anchor="t">
            <a:normAutofit/>
          </a:bodyPr>
          <a:lstStyle/>
          <a:p>
            <a:pPr algn="l" indent="0" marL="0">
              <a:buNone/>
            </a:pPr>
            <a:r>
              <a:rPr lang="en-US" sz="1040" dirty="0">
                <a:solidFill>
                  <a:srgbClr val="1E2761"/>
                </a:solidFill>
                <a:latin typeface="Calibri" pitchFamily="34" charset="0"/>
                <a:ea typeface="Calibri" pitchFamily="34" charset="-122"/>
                <a:cs typeface="Calibri" pitchFamily="34" charset="-120"/>
              </a:rPr>
              <a:t>· W15 sprint card with Arnau + Adam</a:t>
            </a:r>
            <a:endParaRPr lang="en-US" sz="1040" dirty="0"/>
          </a:p>
          <a:p>
            <a:pPr algn="l" indent="0" marL="0">
              <a:buNone/>
            </a:pPr>
            <a:r>
              <a:rPr lang="en-US" sz="1040" dirty="0">
                <a:solidFill>
                  <a:srgbClr val="1E2761"/>
                </a:solidFill>
                <a:latin typeface="Calibri" pitchFamily="34" charset="0"/>
                <a:ea typeface="Calibri" pitchFamily="34" charset="-122"/>
                <a:cs typeface="Calibri" pitchFamily="34" charset="-120"/>
              </a:rPr>
              <a:t>· Decfa demo prep check</a:t>
            </a:r>
            <a:endParaRPr lang="en-US" sz="1040" dirty="0"/>
          </a:p>
        </p:txBody>
      </p:sp>
      <p:sp>
        <p:nvSpPr>
          <p:cNvPr id="20" name="Text 15"/>
          <p:cNvSpPr/>
          <p:nvPr/>
        </p:nvSpPr>
        <p:spPr>
          <a:xfrm>
            <a:off x="6720840" y="4224528"/>
            <a:ext cx="914400" cy="146304"/>
          </a:xfrm>
          <a:prstGeom prst="rect">
            <a:avLst/>
          </a:prstGeom>
          <a:noFill/>
          <a:ln/>
        </p:spPr>
        <p:txBody>
          <a:bodyPr wrap="square" lIns="0" tIns="0" rIns="0" bIns="0" rtlCol="0" anchor="t">
            <a:normAutofit/>
          </a:bodyPr>
          <a:lstStyle/>
          <a:p>
            <a:pPr algn="l" indent="0" marL="0">
              <a:buNone/>
            </a:pPr>
            <a:r>
              <a:rPr lang="en-US" sz="1150" b="1" dirty="0">
                <a:solidFill>
                  <a:srgbClr val="F96167"/>
                </a:solidFill>
                <a:latin typeface="Calibri" pitchFamily="34" charset="0"/>
                <a:ea typeface="Calibri" pitchFamily="34" charset="-122"/>
                <a:cs typeface="Calibri" pitchFamily="34" charset="-120"/>
              </a:rPr>
              <a:t>BLOCKERS</a:t>
            </a:r>
            <a:endParaRPr lang="en-US" sz="1150" dirty="0"/>
          </a:p>
        </p:txBody>
      </p:sp>
      <p:sp>
        <p:nvSpPr>
          <p:cNvPr id="21" name="Text 16"/>
          <p:cNvSpPr/>
          <p:nvPr/>
        </p:nvSpPr>
        <p:spPr>
          <a:xfrm>
            <a:off x="6931152" y="4480560"/>
            <a:ext cx="3794760" cy="164592"/>
          </a:xfrm>
          <a:prstGeom prst="rect">
            <a:avLst/>
          </a:prstGeom>
          <a:noFill/>
          <a:ln/>
        </p:spPr>
        <p:txBody>
          <a:bodyPr wrap="square" lIns="0" tIns="0" rIns="0" bIns="0" rtlCol="0" anchor="t">
            <a:normAutofit/>
          </a:bodyPr>
          <a:lstStyle/>
          <a:p>
            <a:pPr algn="l" indent="0" marL="0">
              <a:buNone/>
            </a:pPr>
            <a:r>
              <a:rPr lang="en-US" sz="1040" dirty="0">
                <a:solidFill>
                  <a:srgbClr val="1E2761"/>
                </a:solidFill>
                <a:latin typeface="Calibri" pitchFamily="34" charset="0"/>
                <a:ea typeface="Calibri" pitchFamily="34" charset="-122"/>
                <a:cs typeface="Calibri" pitchFamily="34" charset="-120"/>
              </a:rPr>
              <a:t>· Need Arnau: Decfa corpus loaded by Thu?</a:t>
            </a:r>
            <a:endParaRPr lang="en-US" sz="1040" dirty="0"/>
          </a:p>
        </p:txBody>
      </p:sp>
      <p:sp>
        <p:nvSpPr>
          <p:cNvPr id="22" name="Text 17"/>
          <p:cNvSpPr/>
          <p:nvPr/>
        </p:nvSpPr>
        <p:spPr>
          <a:xfrm>
            <a:off x="6720840" y="4882896"/>
            <a:ext cx="114300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GOAL PROGRESS</a:t>
            </a:r>
            <a:endParaRPr lang="en-US" sz="1150" dirty="0"/>
          </a:p>
        </p:txBody>
      </p:sp>
      <p:sp>
        <p:nvSpPr>
          <p:cNvPr id="23" name="Text 18"/>
          <p:cNvSpPr/>
          <p:nvPr/>
        </p:nvSpPr>
        <p:spPr>
          <a:xfrm>
            <a:off x="6931152" y="5138928"/>
            <a:ext cx="3749040" cy="164592"/>
          </a:xfrm>
          <a:prstGeom prst="rect">
            <a:avLst/>
          </a:prstGeom>
          <a:noFill/>
          <a:ln/>
        </p:spPr>
        <p:txBody>
          <a:bodyPr wrap="square" lIns="0" tIns="0" rIns="0" bIns="0" rtlCol="0" anchor="t">
            <a:normAutofit/>
          </a:bodyPr>
          <a:lstStyle/>
          <a:p>
            <a:pPr algn="l" indent="0" marL="0">
              <a:buNone/>
            </a:pPr>
            <a:r>
              <a:rPr lang="en-US" sz="1040" dirty="0">
                <a:solidFill>
                  <a:srgbClr val="1E2761"/>
                </a:solidFill>
                <a:latin typeface="Calibri" pitchFamily="34" charset="0"/>
                <a:ea typeface="Calibri" pitchFamily="34" charset="-122"/>
                <a:cs typeface="Calibri" pitchFamily="34" charset="-120"/>
              </a:rPr>
              <a:t>· Notion OS  80% → 100%  ✓</a:t>
            </a:r>
            <a:endParaRPr lang="en-US" sz="10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The accountability layer</a:t>
            </a:r>
            <a:endParaRPr lang="en-US" sz="2500" dirty="0"/>
          </a:p>
        </p:txBody>
      </p:sp>
      <p:sp>
        <p:nvSpPr>
          <p:cNvPr id="3" name="Shape 1"/>
          <p:cNvSpPr/>
          <p:nvPr/>
        </p:nvSpPr>
        <p:spPr>
          <a:xfrm>
            <a:off x="822960" y="1417320"/>
            <a:ext cx="5257800" cy="4389120"/>
          </a:xfrm>
          <a:prstGeom prst="roundRect">
            <a:avLst>
              <a:gd name="adj" fmla="val 1667"/>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4" name="Shape 2"/>
          <p:cNvSpPr/>
          <p:nvPr/>
        </p:nvSpPr>
        <p:spPr>
          <a:xfrm>
            <a:off x="822960" y="1417320"/>
            <a:ext cx="64008" cy="4389120"/>
          </a:xfrm>
          <a:prstGeom prst="rect">
            <a:avLst/>
          </a:prstGeom>
          <a:solidFill>
            <a:srgbClr val="4FC3F7"/>
          </a:solidFill>
          <a:ln w="12700">
            <a:solidFill>
              <a:srgbClr val="4FC3F7"/>
            </a:solidFill>
            <a:prstDash val="solid"/>
          </a:ln>
        </p:spPr>
      </p:sp>
      <p:sp>
        <p:nvSpPr>
          <p:cNvPr id="5" name="Text 3"/>
          <p:cNvSpPr/>
          <p:nvPr/>
        </p:nvSpPr>
        <p:spPr>
          <a:xfrm>
            <a:off x="1115568" y="1682496"/>
            <a:ext cx="2011680" cy="164592"/>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W15 — Apr 7–13 · Arnau</a:t>
            </a:r>
            <a:endParaRPr lang="en-US" sz="1150" dirty="0"/>
          </a:p>
        </p:txBody>
      </p:sp>
      <p:sp>
        <p:nvSpPr>
          <p:cNvPr id="6" name="Text 4"/>
          <p:cNvSpPr/>
          <p:nvPr/>
        </p:nvSpPr>
        <p:spPr>
          <a:xfrm>
            <a:off x="1143000" y="2148840"/>
            <a:ext cx="2011680" cy="128016"/>
          </a:xfrm>
          <a:prstGeom prst="rect">
            <a:avLst/>
          </a:prstGeom>
          <a:noFill/>
          <a:ln/>
        </p:spPr>
        <p:txBody>
          <a:bodyPr wrap="square" lIns="0" tIns="0" rIns="0" bIns="0" rtlCol="0" anchor="t">
            <a:normAutofit/>
          </a:bodyPr>
          <a:lstStyle/>
          <a:p>
            <a:pPr algn="l" indent="0" marL="0">
              <a:buNone/>
            </a:pPr>
            <a:r>
              <a:rPr lang="en-US" sz="1000" b="1" dirty="0">
                <a:solidFill>
                  <a:srgbClr val="5A6E8C"/>
                </a:solidFill>
                <a:latin typeface="Calibri" pitchFamily="34" charset="0"/>
                <a:ea typeface="Calibri" pitchFamily="34" charset="-122"/>
                <a:cs typeface="Calibri" pitchFamily="34" charset="-120"/>
              </a:rPr>
              <a:t>Goal</a:t>
            </a:r>
            <a:endParaRPr lang="en-US" sz="1000" dirty="0"/>
          </a:p>
        </p:txBody>
      </p:sp>
      <p:sp>
        <p:nvSpPr>
          <p:cNvPr id="7" name="Text 5"/>
          <p:cNvSpPr/>
          <p:nvPr/>
        </p:nvSpPr>
        <p:spPr>
          <a:xfrm>
            <a:off x="4206240" y="2148840"/>
            <a:ext cx="274320" cy="128016"/>
          </a:xfrm>
          <a:prstGeom prst="rect">
            <a:avLst/>
          </a:prstGeom>
          <a:noFill/>
          <a:ln/>
        </p:spPr>
        <p:txBody>
          <a:bodyPr wrap="square" lIns="0" tIns="0" rIns="0" bIns="0" rtlCol="0" anchor="t">
            <a:normAutofit/>
          </a:bodyPr>
          <a:lstStyle/>
          <a:p>
            <a:pPr algn="ctr" indent="0" marL="0">
              <a:buNone/>
            </a:pPr>
            <a:r>
              <a:rPr lang="en-US" sz="1000" b="1" dirty="0">
                <a:solidFill>
                  <a:srgbClr val="5A6E8C"/>
                </a:solidFill>
                <a:latin typeface="Calibri" pitchFamily="34" charset="0"/>
                <a:ea typeface="Calibri" pitchFamily="34" charset="-122"/>
                <a:cs typeface="Calibri" pitchFamily="34" charset="-120"/>
              </a:rPr>
              <a:t>%</a:t>
            </a:r>
            <a:endParaRPr lang="en-US" sz="1000" dirty="0"/>
          </a:p>
        </p:txBody>
      </p:sp>
      <p:sp>
        <p:nvSpPr>
          <p:cNvPr id="8" name="Text 6"/>
          <p:cNvSpPr/>
          <p:nvPr/>
        </p:nvSpPr>
        <p:spPr>
          <a:xfrm>
            <a:off x="4754880" y="2148840"/>
            <a:ext cx="731520" cy="128016"/>
          </a:xfrm>
          <a:prstGeom prst="rect">
            <a:avLst/>
          </a:prstGeom>
          <a:noFill/>
          <a:ln/>
        </p:spPr>
        <p:txBody>
          <a:bodyPr wrap="square" lIns="0" tIns="0" rIns="0" bIns="0" rtlCol="0" anchor="t">
            <a:normAutofit/>
          </a:bodyPr>
          <a:lstStyle/>
          <a:p>
            <a:pPr algn="l" indent="0" marL="0">
              <a:buNone/>
            </a:pPr>
            <a:r>
              <a:rPr lang="en-US" sz="1000" b="1" dirty="0">
                <a:solidFill>
                  <a:srgbClr val="5A6E8C"/>
                </a:solidFill>
                <a:latin typeface="Calibri" pitchFamily="34" charset="0"/>
                <a:ea typeface="Calibri" pitchFamily="34" charset="-122"/>
                <a:cs typeface="Calibri" pitchFamily="34" charset="-120"/>
              </a:rPr>
              <a:t>Status</a:t>
            </a:r>
            <a:endParaRPr lang="en-US" sz="1000" dirty="0"/>
          </a:p>
        </p:txBody>
      </p:sp>
      <p:sp>
        <p:nvSpPr>
          <p:cNvPr id="9" name="Text 7"/>
          <p:cNvSpPr/>
          <p:nvPr/>
        </p:nvSpPr>
        <p:spPr>
          <a:xfrm>
            <a:off x="1143000" y="2450592"/>
            <a:ext cx="269748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RAG running on Decfa</a:t>
            </a:r>
            <a:endParaRPr lang="en-US" sz="1080" dirty="0"/>
          </a:p>
        </p:txBody>
      </p:sp>
      <p:sp>
        <p:nvSpPr>
          <p:cNvPr id="10" name="Text 8"/>
          <p:cNvSpPr/>
          <p:nvPr/>
        </p:nvSpPr>
        <p:spPr>
          <a:xfrm>
            <a:off x="4160520" y="2450592"/>
            <a:ext cx="320040" cy="146304"/>
          </a:xfrm>
          <a:prstGeom prst="rect">
            <a:avLst/>
          </a:prstGeom>
          <a:noFill/>
          <a:ln/>
        </p:spPr>
        <p:txBody>
          <a:bodyPr wrap="square" lIns="0" tIns="0" rIns="0" bIns="0" rtlCol="0" anchor="t">
            <a:normAutofit/>
          </a:bodyPr>
          <a:lstStyle/>
          <a:p>
            <a:pPr algn="ctr" indent="0" marL="0">
              <a:buNone/>
            </a:pPr>
            <a:r>
              <a:rPr lang="en-US" sz="1080" dirty="0">
                <a:solidFill>
                  <a:srgbClr val="1E2761"/>
                </a:solidFill>
                <a:latin typeface="Calibri" pitchFamily="34" charset="0"/>
                <a:ea typeface="Calibri" pitchFamily="34" charset="-122"/>
                <a:cs typeface="Calibri" pitchFamily="34" charset="-120"/>
              </a:rPr>
              <a:t>0%</a:t>
            </a:r>
            <a:endParaRPr lang="en-US" sz="1080" dirty="0"/>
          </a:p>
        </p:txBody>
      </p:sp>
      <p:sp>
        <p:nvSpPr>
          <p:cNvPr id="11" name="Shape 9"/>
          <p:cNvSpPr/>
          <p:nvPr/>
        </p:nvSpPr>
        <p:spPr>
          <a:xfrm>
            <a:off x="4617720" y="2478024"/>
            <a:ext cx="658368" cy="64008"/>
          </a:xfrm>
          <a:prstGeom prst="roundRect">
            <a:avLst/>
          </a:prstGeom>
          <a:solidFill>
            <a:srgbClr val="E2EAF4"/>
          </a:solidFill>
          <a:ln w="12700">
            <a:solidFill>
              <a:srgbClr val="E2EAF4"/>
            </a:solidFill>
            <a:prstDash val="solid"/>
          </a:ln>
        </p:spPr>
      </p:sp>
      <p:sp>
        <p:nvSpPr>
          <p:cNvPr id="12" name="Shape 10"/>
          <p:cNvSpPr/>
          <p:nvPr/>
        </p:nvSpPr>
        <p:spPr>
          <a:xfrm>
            <a:off x="4617720" y="2478024"/>
            <a:ext cx="73152" cy="64008"/>
          </a:xfrm>
          <a:prstGeom prst="roundRect">
            <a:avLst/>
          </a:prstGeom>
          <a:solidFill>
            <a:srgbClr val="F96167"/>
          </a:solidFill>
          <a:ln w="12700">
            <a:solidFill>
              <a:srgbClr val="F96167"/>
            </a:solidFill>
            <a:prstDash val="solid"/>
          </a:ln>
        </p:spPr>
      </p:sp>
      <p:sp>
        <p:nvSpPr>
          <p:cNvPr id="13" name="Text 11"/>
          <p:cNvSpPr/>
          <p:nvPr/>
        </p:nvSpPr>
        <p:spPr>
          <a:xfrm>
            <a:off x="5376672" y="2441448"/>
            <a:ext cx="594360" cy="146304"/>
          </a:xfrm>
          <a:prstGeom prst="rect">
            <a:avLst/>
          </a:prstGeom>
          <a:noFill/>
          <a:ln/>
        </p:spPr>
        <p:txBody>
          <a:bodyPr wrap="square" lIns="0" tIns="0" rIns="0" bIns="0" rtlCol="0" anchor="t">
            <a:normAutofit/>
          </a:bodyPr>
          <a:lstStyle/>
          <a:p>
            <a:pPr algn="l" indent="0" marL="0">
              <a:buNone/>
            </a:pPr>
            <a:r>
              <a:rPr lang="en-US" sz="1020" dirty="0">
                <a:solidFill>
                  <a:srgbClr val="F96167"/>
                </a:solidFill>
                <a:latin typeface="Calibri" pitchFamily="34" charset="0"/>
                <a:ea typeface="Calibri" pitchFamily="34" charset="-122"/>
                <a:cs typeface="Calibri" pitchFamily="34" charset="-120"/>
              </a:rPr>
              <a:t>● Not started</a:t>
            </a:r>
            <a:endParaRPr lang="en-US" sz="1020" dirty="0"/>
          </a:p>
        </p:txBody>
      </p:sp>
      <p:sp>
        <p:nvSpPr>
          <p:cNvPr id="14" name="Text 12"/>
          <p:cNvSpPr/>
          <p:nvPr/>
        </p:nvSpPr>
        <p:spPr>
          <a:xfrm>
            <a:off x="1143000" y="3200400"/>
            <a:ext cx="269748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Network topology</a:t>
            </a:r>
            <a:endParaRPr lang="en-US" sz="1080" dirty="0"/>
          </a:p>
        </p:txBody>
      </p:sp>
      <p:sp>
        <p:nvSpPr>
          <p:cNvPr id="15" name="Text 13"/>
          <p:cNvSpPr/>
          <p:nvPr/>
        </p:nvSpPr>
        <p:spPr>
          <a:xfrm>
            <a:off x="4160520" y="3200400"/>
            <a:ext cx="320040" cy="146304"/>
          </a:xfrm>
          <a:prstGeom prst="rect">
            <a:avLst/>
          </a:prstGeom>
          <a:noFill/>
          <a:ln/>
        </p:spPr>
        <p:txBody>
          <a:bodyPr wrap="square" lIns="0" tIns="0" rIns="0" bIns="0" rtlCol="0" anchor="t">
            <a:normAutofit/>
          </a:bodyPr>
          <a:lstStyle/>
          <a:p>
            <a:pPr algn="ctr" indent="0" marL="0">
              <a:buNone/>
            </a:pPr>
            <a:r>
              <a:rPr lang="en-US" sz="1080" dirty="0">
                <a:solidFill>
                  <a:srgbClr val="1E2761"/>
                </a:solidFill>
                <a:latin typeface="Calibri" pitchFamily="34" charset="0"/>
                <a:ea typeface="Calibri" pitchFamily="34" charset="-122"/>
                <a:cs typeface="Calibri" pitchFamily="34" charset="-120"/>
              </a:rPr>
              <a:t>100%</a:t>
            </a:r>
            <a:endParaRPr lang="en-US" sz="1080" dirty="0"/>
          </a:p>
        </p:txBody>
      </p:sp>
      <p:sp>
        <p:nvSpPr>
          <p:cNvPr id="16" name="Shape 14"/>
          <p:cNvSpPr/>
          <p:nvPr/>
        </p:nvSpPr>
        <p:spPr>
          <a:xfrm>
            <a:off x="4617720" y="3227832"/>
            <a:ext cx="658368" cy="64008"/>
          </a:xfrm>
          <a:prstGeom prst="roundRect">
            <a:avLst/>
          </a:prstGeom>
          <a:solidFill>
            <a:srgbClr val="E2EAF4"/>
          </a:solidFill>
          <a:ln w="12700">
            <a:solidFill>
              <a:srgbClr val="E2EAF4"/>
            </a:solidFill>
            <a:prstDash val="solid"/>
          </a:ln>
        </p:spPr>
      </p:sp>
      <p:sp>
        <p:nvSpPr>
          <p:cNvPr id="17" name="Shape 15"/>
          <p:cNvSpPr/>
          <p:nvPr/>
        </p:nvSpPr>
        <p:spPr>
          <a:xfrm>
            <a:off x="4617720" y="3227832"/>
            <a:ext cx="658368" cy="64008"/>
          </a:xfrm>
          <a:prstGeom prst="roundRect">
            <a:avLst/>
          </a:prstGeom>
          <a:solidFill>
            <a:srgbClr val="69F0AE"/>
          </a:solidFill>
          <a:ln w="12700">
            <a:solidFill>
              <a:srgbClr val="69F0AE"/>
            </a:solidFill>
            <a:prstDash val="solid"/>
          </a:ln>
        </p:spPr>
      </p:sp>
      <p:sp>
        <p:nvSpPr>
          <p:cNvPr id="18" name="Text 16"/>
          <p:cNvSpPr/>
          <p:nvPr/>
        </p:nvSpPr>
        <p:spPr>
          <a:xfrm>
            <a:off x="5376672" y="3191256"/>
            <a:ext cx="594360" cy="146304"/>
          </a:xfrm>
          <a:prstGeom prst="rect">
            <a:avLst/>
          </a:prstGeom>
          <a:noFill/>
          <a:ln/>
        </p:spPr>
        <p:txBody>
          <a:bodyPr wrap="square" lIns="0" tIns="0" rIns="0" bIns="0" rtlCol="0" anchor="t">
            <a:normAutofit/>
          </a:bodyPr>
          <a:lstStyle/>
          <a:p>
            <a:pPr algn="l" indent="0" marL="0">
              <a:buNone/>
            </a:pPr>
            <a:r>
              <a:rPr lang="en-US" sz="1020" dirty="0">
                <a:solidFill>
                  <a:srgbClr val="69F0AE"/>
                </a:solidFill>
                <a:latin typeface="Calibri" pitchFamily="34" charset="0"/>
                <a:ea typeface="Calibri" pitchFamily="34" charset="-122"/>
                <a:cs typeface="Calibri" pitchFamily="34" charset="-120"/>
              </a:rPr>
              <a:t>✓ Done</a:t>
            </a:r>
            <a:endParaRPr lang="en-US" sz="1020" dirty="0"/>
          </a:p>
        </p:txBody>
      </p:sp>
      <p:sp>
        <p:nvSpPr>
          <p:cNvPr id="19" name="Text 17"/>
          <p:cNvSpPr/>
          <p:nvPr/>
        </p:nvSpPr>
        <p:spPr>
          <a:xfrm>
            <a:off x="1143000" y="3950208"/>
            <a:ext cx="269748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Latency benchmark &lt; 3s</a:t>
            </a:r>
            <a:endParaRPr lang="en-US" sz="1080" dirty="0"/>
          </a:p>
        </p:txBody>
      </p:sp>
      <p:sp>
        <p:nvSpPr>
          <p:cNvPr id="20" name="Text 18"/>
          <p:cNvSpPr/>
          <p:nvPr/>
        </p:nvSpPr>
        <p:spPr>
          <a:xfrm>
            <a:off x="4160520" y="3950208"/>
            <a:ext cx="320040" cy="146304"/>
          </a:xfrm>
          <a:prstGeom prst="rect">
            <a:avLst/>
          </a:prstGeom>
          <a:noFill/>
          <a:ln/>
        </p:spPr>
        <p:txBody>
          <a:bodyPr wrap="square" lIns="0" tIns="0" rIns="0" bIns="0" rtlCol="0" anchor="t">
            <a:normAutofit/>
          </a:bodyPr>
          <a:lstStyle/>
          <a:p>
            <a:pPr algn="ctr" indent="0" marL="0">
              <a:buNone/>
            </a:pPr>
            <a:r>
              <a:rPr lang="en-US" sz="1080" dirty="0">
                <a:solidFill>
                  <a:srgbClr val="1E2761"/>
                </a:solidFill>
                <a:latin typeface="Calibri" pitchFamily="34" charset="0"/>
                <a:ea typeface="Calibri" pitchFamily="34" charset="-122"/>
                <a:cs typeface="Calibri" pitchFamily="34" charset="-120"/>
              </a:rPr>
              <a:t>0%</a:t>
            </a:r>
            <a:endParaRPr lang="en-US" sz="1080" dirty="0"/>
          </a:p>
        </p:txBody>
      </p:sp>
      <p:sp>
        <p:nvSpPr>
          <p:cNvPr id="21" name="Shape 19"/>
          <p:cNvSpPr/>
          <p:nvPr/>
        </p:nvSpPr>
        <p:spPr>
          <a:xfrm>
            <a:off x="4617720" y="3977640"/>
            <a:ext cx="658368" cy="64008"/>
          </a:xfrm>
          <a:prstGeom prst="roundRect">
            <a:avLst/>
          </a:prstGeom>
          <a:solidFill>
            <a:srgbClr val="E2EAF4"/>
          </a:solidFill>
          <a:ln w="12700">
            <a:solidFill>
              <a:srgbClr val="E2EAF4"/>
            </a:solidFill>
            <a:prstDash val="solid"/>
          </a:ln>
        </p:spPr>
      </p:sp>
      <p:sp>
        <p:nvSpPr>
          <p:cNvPr id="22" name="Shape 20"/>
          <p:cNvSpPr/>
          <p:nvPr/>
        </p:nvSpPr>
        <p:spPr>
          <a:xfrm>
            <a:off x="4617720" y="3977640"/>
            <a:ext cx="73152" cy="64008"/>
          </a:xfrm>
          <a:prstGeom prst="roundRect">
            <a:avLst/>
          </a:prstGeom>
          <a:solidFill>
            <a:srgbClr val="F96167"/>
          </a:solidFill>
          <a:ln w="12700">
            <a:solidFill>
              <a:srgbClr val="F96167"/>
            </a:solidFill>
            <a:prstDash val="solid"/>
          </a:ln>
        </p:spPr>
      </p:sp>
      <p:sp>
        <p:nvSpPr>
          <p:cNvPr id="23" name="Text 21"/>
          <p:cNvSpPr/>
          <p:nvPr/>
        </p:nvSpPr>
        <p:spPr>
          <a:xfrm>
            <a:off x="5376672" y="3941064"/>
            <a:ext cx="594360" cy="146304"/>
          </a:xfrm>
          <a:prstGeom prst="rect">
            <a:avLst/>
          </a:prstGeom>
          <a:noFill/>
          <a:ln/>
        </p:spPr>
        <p:txBody>
          <a:bodyPr wrap="square" lIns="0" tIns="0" rIns="0" bIns="0" rtlCol="0" anchor="t">
            <a:normAutofit/>
          </a:bodyPr>
          <a:lstStyle/>
          <a:p>
            <a:pPr algn="l" indent="0" marL="0">
              <a:buNone/>
            </a:pPr>
            <a:r>
              <a:rPr lang="en-US" sz="1020" dirty="0">
                <a:solidFill>
                  <a:srgbClr val="F96167"/>
                </a:solidFill>
                <a:latin typeface="Calibri" pitchFamily="34" charset="0"/>
                <a:ea typeface="Calibri" pitchFamily="34" charset="-122"/>
                <a:cs typeface="Calibri" pitchFamily="34" charset="-120"/>
              </a:rPr>
              <a:t>● Not started</a:t>
            </a:r>
            <a:endParaRPr lang="en-US" sz="1020" dirty="0"/>
          </a:p>
        </p:txBody>
      </p:sp>
      <p:sp>
        <p:nvSpPr>
          <p:cNvPr id="24" name="Text 22"/>
          <p:cNvSpPr/>
          <p:nvPr/>
        </p:nvSpPr>
        <p:spPr>
          <a:xfrm>
            <a:off x="1143000" y="5074920"/>
            <a:ext cx="3200400" cy="146304"/>
          </a:xfrm>
          <a:prstGeom prst="rect">
            <a:avLst/>
          </a:prstGeom>
          <a:noFill/>
          <a:ln/>
        </p:spPr>
        <p:txBody>
          <a:bodyPr wrap="square" lIns="0" tIns="0" rIns="0" bIns="0" rtlCol="0" anchor="t">
            <a:normAutofit/>
          </a:bodyPr>
          <a:lstStyle/>
          <a:p>
            <a:pPr algn="l" indent="0" marL="0">
              <a:buNone/>
            </a:pPr>
            <a:r>
              <a:rPr lang="en-US" sz="1050" dirty="0">
                <a:solidFill>
                  <a:srgbClr val="5A6E8C"/>
                </a:solidFill>
                <a:latin typeface="Calibri" pitchFamily="34" charset="0"/>
                <a:ea typeface="Calibri" pitchFamily="34" charset="-122"/>
                <a:cs typeface="Calibri" pitchFamily="34" charset="-120"/>
              </a:rPr>
              <a:t>Week outcome (filled Friday EOD): _______</a:t>
            </a:r>
            <a:endParaRPr lang="en-US" sz="1050" dirty="0"/>
          </a:p>
        </p:txBody>
      </p:sp>
      <p:sp>
        <p:nvSpPr>
          <p:cNvPr id="25" name="Shape 23"/>
          <p:cNvSpPr/>
          <p:nvPr/>
        </p:nvSpPr>
        <p:spPr>
          <a:xfrm>
            <a:off x="6355080" y="1417320"/>
            <a:ext cx="4937760" cy="4389120"/>
          </a:xfrm>
          <a:prstGeom prst="roundRect">
            <a:avLst>
              <a:gd name="adj" fmla="val 1667"/>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26" name="Shape 24"/>
          <p:cNvSpPr/>
          <p:nvPr/>
        </p:nvSpPr>
        <p:spPr>
          <a:xfrm>
            <a:off x="6355080" y="1417320"/>
            <a:ext cx="64008" cy="4389120"/>
          </a:xfrm>
          <a:prstGeom prst="rect">
            <a:avLst/>
          </a:prstGeom>
          <a:solidFill>
            <a:srgbClr val="4FC3F7"/>
          </a:solidFill>
          <a:ln w="12700">
            <a:solidFill>
              <a:srgbClr val="4FC3F7"/>
            </a:solidFill>
            <a:prstDash val="solid"/>
          </a:ln>
        </p:spPr>
      </p:sp>
      <p:sp>
        <p:nvSpPr>
          <p:cNvPr id="27" name="Text 25"/>
          <p:cNvSpPr/>
          <p:nvPr/>
        </p:nvSpPr>
        <p:spPr>
          <a:xfrm>
            <a:off x="6656832" y="1682496"/>
            <a:ext cx="1554480" cy="164592"/>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Daily log streaks</a:t>
            </a:r>
            <a:endParaRPr lang="en-US" sz="1150" dirty="0"/>
          </a:p>
        </p:txBody>
      </p:sp>
      <p:sp>
        <p:nvSpPr>
          <p:cNvPr id="28" name="Text 26"/>
          <p:cNvSpPr/>
          <p:nvPr/>
        </p:nvSpPr>
        <p:spPr>
          <a:xfrm>
            <a:off x="6656832" y="2331720"/>
            <a:ext cx="822960" cy="14630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Oriol</a:t>
            </a:r>
            <a:endParaRPr lang="en-US" sz="1100" dirty="0"/>
          </a:p>
        </p:txBody>
      </p:sp>
      <p:sp>
        <p:nvSpPr>
          <p:cNvPr id="29" name="Text 27"/>
          <p:cNvSpPr/>
          <p:nvPr/>
        </p:nvSpPr>
        <p:spPr>
          <a:xfrm>
            <a:off x="7635240" y="2304288"/>
            <a:ext cx="228600" cy="14630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7882128" y="2331720"/>
            <a:ext cx="685800" cy="14630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0 days</a:t>
            </a:r>
            <a:endParaRPr lang="en-US" sz="1100" dirty="0"/>
          </a:p>
        </p:txBody>
      </p:sp>
      <p:sp>
        <p:nvSpPr>
          <p:cNvPr id="31" name="Text 29"/>
          <p:cNvSpPr/>
          <p:nvPr/>
        </p:nvSpPr>
        <p:spPr>
          <a:xfrm>
            <a:off x="8823960" y="2331720"/>
            <a:ext cx="731520" cy="146304"/>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Best: 0</a:t>
            </a:r>
            <a:endParaRPr lang="en-US" sz="1040" dirty="0"/>
          </a:p>
        </p:txBody>
      </p:sp>
      <p:sp>
        <p:nvSpPr>
          <p:cNvPr id="32" name="Text 30"/>
          <p:cNvSpPr/>
          <p:nvPr/>
        </p:nvSpPr>
        <p:spPr>
          <a:xfrm>
            <a:off x="6656832" y="3044952"/>
            <a:ext cx="822960" cy="14630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Arnau</a:t>
            </a:r>
            <a:endParaRPr lang="en-US" sz="1100" dirty="0"/>
          </a:p>
        </p:txBody>
      </p:sp>
      <p:sp>
        <p:nvSpPr>
          <p:cNvPr id="33" name="Text 31"/>
          <p:cNvSpPr/>
          <p:nvPr/>
        </p:nvSpPr>
        <p:spPr>
          <a:xfrm>
            <a:off x="7635240" y="3017520"/>
            <a:ext cx="228600" cy="14630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a:t>
            </a:r>
            <a:endParaRPr lang="en-US" sz="1100" dirty="0"/>
          </a:p>
        </p:txBody>
      </p:sp>
      <p:sp>
        <p:nvSpPr>
          <p:cNvPr id="34" name="Text 32"/>
          <p:cNvSpPr/>
          <p:nvPr/>
        </p:nvSpPr>
        <p:spPr>
          <a:xfrm>
            <a:off x="7882128" y="3044952"/>
            <a:ext cx="685800" cy="14630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0 days</a:t>
            </a:r>
            <a:endParaRPr lang="en-US" sz="1100" dirty="0"/>
          </a:p>
        </p:txBody>
      </p:sp>
      <p:sp>
        <p:nvSpPr>
          <p:cNvPr id="35" name="Text 33"/>
          <p:cNvSpPr/>
          <p:nvPr/>
        </p:nvSpPr>
        <p:spPr>
          <a:xfrm>
            <a:off x="8823960" y="3044952"/>
            <a:ext cx="731520" cy="146304"/>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Best: 0</a:t>
            </a:r>
            <a:endParaRPr lang="en-US" sz="1040" dirty="0"/>
          </a:p>
        </p:txBody>
      </p:sp>
      <p:sp>
        <p:nvSpPr>
          <p:cNvPr id="36" name="Text 34"/>
          <p:cNvSpPr/>
          <p:nvPr/>
        </p:nvSpPr>
        <p:spPr>
          <a:xfrm>
            <a:off x="6656832" y="3758184"/>
            <a:ext cx="822960" cy="14630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Adam</a:t>
            </a:r>
            <a:endParaRPr lang="en-US" sz="1100" dirty="0"/>
          </a:p>
        </p:txBody>
      </p:sp>
      <p:sp>
        <p:nvSpPr>
          <p:cNvPr id="37" name="Text 35"/>
          <p:cNvSpPr/>
          <p:nvPr/>
        </p:nvSpPr>
        <p:spPr>
          <a:xfrm>
            <a:off x="7635240" y="3730752"/>
            <a:ext cx="228600" cy="14630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a:t>
            </a:r>
            <a:endParaRPr lang="en-US" sz="1100" dirty="0"/>
          </a:p>
        </p:txBody>
      </p:sp>
      <p:sp>
        <p:nvSpPr>
          <p:cNvPr id="38" name="Text 36"/>
          <p:cNvSpPr/>
          <p:nvPr/>
        </p:nvSpPr>
        <p:spPr>
          <a:xfrm>
            <a:off x="7882128" y="3758184"/>
            <a:ext cx="685800" cy="14630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0 days</a:t>
            </a:r>
            <a:endParaRPr lang="en-US" sz="1100" dirty="0"/>
          </a:p>
        </p:txBody>
      </p:sp>
      <p:sp>
        <p:nvSpPr>
          <p:cNvPr id="39" name="Text 37"/>
          <p:cNvSpPr/>
          <p:nvPr/>
        </p:nvSpPr>
        <p:spPr>
          <a:xfrm>
            <a:off x="8823960" y="3758184"/>
            <a:ext cx="731520" cy="146304"/>
          </a:xfrm>
          <a:prstGeom prst="rect">
            <a:avLst/>
          </a:prstGeom>
          <a:noFill/>
          <a:ln/>
        </p:spPr>
        <p:txBody>
          <a:bodyPr wrap="square" lIns="0" tIns="0" rIns="0" bIns="0" rtlCol="0" anchor="t">
            <a:normAutofit/>
          </a:bodyPr>
          <a:lstStyle/>
          <a:p>
            <a:pPr algn="l" indent="0" marL="0">
              <a:buNone/>
            </a:pPr>
            <a:r>
              <a:rPr lang="en-US" sz="1040" dirty="0">
                <a:solidFill>
                  <a:srgbClr val="5A6E8C"/>
                </a:solidFill>
                <a:latin typeface="Calibri" pitchFamily="34" charset="0"/>
                <a:ea typeface="Calibri" pitchFamily="34" charset="-122"/>
                <a:cs typeface="Calibri" pitchFamily="34" charset="-120"/>
              </a:rPr>
              <a:t>Best: 0</a:t>
            </a:r>
            <a:endParaRPr lang="en-US" sz="1040" dirty="0"/>
          </a:p>
        </p:txBody>
      </p:sp>
      <p:sp>
        <p:nvSpPr>
          <p:cNvPr id="40" name="Text 38"/>
          <p:cNvSpPr/>
          <p:nvPr/>
        </p:nvSpPr>
        <p:spPr>
          <a:xfrm>
            <a:off x="6656832" y="4663440"/>
            <a:ext cx="4206240" cy="420624"/>
          </a:xfrm>
          <a:prstGeom prst="rect">
            <a:avLst/>
          </a:prstGeom>
          <a:noFill/>
          <a:ln/>
        </p:spPr>
        <p:txBody>
          <a:bodyPr wrap="square" lIns="0" tIns="0" rIns="0" bIns="0" rtlCol="0" anchor="t">
            <a:normAutofit/>
          </a:bodyPr>
          <a:lstStyle/>
          <a:p>
            <a:pPr algn="l" indent="0" marL="0">
              <a:buNone/>
            </a:pPr>
            <a:r>
              <a:rPr lang="en-US" sz="990" dirty="0">
                <a:solidFill>
                  <a:srgbClr val="5A6E8C"/>
                </a:solidFill>
                <a:latin typeface="Calibri" pitchFamily="34" charset="0"/>
                <a:ea typeface="Calibri" pitchFamily="34" charset="-122"/>
                <a:cs typeface="Calibri" pitchFamily="34" charset="-120"/>
              </a:rPr>
              <a:t>Warning appears at 7pm if no log submitted today. Missing a day → streak resets to zero. Weekends count if submitted.</a:t>
            </a:r>
            <a:endParaRPr lang="en-US" sz="990" dirty="0"/>
          </a:p>
        </p:txBody>
      </p:sp>
      <p:sp>
        <p:nvSpPr>
          <p:cNvPr id="41" name="Shape 39"/>
          <p:cNvSpPr/>
          <p:nvPr/>
        </p:nvSpPr>
        <p:spPr>
          <a:xfrm>
            <a:off x="640080" y="5989320"/>
            <a:ext cx="10881360" cy="475488"/>
          </a:xfrm>
          <a:prstGeom prst="roundRect">
            <a:avLst>
              <a:gd name="adj" fmla="val 15385"/>
            </a:avLst>
          </a:prstGeom>
          <a:solidFill>
            <a:srgbClr val="FFFFFF"/>
          </a:solidFill>
          <a:ln w="12700">
            <a:solidFill>
              <a:srgbClr val="D9E4F2"/>
            </a:solidFill>
            <a:prstDash val="solid"/>
          </a:ln>
        </p:spPr>
      </p:sp>
      <p:sp>
        <p:nvSpPr>
          <p:cNvPr id="42" name="Shape 40"/>
          <p:cNvSpPr/>
          <p:nvPr/>
        </p:nvSpPr>
        <p:spPr>
          <a:xfrm>
            <a:off x="640080" y="5989320"/>
            <a:ext cx="64008" cy="475488"/>
          </a:xfrm>
          <a:prstGeom prst="rect">
            <a:avLst/>
          </a:prstGeom>
          <a:solidFill>
            <a:srgbClr val="4FC3F7"/>
          </a:solidFill>
          <a:ln w="12700">
            <a:solidFill>
              <a:srgbClr val="4FC3F7"/>
            </a:solidFill>
            <a:prstDash val="solid"/>
          </a:ln>
        </p:spPr>
      </p:sp>
      <p:sp>
        <p:nvSpPr>
          <p:cNvPr id="43" name="Text 41"/>
          <p:cNvSpPr/>
          <p:nvPr/>
        </p:nvSpPr>
        <p:spPr>
          <a:xfrm>
            <a:off x="795528" y="6099048"/>
            <a:ext cx="10561320" cy="228600"/>
          </a:xfrm>
          <a:prstGeom prst="rect">
            <a:avLst/>
          </a:prstGeom>
          <a:noFill/>
          <a:ln/>
        </p:spPr>
        <p:txBody>
          <a:bodyPr wrap="square" lIns="0" tIns="0" rIns="0" bIns="0" rtlCol="0" anchor="t">
            <a:normAutofit/>
          </a:bodyPr>
          <a:lstStyle/>
          <a:p>
            <a:pPr algn="ctr" indent="0" marL="0">
              <a:buNone/>
            </a:pPr>
            <a:r>
              <a:rPr lang="en-US" sz="1150" i="1" dirty="0">
                <a:solidFill>
                  <a:srgbClr val="1E2761"/>
                </a:solidFill>
                <a:latin typeface="Calibri" pitchFamily="34" charset="0"/>
                <a:ea typeface="Calibri" pitchFamily="34" charset="-122"/>
                <a:cs typeface="Calibri" pitchFamily="34" charset="-120"/>
              </a:rPr>
              <a:t>Gamification rule: we compete on discipline, not output quality. No ranking by performance. Perverse incentives by design avoided.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Define nearer things more completely</a:t>
            </a:r>
            <a:endParaRPr lang="en-US" sz="2500" dirty="0"/>
          </a:p>
        </p:txBody>
      </p:sp>
      <p:sp>
        <p:nvSpPr>
          <p:cNvPr id="3" name="Text 1"/>
          <p:cNvSpPr/>
          <p:nvPr/>
        </p:nvSpPr>
        <p:spPr>
          <a:xfrm>
            <a:off x="640080" y="822960"/>
            <a:ext cx="10698480" cy="256032"/>
          </a:xfrm>
          <a:prstGeom prst="rect">
            <a:avLst/>
          </a:prstGeom>
          <a:noFill/>
          <a:ln/>
        </p:spPr>
        <p:txBody>
          <a:bodyPr wrap="square" lIns="0" tIns="0" rIns="0" bIns="0" rtlCol="0" anchor="ctr"/>
          <a:lstStyle/>
          <a:p>
            <a:pPr indent="0" marL="0">
              <a:buNone/>
            </a:pPr>
            <a:r>
              <a:rPr lang="en-US" sz="1100" dirty="0">
                <a:solidFill>
                  <a:srgbClr val="5A6E8C"/>
                </a:solidFill>
                <a:latin typeface="Calibri" pitchFamily="34" charset="0"/>
                <a:ea typeface="Calibri" pitchFamily="34" charset="-122"/>
                <a:cs typeface="Calibri" pitchFamily="34" charset="-120"/>
              </a:rPr>
              <a:t>Top-down cascading — you can only define a smaller goal correctly once you know the bigger goal it serves</a:t>
            </a:r>
            <a:endParaRPr lang="en-US" sz="1100" dirty="0"/>
          </a:p>
        </p:txBody>
      </p:sp>
      <p:sp>
        <p:nvSpPr>
          <p:cNvPr id="4" name="Shape 2"/>
          <p:cNvSpPr/>
          <p:nvPr/>
        </p:nvSpPr>
        <p:spPr>
          <a:xfrm>
            <a:off x="731520" y="1508760"/>
            <a:ext cx="10698480" cy="411480"/>
          </a:xfrm>
          <a:prstGeom prst="rect">
            <a:avLst/>
          </a:prstGeom>
          <a:solidFill>
            <a:srgbClr val="1E2761"/>
          </a:solidFill>
          <a:ln w="12700">
            <a:solidFill>
              <a:srgbClr val="1E2761"/>
            </a:solidFill>
            <a:prstDash val="solid"/>
          </a:ln>
        </p:spPr>
      </p:sp>
      <p:sp>
        <p:nvSpPr>
          <p:cNvPr id="5" name="Text 3"/>
          <p:cNvSpPr/>
          <p:nvPr/>
        </p:nvSpPr>
        <p:spPr>
          <a:xfrm>
            <a:off x="841248" y="1627632"/>
            <a:ext cx="1645920" cy="128016"/>
          </a:xfrm>
          <a:prstGeom prst="rect">
            <a:avLst/>
          </a:prstGeom>
          <a:noFill/>
          <a:ln/>
        </p:spPr>
        <p:txBody>
          <a:bodyPr wrap="square" lIns="0" tIns="0" rIns="0" bIns="0" rtlCol="0" anchor="t">
            <a:normAutofit/>
          </a:bodyPr>
          <a:lstStyle/>
          <a:p>
            <a:pPr algn="l" indent="0" marL="0">
              <a:buNone/>
            </a:pPr>
            <a:r>
              <a:rPr lang="en-US" sz="1050" b="1" dirty="0">
                <a:solidFill>
                  <a:srgbClr val="FFFFFF"/>
                </a:solidFill>
                <a:latin typeface="Calibri" pitchFamily="34" charset="0"/>
                <a:ea typeface="Calibri" pitchFamily="34" charset="-122"/>
                <a:cs typeface="Calibri" pitchFamily="34" charset="-120"/>
              </a:rPr>
              <a:t>Cadence</a:t>
            </a:r>
            <a:endParaRPr lang="en-US" sz="1050" dirty="0"/>
          </a:p>
        </p:txBody>
      </p:sp>
      <p:sp>
        <p:nvSpPr>
          <p:cNvPr id="6" name="Text 4"/>
          <p:cNvSpPr/>
          <p:nvPr/>
        </p:nvSpPr>
        <p:spPr>
          <a:xfrm>
            <a:off x="2670048" y="1627632"/>
            <a:ext cx="1280160" cy="128016"/>
          </a:xfrm>
          <a:prstGeom prst="rect">
            <a:avLst/>
          </a:prstGeom>
          <a:noFill/>
          <a:ln/>
        </p:spPr>
        <p:txBody>
          <a:bodyPr wrap="square" lIns="0" tIns="0" rIns="0" bIns="0" rtlCol="0" anchor="t">
            <a:normAutofit/>
          </a:bodyPr>
          <a:lstStyle/>
          <a:p>
            <a:pPr algn="l" indent="0" marL="0">
              <a:buNone/>
            </a:pPr>
            <a:r>
              <a:rPr lang="en-US" sz="1050" b="1" dirty="0">
                <a:solidFill>
                  <a:srgbClr val="FFFFFF"/>
                </a:solidFill>
                <a:latin typeface="Calibri" pitchFamily="34" charset="0"/>
                <a:ea typeface="Calibri" pitchFamily="34" charset="-122"/>
                <a:cs typeface="Calibri" pitchFamily="34" charset="-120"/>
              </a:rPr>
              <a:t>Duration</a:t>
            </a:r>
            <a:endParaRPr lang="en-US" sz="1050" dirty="0"/>
          </a:p>
        </p:txBody>
      </p:sp>
      <p:sp>
        <p:nvSpPr>
          <p:cNvPr id="7" name="Text 5"/>
          <p:cNvSpPr/>
          <p:nvPr/>
        </p:nvSpPr>
        <p:spPr>
          <a:xfrm>
            <a:off x="4133088" y="1627632"/>
            <a:ext cx="914400" cy="128016"/>
          </a:xfrm>
          <a:prstGeom prst="rect">
            <a:avLst/>
          </a:prstGeom>
          <a:noFill/>
          <a:ln/>
        </p:spPr>
        <p:txBody>
          <a:bodyPr wrap="square" lIns="0" tIns="0" rIns="0" bIns="0" rtlCol="0" anchor="t">
            <a:normAutofit/>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Who</a:t>
            </a:r>
            <a:endParaRPr lang="en-US" sz="1050" dirty="0"/>
          </a:p>
        </p:txBody>
      </p:sp>
      <p:sp>
        <p:nvSpPr>
          <p:cNvPr id="8" name="Text 6"/>
          <p:cNvSpPr/>
          <p:nvPr/>
        </p:nvSpPr>
        <p:spPr>
          <a:xfrm>
            <a:off x="5230368" y="1627632"/>
            <a:ext cx="6126480" cy="128016"/>
          </a:xfrm>
          <a:prstGeom prst="rect">
            <a:avLst/>
          </a:prstGeom>
          <a:noFill/>
          <a:ln/>
        </p:spPr>
        <p:txBody>
          <a:bodyPr wrap="square" lIns="0" tIns="0" rIns="0" bIns="0" rtlCol="0" anchor="t">
            <a:normAutofit/>
          </a:bodyPr>
          <a:lstStyle/>
          <a:p>
            <a:pPr algn="l"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p>
        </p:txBody>
      </p:sp>
      <p:sp>
        <p:nvSpPr>
          <p:cNvPr id="9" name="Shape 7"/>
          <p:cNvSpPr/>
          <p:nvPr/>
        </p:nvSpPr>
        <p:spPr>
          <a:xfrm>
            <a:off x="731520" y="1920240"/>
            <a:ext cx="10698480" cy="658368"/>
          </a:xfrm>
          <a:prstGeom prst="rect">
            <a:avLst/>
          </a:prstGeom>
          <a:solidFill>
            <a:srgbClr val="FFFFFF"/>
          </a:solidFill>
          <a:ln w="12700">
            <a:solidFill>
              <a:srgbClr val="D9E4F2"/>
            </a:solidFill>
            <a:prstDash val="solid"/>
          </a:ln>
        </p:spPr>
      </p:sp>
      <p:sp>
        <p:nvSpPr>
          <p:cNvPr id="10" name="Text 8"/>
          <p:cNvSpPr/>
          <p:nvPr/>
        </p:nvSpPr>
        <p:spPr>
          <a:xfrm>
            <a:off x="841248" y="2130552"/>
            <a:ext cx="182880" cy="146304"/>
          </a:xfrm>
          <a:prstGeom prst="rect">
            <a:avLst/>
          </a:prstGeom>
          <a:noFill/>
          <a:ln/>
        </p:spPr>
        <p:txBody>
          <a:bodyPr wrap="square" lIns="0" tIns="0" rIns="0" bIns="0" rtlCol="0" anchor="t">
            <a:normAutofit/>
          </a:bodyPr>
          <a:lstStyle/>
          <a:p>
            <a:pPr algn="l" indent="0" marL="0">
              <a:buNone/>
            </a:pPr>
            <a:r>
              <a:rPr lang="en-US" sz="1050" dirty="0">
                <a:solidFill>
                  <a:srgbClr val="4FC3F7"/>
                </a:solidFill>
                <a:latin typeface="Calibri" pitchFamily="34" charset="0"/>
                <a:ea typeface="Calibri" pitchFamily="34" charset="-122"/>
                <a:cs typeface="Calibri" pitchFamily="34" charset="-120"/>
              </a:rPr>
              <a:t>◷</a:t>
            </a:r>
            <a:endParaRPr lang="en-US" sz="1050" dirty="0"/>
          </a:p>
        </p:txBody>
      </p:sp>
      <p:sp>
        <p:nvSpPr>
          <p:cNvPr id="11" name="Text 9"/>
          <p:cNvSpPr/>
          <p:nvPr/>
        </p:nvSpPr>
        <p:spPr>
          <a:xfrm>
            <a:off x="1051560" y="2121408"/>
            <a:ext cx="146304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Daily EOD log</a:t>
            </a:r>
            <a:endParaRPr lang="en-US" sz="1080" dirty="0"/>
          </a:p>
        </p:txBody>
      </p:sp>
      <p:sp>
        <p:nvSpPr>
          <p:cNvPr id="12" name="Text 10"/>
          <p:cNvSpPr/>
          <p:nvPr/>
        </p:nvSpPr>
        <p:spPr>
          <a:xfrm>
            <a:off x="2670048" y="2121408"/>
            <a:ext cx="128016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5 min</a:t>
            </a:r>
            <a:endParaRPr lang="en-US" sz="1080" dirty="0"/>
          </a:p>
        </p:txBody>
      </p:sp>
      <p:sp>
        <p:nvSpPr>
          <p:cNvPr id="13" name="Text 11"/>
          <p:cNvSpPr/>
          <p:nvPr/>
        </p:nvSpPr>
        <p:spPr>
          <a:xfrm>
            <a:off x="4133088" y="2121408"/>
            <a:ext cx="91440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Solo</a:t>
            </a:r>
            <a:endParaRPr lang="en-US" sz="1080" dirty="0"/>
          </a:p>
        </p:txBody>
      </p:sp>
      <p:sp>
        <p:nvSpPr>
          <p:cNvPr id="14" name="Text 12"/>
          <p:cNvSpPr/>
          <p:nvPr/>
        </p:nvSpPr>
        <p:spPr>
          <a:xfrm>
            <a:off x="5230368" y="2084832"/>
            <a:ext cx="6089904" cy="219456"/>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Log done / tomorrow / blockers</a:t>
            </a:r>
            <a:endParaRPr lang="en-US" sz="1080" dirty="0"/>
          </a:p>
        </p:txBody>
      </p:sp>
      <p:sp>
        <p:nvSpPr>
          <p:cNvPr id="15" name="Shape 13"/>
          <p:cNvSpPr/>
          <p:nvPr/>
        </p:nvSpPr>
        <p:spPr>
          <a:xfrm>
            <a:off x="731520" y="2578608"/>
            <a:ext cx="10698480" cy="658368"/>
          </a:xfrm>
          <a:prstGeom prst="rect">
            <a:avLst/>
          </a:prstGeom>
          <a:solidFill>
            <a:srgbClr val="EEF4FB"/>
          </a:solidFill>
          <a:ln w="12700">
            <a:solidFill>
              <a:srgbClr val="D9E4F2"/>
            </a:solidFill>
            <a:prstDash val="solid"/>
          </a:ln>
        </p:spPr>
      </p:sp>
      <p:sp>
        <p:nvSpPr>
          <p:cNvPr id="16" name="Text 14"/>
          <p:cNvSpPr/>
          <p:nvPr/>
        </p:nvSpPr>
        <p:spPr>
          <a:xfrm>
            <a:off x="841248" y="2788920"/>
            <a:ext cx="182880" cy="146304"/>
          </a:xfrm>
          <a:prstGeom prst="rect">
            <a:avLst/>
          </a:prstGeom>
          <a:noFill/>
          <a:ln/>
        </p:spPr>
        <p:txBody>
          <a:bodyPr wrap="square" lIns="0" tIns="0" rIns="0" bIns="0" rtlCol="0" anchor="t">
            <a:normAutofit/>
          </a:bodyPr>
          <a:lstStyle/>
          <a:p>
            <a:pPr algn="l" indent="0" marL="0">
              <a:buNone/>
            </a:pPr>
            <a:r>
              <a:rPr lang="en-US" sz="1050" dirty="0">
                <a:solidFill>
                  <a:srgbClr val="4FC3F7"/>
                </a:solidFill>
                <a:latin typeface="Calibri" pitchFamily="34" charset="0"/>
                <a:ea typeface="Calibri" pitchFamily="34" charset="-122"/>
                <a:cs typeface="Calibri" pitchFamily="34" charset="-120"/>
              </a:rPr>
              <a:t>◷</a:t>
            </a:r>
            <a:endParaRPr lang="en-US" sz="1050" dirty="0"/>
          </a:p>
        </p:txBody>
      </p:sp>
      <p:sp>
        <p:nvSpPr>
          <p:cNvPr id="17" name="Text 15"/>
          <p:cNvSpPr/>
          <p:nvPr/>
        </p:nvSpPr>
        <p:spPr>
          <a:xfrm>
            <a:off x="1051560" y="2779776"/>
            <a:ext cx="146304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Weekly sync</a:t>
            </a:r>
            <a:endParaRPr lang="en-US" sz="1080" dirty="0"/>
          </a:p>
        </p:txBody>
      </p:sp>
      <p:sp>
        <p:nvSpPr>
          <p:cNvPr id="18" name="Text 16"/>
          <p:cNvSpPr/>
          <p:nvPr/>
        </p:nvSpPr>
        <p:spPr>
          <a:xfrm>
            <a:off x="2670048" y="2779776"/>
            <a:ext cx="128016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60 min</a:t>
            </a:r>
            <a:endParaRPr lang="en-US" sz="1080" dirty="0"/>
          </a:p>
        </p:txBody>
      </p:sp>
      <p:sp>
        <p:nvSpPr>
          <p:cNvPr id="19" name="Text 17"/>
          <p:cNvSpPr/>
          <p:nvPr/>
        </p:nvSpPr>
        <p:spPr>
          <a:xfrm>
            <a:off x="4133088" y="2779776"/>
            <a:ext cx="91440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All 3</a:t>
            </a:r>
            <a:endParaRPr lang="en-US" sz="1080" dirty="0"/>
          </a:p>
        </p:txBody>
      </p:sp>
      <p:sp>
        <p:nvSpPr>
          <p:cNvPr id="20" name="Text 18"/>
          <p:cNvSpPr/>
          <p:nvPr/>
        </p:nvSpPr>
        <p:spPr>
          <a:xfrm>
            <a:off x="5230368" y="2743200"/>
            <a:ext cx="6089904" cy="219456"/>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Present week, align sprint cards</a:t>
            </a:r>
            <a:endParaRPr lang="en-US" sz="1080" dirty="0"/>
          </a:p>
        </p:txBody>
      </p:sp>
      <p:sp>
        <p:nvSpPr>
          <p:cNvPr id="21" name="Shape 19"/>
          <p:cNvSpPr/>
          <p:nvPr/>
        </p:nvSpPr>
        <p:spPr>
          <a:xfrm>
            <a:off x="731520" y="3236976"/>
            <a:ext cx="10698480" cy="658368"/>
          </a:xfrm>
          <a:prstGeom prst="rect">
            <a:avLst/>
          </a:prstGeom>
          <a:solidFill>
            <a:srgbClr val="FFFFFF"/>
          </a:solidFill>
          <a:ln w="12700">
            <a:solidFill>
              <a:srgbClr val="D9E4F2"/>
            </a:solidFill>
            <a:prstDash val="solid"/>
          </a:ln>
        </p:spPr>
      </p:sp>
      <p:sp>
        <p:nvSpPr>
          <p:cNvPr id="22" name="Text 20"/>
          <p:cNvSpPr/>
          <p:nvPr/>
        </p:nvSpPr>
        <p:spPr>
          <a:xfrm>
            <a:off x="841248" y="3447288"/>
            <a:ext cx="182880" cy="146304"/>
          </a:xfrm>
          <a:prstGeom prst="rect">
            <a:avLst/>
          </a:prstGeom>
          <a:noFill/>
          <a:ln/>
        </p:spPr>
        <p:txBody>
          <a:bodyPr wrap="square" lIns="0" tIns="0" rIns="0" bIns="0" rtlCol="0" anchor="t">
            <a:normAutofit/>
          </a:bodyPr>
          <a:lstStyle/>
          <a:p>
            <a:pPr algn="l" indent="0" marL="0">
              <a:buNone/>
            </a:pPr>
            <a:r>
              <a:rPr lang="en-US" sz="1050" dirty="0">
                <a:solidFill>
                  <a:srgbClr val="4FC3F7"/>
                </a:solidFill>
                <a:latin typeface="Calibri" pitchFamily="34" charset="0"/>
                <a:ea typeface="Calibri" pitchFamily="34" charset="-122"/>
                <a:cs typeface="Calibri" pitchFamily="34" charset="-120"/>
              </a:rPr>
              <a:t>◷</a:t>
            </a:r>
            <a:endParaRPr lang="en-US" sz="1050" dirty="0"/>
          </a:p>
        </p:txBody>
      </p:sp>
      <p:sp>
        <p:nvSpPr>
          <p:cNvPr id="23" name="Text 21"/>
          <p:cNvSpPr/>
          <p:nvPr/>
        </p:nvSpPr>
        <p:spPr>
          <a:xfrm>
            <a:off x="1051560" y="3438144"/>
            <a:ext cx="146304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Monthly close</a:t>
            </a:r>
            <a:endParaRPr lang="en-US" sz="1080" dirty="0"/>
          </a:p>
        </p:txBody>
      </p:sp>
      <p:sp>
        <p:nvSpPr>
          <p:cNvPr id="24" name="Text 22"/>
          <p:cNvSpPr/>
          <p:nvPr/>
        </p:nvSpPr>
        <p:spPr>
          <a:xfrm>
            <a:off x="2670048" y="3438144"/>
            <a:ext cx="128016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90 min</a:t>
            </a:r>
            <a:endParaRPr lang="en-US" sz="1080" dirty="0"/>
          </a:p>
        </p:txBody>
      </p:sp>
      <p:sp>
        <p:nvSpPr>
          <p:cNvPr id="25" name="Text 23"/>
          <p:cNvSpPr/>
          <p:nvPr/>
        </p:nvSpPr>
        <p:spPr>
          <a:xfrm>
            <a:off x="4133088" y="3438144"/>
            <a:ext cx="91440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All 3</a:t>
            </a:r>
            <a:endParaRPr lang="en-US" sz="1080" dirty="0"/>
          </a:p>
        </p:txBody>
      </p:sp>
      <p:sp>
        <p:nvSpPr>
          <p:cNvPr id="26" name="Text 24"/>
          <p:cNvSpPr/>
          <p:nvPr/>
        </p:nvSpPr>
        <p:spPr>
          <a:xfrm>
            <a:off x="5230368" y="3401568"/>
            <a:ext cx="6089904" cy="219456"/>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Review month, define next month</a:t>
            </a:r>
            <a:endParaRPr lang="en-US" sz="1080" dirty="0"/>
          </a:p>
        </p:txBody>
      </p:sp>
      <p:sp>
        <p:nvSpPr>
          <p:cNvPr id="27" name="Shape 25"/>
          <p:cNvSpPr/>
          <p:nvPr/>
        </p:nvSpPr>
        <p:spPr>
          <a:xfrm>
            <a:off x="731520" y="3895344"/>
            <a:ext cx="10698480" cy="658368"/>
          </a:xfrm>
          <a:prstGeom prst="rect">
            <a:avLst/>
          </a:prstGeom>
          <a:solidFill>
            <a:srgbClr val="EEF4FB"/>
          </a:solidFill>
          <a:ln w="12700">
            <a:solidFill>
              <a:srgbClr val="D9E4F2"/>
            </a:solidFill>
            <a:prstDash val="solid"/>
          </a:ln>
        </p:spPr>
      </p:sp>
      <p:sp>
        <p:nvSpPr>
          <p:cNvPr id="28" name="Text 26"/>
          <p:cNvSpPr/>
          <p:nvPr/>
        </p:nvSpPr>
        <p:spPr>
          <a:xfrm>
            <a:off x="841248" y="4105656"/>
            <a:ext cx="182880" cy="146304"/>
          </a:xfrm>
          <a:prstGeom prst="rect">
            <a:avLst/>
          </a:prstGeom>
          <a:noFill/>
          <a:ln/>
        </p:spPr>
        <p:txBody>
          <a:bodyPr wrap="square" lIns="0" tIns="0" rIns="0" bIns="0" rtlCol="0" anchor="t">
            <a:normAutofit/>
          </a:bodyPr>
          <a:lstStyle/>
          <a:p>
            <a:pPr algn="l" indent="0" marL="0">
              <a:buNone/>
            </a:pPr>
            <a:r>
              <a:rPr lang="en-US" sz="1050" dirty="0">
                <a:solidFill>
                  <a:srgbClr val="4FC3F7"/>
                </a:solidFill>
                <a:latin typeface="Calibri" pitchFamily="34" charset="0"/>
                <a:ea typeface="Calibri" pitchFamily="34" charset="-122"/>
                <a:cs typeface="Calibri" pitchFamily="34" charset="-120"/>
              </a:rPr>
              <a:t>◷</a:t>
            </a:r>
            <a:endParaRPr lang="en-US" sz="1050" dirty="0"/>
          </a:p>
        </p:txBody>
      </p:sp>
      <p:sp>
        <p:nvSpPr>
          <p:cNvPr id="29" name="Text 27"/>
          <p:cNvSpPr/>
          <p:nvPr/>
        </p:nvSpPr>
        <p:spPr>
          <a:xfrm>
            <a:off x="1051560" y="4096512"/>
            <a:ext cx="146304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Quarterly OKR</a:t>
            </a:r>
            <a:endParaRPr lang="en-US" sz="1080" dirty="0"/>
          </a:p>
        </p:txBody>
      </p:sp>
      <p:sp>
        <p:nvSpPr>
          <p:cNvPr id="30" name="Text 28"/>
          <p:cNvSpPr/>
          <p:nvPr/>
        </p:nvSpPr>
        <p:spPr>
          <a:xfrm>
            <a:off x="2670048" y="4096512"/>
            <a:ext cx="128016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Half day</a:t>
            </a:r>
            <a:endParaRPr lang="en-US" sz="1080" dirty="0"/>
          </a:p>
        </p:txBody>
      </p:sp>
      <p:sp>
        <p:nvSpPr>
          <p:cNvPr id="31" name="Text 29"/>
          <p:cNvSpPr/>
          <p:nvPr/>
        </p:nvSpPr>
        <p:spPr>
          <a:xfrm>
            <a:off x="4133088" y="4096512"/>
            <a:ext cx="91440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All 3</a:t>
            </a:r>
            <a:endParaRPr lang="en-US" sz="1080" dirty="0"/>
          </a:p>
        </p:txBody>
      </p:sp>
      <p:sp>
        <p:nvSpPr>
          <p:cNvPr id="32" name="Text 30"/>
          <p:cNvSpPr/>
          <p:nvPr/>
        </p:nvSpPr>
        <p:spPr>
          <a:xfrm>
            <a:off x="5230368" y="4059936"/>
            <a:ext cx="6089904" cy="219456"/>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Review Q, define next Q + 3 months</a:t>
            </a:r>
            <a:endParaRPr lang="en-US" sz="1080" dirty="0"/>
          </a:p>
        </p:txBody>
      </p:sp>
      <p:sp>
        <p:nvSpPr>
          <p:cNvPr id="33" name="Shape 31"/>
          <p:cNvSpPr/>
          <p:nvPr/>
        </p:nvSpPr>
        <p:spPr>
          <a:xfrm>
            <a:off x="731520" y="4553712"/>
            <a:ext cx="10698480" cy="658368"/>
          </a:xfrm>
          <a:prstGeom prst="rect">
            <a:avLst/>
          </a:prstGeom>
          <a:solidFill>
            <a:srgbClr val="FFFFFF"/>
          </a:solidFill>
          <a:ln w="12700">
            <a:solidFill>
              <a:srgbClr val="D9E4F2"/>
            </a:solidFill>
            <a:prstDash val="solid"/>
          </a:ln>
        </p:spPr>
      </p:sp>
      <p:sp>
        <p:nvSpPr>
          <p:cNvPr id="34" name="Text 32"/>
          <p:cNvSpPr/>
          <p:nvPr/>
        </p:nvSpPr>
        <p:spPr>
          <a:xfrm>
            <a:off x="841248" y="4764024"/>
            <a:ext cx="182880" cy="146304"/>
          </a:xfrm>
          <a:prstGeom prst="rect">
            <a:avLst/>
          </a:prstGeom>
          <a:noFill/>
          <a:ln/>
        </p:spPr>
        <p:txBody>
          <a:bodyPr wrap="square" lIns="0" tIns="0" rIns="0" bIns="0" rtlCol="0" anchor="t">
            <a:normAutofit/>
          </a:bodyPr>
          <a:lstStyle/>
          <a:p>
            <a:pPr algn="l" indent="0" marL="0">
              <a:buNone/>
            </a:pPr>
            <a:r>
              <a:rPr lang="en-US" sz="1050" dirty="0">
                <a:solidFill>
                  <a:srgbClr val="4FC3F7"/>
                </a:solidFill>
                <a:latin typeface="Calibri" pitchFamily="34" charset="0"/>
                <a:ea typeface="Calibri" pitchFamily="34" charset="-122"/>
                <a:cs typeface="Calibri" pitchFamily="34" charset="-120"/>
              </a:rPr>
              <a:t>◷</a:t>
            </a:r>
            <a:endParaRPr lang="en-US" sz="1050" dirty="0"/>
          </a:p>
        </p:txBody>
      </p:sp>
      <p:sp>
        <p:nvSpPr>
          <p:cNvPr id="35" name="Text 33"/>
          <p:cNvSpPr/>
          <p:nvPr/>
        </p:nvSpPr>
        <p:spPr>
          <a:xfrm>
            <a:off x="1051560" y="4754880"/>
            <a:ext cx="146304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Annual planning</a:t>
            </a:r>
            <a:endParaRPr lang="en-US" sz="1080" dirty="0"/>
          </a:p>
        </p:txBody>
      </p:sp>
      <p:sp>
        <p:nvSpPr>
          <p:cNvPr id="36" name="Text 34"/>
          <p:cNvSpPr/>
          <p:nvPr/>
        </p:nvSpPr>
        <p:spPr>
          <a:xfrm>
            <a:off x="2670048" y="4754880"/>
            <a:ext cx="128016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Full day</a:t>
            </a:r>
            <a:endParaRPr lang="en-US" sz="1080" dirty="0"/>
          </a:p>
        </p:txBody>
      </p:sp>
      <p:sp>
        <p:nvSpPr>
          <p:cNvPr id="37" name="Text 35"/>
          <p:cNvSpPr/>
          <p:nvPr/>
        </p:nvSpPr>
        <p:spPr>
          <a:xfrm>
            <a:off x="4133088" y="4754880"/>
            <a:ext cx="914400" cy="146304"/>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All 3</a:t>
            </a:r>
            <a:endParaRPr lang="en-US" sz="1080" dirty="0"/>
          </a:p>
        </p:txBody>
      </p:sp>
      <p:sp>
        <p:nvSpPr>
          <p:cNvPr id="38" name="Text 36"/>
          <p:cNvSpPr/>
          <p:nvPr/>
        </p:nvSpPr>
        <p:spPr>
          <a:xfrm>
            <a:off x="5230368" y="4718304"/>
            <a:ext cx="6089904" cy="219456"/>
          </a:xfrm>
          <a:prstGeom prst="rect">
            <a:avLst/>
          </a:prstGeom>
          <a:noFill/>
          <a:ln/>
        </p:spPr>
        <p:txBody>
          <a:bodyPr wrap="square" lIns="0" tIns="0" rIns="0" bIns="0" rtlCol="0" anchor="t">
            <a:normAutofit/>
          </a:bodyPr>
          <a:lstStyle/>
          <a:p>
            <a:pPr algn="l" indent="0" marL="0">
              <a:buNone/>
            </a:pPr>
            <a:r>
              <a:rPr lang="en-US" sz="1080" dirty="0">
                <a:solidFill>
                  <a:srgbClr val="1E2761"/>
                </a:solidFill>
                <a:latin typeface="Calibri" pitchFamily="34" charset="0"/>
                <a:ea typeface="Calibri" pitchFamily="34" charset="-122"/>
                <a:cs typeface="Calibri" pitchFamily="34" charset="-120"/>
              </a:rPr>
              <a:t>Yearly goal, stub all 4 quarters</a:t>
            </a:r>
            <a:endParaRPr lang="en-US" sz="1080" dirty="0"/>
          </a:p>
        </p:txBody>
      </p:sp>
      <p:sp>
        <p:nvSpPr>
          <p:cNvPr id="39" name="Shape 37"/>
          <p:cNvSpPr/>
          <p:nvPr/>
        </p:nvSpPr>
        <p:spPr>
          <a:xfrm>
            <a:off x="914400" y="5897880"/>
            <a:ext cx="10241280" cy="566928"/>
          </a:xfrm>
          <a:prstGeom prst="roundRect">
            <a:avLst>
              <a:gd name="adj" fmla="val 12903"/>
            </a:avLst>
          </a:prstGeom>
          <a:solidFill>
            <a:srgbClr val="FFFFFF"/>
          </a:solidFill>
          <a:ln w="12700">
            <a:solidFill>
              <a:srgbClr val="4FC3F7"/>
            </a:solidFill>
            <a:prstDash val="solid"/>
          </a:ln>
        </p:spPr>
      </p:sp>
      <p:sp>
        <p:nvSpPr>
          <p:cNvPr id="40" name="Shape 38"/>
          <p:cNvSpPr/>
          <p:nvPr/>
        </p:nvSpPr>
        <p:spPr>
          <a:xfrm>
            <a:off x="914400" y="5897880"/>
            <a:ext cx="64008" cy="566928"/>
          </a:xfrm>
          <a:prstGeom prst="rect">
            <a:avLst/>
          </a:prstGeom>
          <a:solidFill>
            <a:srgbClr val="4FC3F7"/>
          </a:solidFill>
          <a:ln w="12700">
            <a:solidFill>
              <a:srgbClr val="4FC3F7"/>
            </a:solidFill>
            <a:prstDash val="solid"/>
          </a:ln>
        </p:spPr>
      </p:sp>
      <p:sp>
        <p:nvSpPr>
          <p:cNvPr id="41" name="Text 39"/>
          <p:cNvSpPr/>
          <p:nvPr/>
        </p:nvSpPr>
        <p:spPr>
          <a:xfrm>
            <a:off x="1060704" y="6007608"/>
            <a:ext cx="9985248" cy="42062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Q3 and Q4 are always stubs. Detailing Q4 in April is wasted planning — the world will have changed by then.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28600" y="594360"/>
            <a:ext cx="11704320" cy="1554480"/>
          </a:xfrm>
          <a:prstGeom prst="rect">
            <a:avLst/>
          </a:prstGeom>
          <a:noFill/>
          <a:ln/>
        </p:spPr>
        <p:txBody>
          <a:bodyPr wrap="square" lIns="0" tIns="0" rIns="0" bIns="0" rtlCol="0" anchor="ctr"/>
          <a:lstStyle/>
          <a:p>
            <a:pPr algn="ctr" indent="0" marL="0">
              <a:buNone/>
            </a:pPr>
            <a:r>
              <a:rPr lang="en-US" sz="9800" b="1" dirty="0">
                <a:solidFill>
                  <a:srgbClr val="5865F2">
                    <a:alpha val="20000"/>
                  </a:srgbClr>
                </a:solidFill>
                <a:latin typeface="Calibri" pitchFamily="34" charset="0"/>
                <a:ea typeface="Calibri" pitchFamily="34" charset="-122"/>
                <a:cs typeface="Calibri" pitchFamily="34" charset="-120"/>
              </a:rPr>
              <a:t>04</a:t>
            </a:r>
            <a:endParaRPr lang="en-US" sz="9800" dirty="0"/>
          </a:p>
        </p:txBody>
      </p:sp>
      <p:sp>
        <p:nvSpPr>
          <p:cNvPr id="3" name="Text 1"/>
          <p:cNvSpPr/>
          <p:nvPr/>
        </p:nvSpPr>
        <p:spPr>
          <a:xfrm>
            <a:off x="1097280" y="2697480"/>
            <a:ext cx="996696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Our Communication Layer</a:t>
            </a:r>
            <a:endParaRPr lang="en-US" sz="3000" dirty="0"/>
          </a:p>
        </p:txBody>
      </p:sp>
      <p:sp>
        <p:nvSpPr>
          <p:cNvPr id="4" name="Text 2"/>
          <p:cNvSpPr/>
          <p:nvPr/>
        </p:nvSpPr>
        <p:spPr>
          <a:xfrm>
            <a:off x="1463040" y="3291840"/>
            <a:ext cx="9235440" cy="256032"/>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Discord is working memory. Notion is long-term memory.</a:t>
            </a:r>
            <a:endParaRPr lang="en-US" sz="1600" dirty="0"/>
          </a:p>
        </p:txBody>
      </p:sp>
      <p:sp>
        <p:nvSpPr>
          <p:cNvPr id="5" name="Shape 3"/>
          <p:cNvSpPr/>
          <p:nvPr/>
        </p:nvSpPr>
        <p:spPr>
          <a:xfrm>
            <a:off x="3657600" y="3886200"/>
            <a:ext cx="4846320" cy="0"/>
          </a:xfrm>
          <a:prstGeom prst="line">
            <a:avLst/>
          </a:prstGeom>
          <a:noFill/>
          <a:ln w="25400">
            <a:solidFill>
              <a:srgbClr val="5865F2"/>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One channel, one job</a:t>
            </a:r>
            <a:endParaRPr lang="en-US" sz="2500" dirty="0"/>
          </a:p>
        </p:txBody>
      </p:sp>
      <p:sp>
        <p:nvSpPr>
          <p:cNvPr id="3" name="Shape 1"/>
          <p:cNvSpPr/>
          <p:nvPr/>
        </p:nvSpPr>
        <p:spPr>
          <a:xfrm>
            <a:off x="640080" y="1234440"/>
            <a:ext cx="3749040" cy="5166360"/>
          </a:xfrm>
          <a:prstGeom prst="roundRect">
            <a:avLst>
              <a:gd name="adj" fmla="val 1951"/>
            </a:avLst>
          </a:prstGeom>
          <a:solidFill>
            <a:srgbClr val="2B2D31"/>
          </a:solidFill>
          <a:ln w="12700">
            <a:solidFill>
              <a:srgbClr val="2B2D31"/>
            </a:solidFill>
            <a:prstDash val="solid"/>
          </a:ln>
          <a:effectLst>
            <a:outerShdw sx="100000" sy="100000" kx="0" ky="0" algn="bl" rotWithShape="0" blurRad="19050" dist="12700" dir="2700000">
              <a:srgbClr val="000000">
                <a:alpha val="12000"/>
              </a:srgbClr>
            </a:outerShdw>
          </a:effectLst>
        </p:spPr>
      </p:sp>
      <p:sp>
        <p:nvSpPr>
          <p:cNvPr id="4" name="Shape 2"/>
          <p:cNvSpPr/>
          <p:nvPr/>
        </p:nvSpPr>
        <p:spPr>
          <a:xfrm>
            <a:off x="640080" y="1234440"/>
            <a:ext cx="64008" cy="5166360"/>
          </a:xfrm>
          <a:prstGeom prst="rect">
            <a:avLst/>
          </a:prstGeom>
          <a:solidFill>
            <a:srgbClr val="5865F2"/>
          </a:solidFill>
          <a:ln w="12700">
            <a:solidFill>
              <a:srgbClr val="5865F2"/>
            </a:solidFill>
            <a:prstDash val="solid"/>
          </a:ln>
        </p:spPr>
      </p:sp>
      <p:sp>
        <p:nvSpPr>
          <p:cNvPr id="5" name="Text 3"/>
          <p:cNvSpPr/>
          <p:nvPr/>
        </p:nvSpPr>
        <p:spPr>
          <a:xfrm>
            <a:off x="914400" y="1481328"/>
            <a:ext cx="1920240" cy="182880"/>
          </a:xfrm>
          <a:prstGeom prst="rect">
            <a:avLst/>
          </a:prstGeom>
          <a:noFill/>
          <a:ln/>
        </p:spPr>
        <p:txBody>
          <a:bodyPr wrap="square" lIns="0" tIns="0" rIns="0" bIns="0" rtlCol="0" anchor="t">
            <a:normAutofit/>
          </a:bodyPr>
          <a:lstStyle/>
          <a:p>
            <a:pPr algn="l" indent="0" marL="0">
              <a:buNone/>
            </a:pPr>
            <a:r>
              <a:rPr lang="en-US" sz="1400" b="1" dirty="0">
                <a:solidFill>
                  <a:srgbClr val="FFFFFF"/>
                </a:solidFill>
                <a:latin typeface="Calibri" pitchFamily="34" charset="0"/>
                <a:ea typeface="Calibri" pitchFamily="34" charset="-122"/>
                <a:cs typeface="Calibri" pitchFamily="34" charset="-120"/>
              </a:rPr>
              <a:t>XC GRADIENT</a:t>
            </a:r>
            <a:endParaRPr lang="en-US" sz="1400" dirty="0"/>
          </a:p>
        </p:txBody>
      </p:sp>
      <p:sp>
        <p:nvSpPr>
          <p:cNvPr id="6" name="Text 4"/>
          <p:cNvSpPr/>
          <p:nvPr/>
        </p:nvSpPr>
        <p:spPr>
          <a:xfrm>
            <a:off x="914400" y="1847088"/>
            <a:ext cx="1508760" cy="146304"/>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 announcements</a:t>
            </a:r>
            <a:endParaRPr lang="en-US" sz="1100" dirty="0"/>
          </a:p>
        </p:txBody>
      </p:sp>
      <p:sp>
        <p:nvSpPr>
          <p:cNvPr id="7" name="Text 5"/>
          <p:cNvSpPr/>
          <p:nvPr/>
        </p:nvSpPr>
        <p:spPr>
          <a:xfrm>
            <a:off x="2395728" y="1847088"/>
            <a:ext cx="1463040" cy="146304"/>
          </a:xfrm>
          <a:prstGeom prst="rect">
            <a:avLst/>
          </a:prstGeom>
          <a:noFill/>
          <a:ln/>
        </p:spPr>
        <p:txBody>
          <a:bodyPr wrap="square" lIns="0" tIns="0" rIns="0" bIns="0" rtlCol="0" anchor="t">
            <a:normAutofit/>
          </a:bodyPr>
          <a:lstStyle/>
          <a:p>
            <a:pPr algn="l" indent="0" marL="0">
              <a:buNone/>
            </a:pPr>
            <a:r>
              <a:rPr lang="en-US" sz="890" dirty="0">
                <a:solidFill>
                  <a:srgbClr val="C8CDD4"/>
                </a:solidFill>
                <a:latin typeface="Calibri" pitchFamily="34" charset="0"/>
                <a:ea typeface="Calibri" pitchFamily="34" charset="-122"/>
                <a:cs typeface="Calibri" pitchFamily="34" charset="-120"/>
              </a:rPr>
              <a:t>← decisions made, Notion links</a:t>
            </a:r>
            <a:endParaRPr lang="en-US" sz="890" dirty="0"/>
          </a:p>
        </p:txBody>
      </p:sp>
      <p:sp>
        <p:nvSpPr>
          <p:cNvPr id="8" name="Text 6"/>
          <p:cNvSpPr/>
          <p:nvPr/>
        </p:nvSpPr>
        <p:spPr>
          <a:xfrm>
            <a:off x="914400" y="2286000"/>
            <a:ext cx="1508760" cy="146304"/>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 blockers</a:t>
            </a:r>
            <a:endParaRPr lang="en-US" sz="1100" dirty="0"/>
          </a:p>
        </p:txBody>
      </p:sp>
      <p:sp>
        <p:nvSpPr>
          <p:cNvPr id="9" name="Text 7"/>
          <p:cNvSpPr/>
          <p:nvPr/>
        </p:nvSpPr>
        <p:spPr>
          <a:xfrm>
            <a:off x="2395728" y="2286000"/>
            <a:ext cx="1463040" cy="146304"/>
          </a:xfrm>
          <a:prstGeom prst="rect">
            <a:avLst/>
          </a:prstGeom>
          <a:noFill/>
          <a:ln/>
        </p:spPr>
        <p:txBody>
          <a:bodyPr wrap="square" lIns="0" tIns="0" rIns="0" bIns="0" rtlCol="0" anchor="t">
            <a:normAutofit/>
          </a:bodyPr>
          <a:lstStyle/>
          <a:p>
            <a:pPr algn="l" indent="0" marL="0">
              <a:buNone/>
            </a:pPr>
            <a:r>
              <a:rPr lang="en-US" sz="890" dirty="0">
                <a:solidFill>
                  <a:srgbClr val="C8CDD4"/>
                </a:solidFill>
                <a:latin typeface="Calibri" pitchFamily="34" charset="0"/>
                <a:ea typeface="Calibri" pitchFamily="34" charset="-122"/>
                <a:cs typeface="Calibri" pitchFamily="34" charset="-120"/>
              </a:rPr>
              <a:t>← blocking issues, 24h SLA</a:t>
            </a:r>
            <a:endParaRPr lang="en-US" sz="890" dirty="0"/>
          </a:p>
        </p:txBody>
      </p:sp>
      <p:sp>
        <p:nvSpPr>
          <p:cNvPr id="10" name="Text 8"/>
          <p:cNvSpPr/>
          <p:nvPr/>
        </p:nvSpPr>
        <p:spPr>
          <a:xfrm>
            <a:off x="914400" y="2724912"/>
            <a:ext cx="1508760" cy="146304"/>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 product-cto</a:t>
            </a:r>
            <a:endParaRPr lang="en-US" sz="1100" dirty="0"/>
          </a:p>
        </p:txBody>
      </p:sp>
      <p:sp>
        <p:nvSpPr>
          <p:cNvPr id="11" name="Text 9"/>
          <p:cNvSpPr/>
          <p:nvPr/>
        </p:nvSpPr>
        <p:spPr>
          <a:xfrm>
            <a:off x="2395728" y="2724912"/>
            <a:ext cx="1463040" cy="146304"/>
          </a:xfrm>
          <a:prstGeom prst="rect">
            <a:avLst/>
          </a:prstGeom>
          <a:noFill/>
          <a:ln/>
        </p:spPr>
        <p:txBody>
          <a:bodyPr wrap="square" lIns="0" tIns="0" rIns="0" bIns="0" rtlCol="0" anchor="t">
            <a:normAutofit/>
          </a:bodyPr>
          <a:lstStyle/>
          <a:p>
            <a:pPr algn="l" indent="0" marL="0">
              <a:buNone/>
            </a:pPr>
            <a:r>
              <a:rPr lang="en-US" sz="890" dirty="0">
                <a:solidFill>
                  <a:srgbClr val="C8CDD4"/>
                </a:solidFill>
                <a:latin typeface="Calibri" pitchFamily="34" charset="0"/>
                <a:ea typeface="Calibri" pitchFamily="34" charset="-122"/>
                <a:cs typeface="Calibri" pitchFamily="34" charset="-120"/>
              </a:rPr>
              <a:t>← Arnau's domain</a:t>
            </a:r>
            <a:endParaRPr lang="en-US" sz="890" dirty="0"/>
          </a:p>
        </p:txBody>
      </p:sp>
      <p:sp>
        <p:nvSpPr>
          <p:cNvPr id="12" name="Text 10"/>
          <p:cNvSpPr/>
          <p:nvPr/>
        </p:nvSpPr>
        <p:spPr>
          <a:xfrm>
            <a:off x="914400" y="3163824"/>
            <a:ext cx="1508760" cy="146304"/>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 gtm-coo</a:t>
            </a:r>
            <a:endParaRPr lang="en-US" sz="1100" dirty="0"/>
          </a:p>
        </p:txBody>
      </p:sp>
      <p:sp>
        <p:nvSpPr>
          <p:cNvPr id="13" name="Text 11"/>
          <p:cNvSpPr/>
          <p:nvPr/>
        </p:nvSpPr>
        <p:spPr>
          <a:xfrm>
            <a:off x="2395728" y="3163824"/>
            <a:ext cx="1463040" cy="146304"/>
          </a:xfrm>
          <a:prstGeom prst="rect">
            <a:avLst/>
          </a:prstGeom>
          <a:noFill/>
          <a:ln/>
        </p:spPr>
        <p:txBody>
          <a:bodyPr wrap="square" lIns="0" tIns="0" rIns="0" bIns="0" rtlCol="0" anchor="t">
            <a:normAutofit/>
          </a:bodyPr>
          <a:lstStyle/>
          <a:p>
            <a:pPr algn="l" indent="0" marL="0">
              <a:buNone/>
            </a:pPr>
            <a:r>
              <a:rPr lang="en-US" sz="890" dirty="0">
                <a:solidFill>
                  <a:srgbClr val="C8CDD4"/>
                </a:solidFill>
                <a:latin typeface="Calibri" pitchFamily="34" charset="0"/>
                <a:ea typeface="Calibri" pitchFamily="34" charset="-122"/>
                <a:cs typeface="Calibri" pitchFamily="34" charset="-120"/>
              </a:rPr>
              <a:t>← Adam's domain</a:t>
            </a:r>
            <a:endParaRPr lang="en-US" sz="890" dirty="0"/>
          </a:p>
        </p:txBody>
      </p:sp>
      <p:sp>
        <p:nvSpPr>
          <p:cNvPr id="14" name="Text 12"/>
          <p:cNvSpPr/>
          <p:nvPr/>
        </p:nvSpPr>
        <p:spPr>
          <a:xfrm>
            <a:off x="914400" y="3602736"/>
            <a:ext cx="1508760" cy="146304"/>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 finance-cfo</a:t>
            </a:r>
            <a:endParaRPr lang="en-US" sz="1100" dirty="0"/>
          </a:p>
        </p:txBody>
      </p:sp>
      <p:sp>
        <p:nvSpPr>
          <p:cNvPr id="15" name="Text 13"/>
          <p:cNvSpPr/>
          <p:nvPr/>
        </p:nvSpPr>
        <p:spPr>
          <a:xfrm>
            <a:off x="2395728" y="3602736"/>
            <a:ext cx="1463040" cy="146304"/>
          </a:xfrm>
          <a:prstGeom prst="rect">
            <a:avLst/>
          </a:prstGeom>
          <a:noFill/>
          <a:ln/>
        </p:spPr>
        <p:txBody>
          <a:bodyPr wrap="square" lIns="0" tIns="0" rIns="0" bIns="0" rtlCol="0" anchor="t">
            <a:normAutofit/>
          </a:bodyPr>
          <a:lstStyle/>
          <a:p>
            <a:pPr algn="l" indent="0" marL="0">
              <a:buNone/>
            </a:pPr>
            <a:r>
              <a:rPr lang="en-US" sz="890" dirty="0">
                <a:solidFill>
                  <a:srgbClr val="C8CDD4"/>
                </a:solidFill>
                <a:latin typeface="Calibri" pitchFamily="34" charset="0"/>
                <a:ea typeface="Calibri" pitchFamily="34" charset="-122"/>
                <a:cs typeface="Calibri" pitchFamily="34" charset="-120"/>
              </a:rPr>
              <a:t>← Oriol's domain</a:t>
            </a:r>
            <a:endParaRPr lang="en-US" sz="890" dirty="0"/>
          </a:p>
        </p:txBody>
      </p:sp>
      <p:sp>
        <p:nvSpPr>
          <p:cNvPr id="16" name="Text 14"/>
          <p:cNvSpPr/>
          <p:nvPr/>
        </p:nvSpPr>
        <p:spPr>
          <a:xfrm>
            <a:off x="914400" y="4041648"/>
            <a:ext cx="1508760" cy="146304"/>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 resources</a:t>
            </a:r>
            <a:endParaRPr lang="en-US" sz="1100" dirty="0"/>
          </a:p>
        </p:txBody>
      </p:sp>
      <p:sp>
        <p:nvSpPr>
          <p:cNvPr id="17" name="Text 15"/>
          <p:cNvSpPr/>
          <p:nvPr/>
        </p:nvSpPr>
        <p:spPr>
          <a:xfrm>
            <a:off x="2395728" y="4041648"/>
            <a:ext cx="1463040" cy="146304"/>
          </a:xfrm>
          <a:prstGeom prst="rect">
            <a:avLst/>
          </a:prstGeom>
          <a:noFill/>
          <a:ln/>
        </p:spPr>
        <p:txBody>
          <a:bodyPr wrap="square" lIns="0" tIns="0" rIns="0" bIns="0" rtlCol="0" anchor="t">
            <a:normAutofit/>
          </a:bodyPr>
          <a:lstStyle/>
          <a:p>
            <a:pPr algn="l" indent="0" marL="0">
              <a:buNone/>
            </a:pPr>
            <a:r>
              <a:rPr lang="en-US" sz="890" dirty="0">
                <a:solidFill>
                  <a:srgbClr val="C8CDD4"/>
                </a:solidFill>
                <a:latin typeface="Calibri" pitchFamily="34" charset="0"/>
                <a:ea typeface="Calibri" pitchFamily="34" charset="-122"/>
                <a:cs typeface="Calibri" pitchFamily="34" charset="-120"/>
              </a:rPr>
              <a:t>← links to Notion + Drive</a:t>
            </a:r>
            <a:endParaRPr lang="en-US" sz="890" dirty="0"/>
          </a:p>
        </p:txBody>
      </p:sp>
      <p:sp>
        <p:nvSpPr>
          <p:cNvPr id="18" name="Text 16"/>
          <p:cNvSpPr/>
          <p:nvPr/>
        </p:nvSpPr>
        <p:spPr>
          <a:xfrm>
            <a:off x="914400" y="4480560"/>
            <a:ext cx="1508760" cy="146304"/>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 general</a:t>
            </a:r>
            <a:endParaRPr lang="en-US" sz="1100" dirty="0"/>
          </a:p>
        </p:txBody>
      </p:sp>
      <p:sp>
        <p:nvSpPr>
          <p:cNvPr id="19" name="Text 17"/>
          <p:cNvSpPr/>
          <p:nvPr/>
        </p:nvSpPr>
        <p:spPr>
          <a:xfrm>
            <a:off x="2395728" y="4480560"/>
            <a:ext cx="1463040" cy="146304"/>
          </a:xfrm>
          <a:prstGeom prst="rect">
            <a:avLst/>
          </a:prstGeom>
          <a:noFill/>
          <a:ln/>
        </p:spPr>
        <p:txBody>
          <a:bodyPr wrap="square" lIns="0" tIns="0" rIns="0" bIns="0" rtlCol="0" anchor="t">
            <a:normAutofit/>
          </a:bodyPr>
          <a:lstStyle/>
          <a:p>
            <a:pPr algn="l" indent="0" marL="0">
              <a:buNone/>
            </a:pPr>
            <a:r>
              <a:rPr lang="en-US" sz="890" dirty="0">
                <a:solidFill>
                  <a:srgbClr val="C8CDD4"/>
                </a:solidFill>
                <a:latin typeface="Calibri" pitchFamily="34" charset="0"/>
                <a:ea typeface="Calibri" pitchFamily="34" charset="-122"/>
                <a:cs typeface="Calibri" pitchFamily="34" charset="-120"/>
              </a:rPr>
              <a:t>← everything else</a:t>
            </a:r>
            <a:endParaRPr lang="en-US" sz="890" dirty="0"/>
          </a:p>
        </p:txBody>
      </p:sp>
      <p:sp>
        <p:nvSpPr>
          <p:cNvPr id="20" name="Text 18"/>
          <p:cNvSpPr/>
          <p:nvPr/>
        </p:nvSpPr>
        <p:spPr>
          <a:xfrm>
            <a:off x="914400" y="4983480"/>
            <a:ext cx="731520" cy="146304"/>
          </a:xfrm>
          <a:prstGeom prst="rect">
            <a:avLst/>
          </a:prstGeom>
          <a:noFill/>
          <a:ln/>
        </p:spPr>
        <p:txBody>
          <a:bodyPr wrap="square" lIns="0" tIns="0" rIns="0" bIns="0" rtlCol="0" anchor="t">
            <a:normAutofit/>
          </a:bodyPr>
          <a:lstStyle/>
          <a:p>
            <a:pPr algn="l" indent="0" marL="0">
              <a:buNone/>
            </a:pPr>
            <a:r>
              <a:rPr lang="en-US" sz="1100" b="1" dirty="0">
                <a:solidFill>
                  <a:srgbClr val="AAB0B7"/>
                </a:solidFill>
                <a:latin typeface="Calibri" pitchFamily="34" charset="0"/>
                <a:ea typeface="Calibri" pitchFamily="34" charset="-122"/>
                <a:cs typeface="Calibri" pitchFamily="34" charset="-120"/>
              </a:rPr>
              <a:t>VOICE</a:t>
            </a:r>
            <a:endParaRPr lang="en-US" sz="1100" dirty="0"/>
          </a:p>
        </p:txBody>
      </p:sp>
      <p:sp>
        <p:nvSpPr>
          <p:cNvPr id="21" name="Text 19"/>
          <p:cNvSpPr/>
          <p:nvPr/>
        </p:nvSpPr>
        <p:spPr>
          <a:xfrm>
            <a:off x="914400" y="5303520"/>
            <a:ext cx="1463040" cy="146304"/>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 The War Room</a:t>
            </a:r>
            <a:endParaRPr lang="en-US" sz="1100" dirty="0"/>
          </a:p>
        </p:txBody>
      </p:sp>
      <p:sp>
        <p:nvSpPr>
          <p:cNvPr id="22" name="Text 20"/>
          <p:cNvSpPr/>
          <p:nvPr/>
        </p:nvSpPr>
        <p:spPr>
          <a:xfrm>
            <a:off x="914400" y="5614416"/>
            <a:ext cx="1325880" cy="146304"/>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 Deep Work</a:t>
            </a:r>
            <a:endParaRPr lang="en-US" sz="1100" dirty="0"/>
          </a:p>
        </p:txBody>
      </p:sp>
      <p:sp>
        <p:nvSpPr>
          <p:cNvPr id="23" name="Shape 21"/>
          <p:cNvSpPr/>
          <p:nvPr/>
        </p:nvSpPr>
        <p:spPr>
          <a:xfrm>
            <a:off x="4709160" y="1234440"/>
            <a:ext cx="6812280" cy="5166360"/>
          </a:xfrm>
          <a:prstGeom prst="roundRect">
            <a:avLst>
              <a:gd name="adj" fmla="val 1416"/>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24" name="Shape 22"/>
          <p:cNvSpPr/>
          <p:nvPr/>
        </p:nvSpPr>
        <p:spPr>
          <a:xfrm>
            <a:off x="4709160" y="1234440"/>
            <a:ext cx="64008" cy="5166360"/>
          </a:xfrm>
          <a:prstGeom prst="rect">
            <a:avLst/>
          </a:prstGeom>
          <a:solidFill>
            <a:srgbClr val="4FC3F7"/>
          </a:solidFill>
          <a:ln w="12700">
            <a:solidFill>
              <a:srgbClr val="4FC3F7"/>
            </a:solidFill>
            <a:prstDash val="solid"/>
          </a:ln>
        </p:spPr>
      </p:sp>
      <p:pic>
        <p:nvPicPr>
          <p:cNvPr id="25" name="Image 0" descr="/mnt/data/xc_gradient_ppt/discord_mock.png">    </p:cNvPr>
          <p:cNvPicPr>
            <a:picLocks noChangeAspect="1"/>
          </p:cNvPicPr>
          <p:nvPr/>
        </p:nvPicPr>
        <p:blipFill>
          <a:blip r:embed="rId1"/>
          <a:stretch>
            <a:fillRect/>
          </a:stretch>
        </p:blipFill>
        <p:spPr>
          <a:xfrm>
            <a:off x="4983480" y="2047685"/>
            <a:ext cx="6309360" cy="3549015"/>
          </a:xfrm>
          <a:prstGeom prst="rect">
            <a:avLst/>
          </a:prstGeom>
        </p:spPr>
      </p:pic>
      <p:sp>
        <p:nvSpPr>
          <p:cNvPr id="26" name="Shape 23"/>
          <p:cNvSpPr/>
          <p:nvPr/>
        </p:nvSpPr>
        <p:spPr>
          <a:xfrm>
            <a:off x="8001000" y="1325880"/>
            <a:ext cx="2468880" cy="530352"/>
          </a:xfrm>
          <a:prstGeom prst="roundRect">
            <a:avLst>
              <a:gd name="adj" fmla="val 13793"/>
            </a:avLst>
          </a:prstGeom>
          <a:solidFill>
            <a:srgbClr val="FFFFFF"/>
          </a:solidFill>
          <a:ln w="12700">
            <a:solidFill>
              <a:srgbClr val="4FC3F7"/>
            </a:solidFill>
            <a:prstDash val="solid"/>
          </a:ln>
        </p:spPr>
      </p:sp>
      <p:sp>
        <p:nvSpPr>
          <p:cNvPr id="27" name="Shape 24"/>
          <p:cNvSpPr/>
          <p:nvPr/>
        </p:nvSpPr>
        <p:spPr>
          <a:xfrm>
            <a:off x="8001000" y="1325880"/>
            <a:ext cx="64008" cy="530352"/>
          </a:xfrm>
          <a:prstGeom prst="rect">
            <a:avLst/>
          </a:prstGeom>
          <a:solidFill>
            <a:srgbClr val="4FC3F7"/>
          </a:solidFill>
          <a:ln w="12700">
            <a:solidFill>
              <a:srgbClr val="4FC3F7"/>
            </a:solidFill>
            <a:prstDash val="solid"/>
          </a:ln>
        </p:spPr>
      </p:sp>
      <p:sp>
        <p:nvSpPr>
          <p:cNvPr id="28" name="Text 25"/>
          <p:cNvSpPr/>
          <p:nvPr/>
        </p:nvSpPr>
        <p:spPr>
          <a:xfrm>
            <a:off x="8147304" y="1435608"/>
            <a:ext cx="2212848" cy="384048"/>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Every resolved Discord thread ends here + in Notion</a:t>
            </a:r>
            <a:endParaRPr lang="en-US" sz="1100" dirty="0"/>
          </a:p>
        </p:txBody>
      </p:sp>
      <p:sp>
        <p:nvSpPr>
          <p:cNvPr id="29" name="Shape 26"/>
          <p:cNvSpPr/>
          <p:nvPr/>
        </p:nvSpPr>
        <p:spPr>
          <a:xfrm>
            <a:off x="8001000" y="1874520"/>
            <a:ext cx="-2286000" cy="137160"/>
          </a:xfrm>
          <a:prstGeom prst="line">
            <a:avLst/>
          </a:prstGeom>
          <a:noFill/>
          <a:ln w="22225">
            <a:solidFill>
              <a:srgbClr val="4FC3F7"/>
            </a:solidFill>
            <a:prstDash val="solid"/>
            <a:tailEnd type="triangle"/>
          </a:ln>
        </p:spPr>
      </p:sp>
      <p:sp>
        <p:nvSpPr>
          <p:cNvPr id="30" name="Shape 27"/>
          <p:cNvSpPr/>
          <p:nvPr/>
        </p:nvSpPr>
        <p:spPr>
          <a:xfrm>
            <a:off x="7818120" y="2240280"/>
            <a:ext cx="2651760" cy="530352"/>
          </a:xfrm>
          <a:prstGeom prst="roundRect">
            <a:avLst>
              <a:gd name="adj" fmla="val 13793"/>
            </a:avLst>
          </a:prstGeom>
          <a:solidFill>
            <a:srgbClr val="FFFFFF"/>
          </a:solidFill>
          <a:ln w="12700">
            <a:solidFill>
              <a:srgbClr val="4FC3F7"/>
            </a:solidFill>
            <a:prstDash val="solid"/>
          </a:ln>
        </p:spPr>
      </p:sp>
      <p:sp>
        <p:nvSpPr>
          <p:cNvPr id="31" name="Shape 28"/>
          <p:cNvSpPr/>
          <p:nvPr/>
        </p:nvSpPr>
        <p:spPr>
          <a:xfrm>
            <a:off x="7818120" y="2240280"/>
            <a:ext cx="64008" cy="530352"/>
          </a:xfrm>
          <a:prstGeom prst="rect">
            <a:avLst/>
          </a:prstGeom>
          <a:solidFill>
            <a:srgbClr val="4FC3F7"/>
          </a:solidFill>
          <a:ln w="12700">
            <a:solidFill>
              <a:srgbClr val="4FC3F7"/>
            </a:solidFill>
            <a:prstDash val="solid"/>
          </a:ln>
        </p:spPr>
      </p:sp>
      <p:sp>
        <p:nvSpPr>
          <p:cNvPr id="32" name="Text 29"/>
          <p:cNvSpPr/>
          <p:nvPr/>
        </p:nvSpPr>
        <p:spPr>
          <a:xfrm>
            <a:off x="7964424" y="2350008"/>
            <a:ext cx="2395728" cy="384048"/>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24h response SLA. If it's here, it's urgent.</a:t>
            </a:r>
            <a:endParaRPr lang="en-US" sz="1100" dirty="0"/>
          </a:p>
        </p:txBody>
      </p:sp>
      <p:sp>
        <p:nvSpPr>
          <p:cNvPr id="33" name="Shape 30"/>
          <p:cNvSpPr/>
          <p:nvPr/>
        </p:nvSpPr>
        <p:spPr>
          <a:xfrm>
            <a:off x="7818120" y="2788920"/>
            <a:ext cx="-2148840" cy="-457200"/>
          </a:xfrm>
          <a:prstGeom prst="line">
            <a:avLst/>
          </a:prstGeom>
          <a:noFill/>
          <a:ln w="22225">
            <a:solidFill>
              <a:srgbClr val="4FC3F7"/>
            </a:solidFill>
            <a:prstDash val="solid"/>
            <a:tailEnd type="triangle"/>
          </a:ln>
        </p:spPr>
      </p:sp>
      <p:sp>
        <p:nvSpPr>
          <p:cNvPr id="34" name="Shape 31"/>
          <p:cNvSpPr/>
          <p:nvPr/>
        </p:nvSpPr>
        <p:spPr>
          <a:xfrm>
            <a:off x="7909560" y="5349240"/>
            <a:ext cx="2560320" cy="530352"/>
          </a:xfrm>
          <a:prstGeom prst="roundRect">
            <a:avLst>
              <a:gd name="adj" fmla="val 13793"/>
            </a:avLst>
          </a:prstGeom>
          <a:solidFill>
            <a:srgbClr val="FFFFFF"/>
          </a:solidFill>
          <a:ln w="12700">
            <a:solidFill>
              <a:srgbClr val="4FC3F7"/>
            </a:solidFill>
            <a:prstDash val="solid"/>
          </a:ln>
        </p:spPr>
      </p:sp>
      <p:sp>
        <p:nvSpPr>
          <p:cNvPr id="35" name="Shape 32"/>
          <p:cNvSpPr/>
          <p:nvPr/>
        </p:nvSpPr>
        <p:spPr>
          <a:xfrm>
            <a:off x="7909560" y="5349240"/>
            <a:ext cx="64008" cy="530352"/>
          </a:xfrm>
          <a:prstGeom prst="rect">
            <a:avLst/>
          </a:prstGeom>
          <a:solidFill>
            <a:srgbClr val="4FC3F7"/>
          </a:solidFill>
          <a:ln w="12700">
            <a:solidFill>
              <a:srgbClr val="4FC3F7"/>
            </a:solidFill>
            <a:prstDash val="solid"/>
          </a:ln>
        </p:spPr>
      </p:sp>
      <p:sp>
        <p:nvSpPr>
          <p:cNvPr id="36" name="Text 33"/>
          <p:cNvSpPr/>
          <p:nvPr/>
        </p:nvSpPr>
        <p:spPr>
          <a:xfrm>
            <a:off x="8055864" y="5458968"/>
            <a:ext cx="2304288" cy="384048"/>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Silent co-working. Join to signal focus mode.</a:t>
            </a:r>
            <a:endParaRPr lang="en-US" sz="1100" dirty="0"/>
          </a:p>
        </p:txBody>
      </p:sp>
      <p:sp>
        <p:nvSpPr>
          <p:cNvPr id="37" name="Shape 34"/>
          <p:cNvSpPr/>
          <p:nvPr/>
        </p:nvSpPr>
        <p:spPr>
          <a:xfrm>
            <a:off x="7909560" y="5413248"/>
            <a:ext cx="-2011680" cy="-612648"/>
          </a:xfrm>
          <a:prstGeom prst="line">
            <a:avLst/>
          </a:prstGeom>
          <a:noFill/>
          <a:ln w="22225">
            <a:solidFill>
              <a:srgbClr val="4FC3F7"/>
            </a:solidFill>
            <a:prstDash val="solid"/>
            <a:tailEnd type="triangle"/>
          </a:ln>
        </p:spPr>
      </p:sp>
      <p:sp>
        <p:nvSpPr>
          <p:cNvPr id="38" name="Shape 35"/>
          <p:cNvSpPr/>
          <p:nvPr/>
        </p:nvSpPr>
        <p:spPr>
          <a:xfrm>
            <a:off x="868680" y="5989320"/>
            <a:ext cx="10927080" cy="457200"/>
          </a:xfrm>
          <a:prstGeom prst="roundRect">
            <a:avLst>
              <a:gd name="adj" fmla="val 16000"/>
            </a:avLst>
          </a:prstGeom>
          <a:solidFill>
            <a:srgbClr val="FFFFFF"/>
          </a:solidFill>
          <a:ln w="12700">
            <a:solidFill>
              <a:srgbClr val="F96167"/>
            </a:solidFill>
            <a:prstDash val="solid"/>
          </a:ln>
        </p:spPr>
      </p:sp>
      <p:sp>
        <p:nvSpPr>
          <p:cNvPr id="39" name="Shape 36"/>
          <p:cNvSpPr/>
          <p:nvPr/>
        </p:nvSpPr>
        <p:spPr>
          <a:xfrm>
            <a:off x="868680" y="5989320"/>
            <a:ext cx="64008" cy="457200"/>
          </a:xfrm>
          <a:prstGeom prst="rect">
            <a:avLst/>
          </a:prstGeom>
          <a:solidFill>
            <a:srgbClr val="F96167"/>
          </a:solidFill>
          <a:ln w="12700">
            <a:solidFill>
              <a:srgbClr val="F96167"/>
            </a:solidFill>
            <a:prstDash val="solid"/>
          </a:ln>
        </p:spPr>
      </p:sp>
      <p:sp>
        <p:nvSpPr>
          <p:cNvPr id="40" name="Text 37"/>
          <p:cNvSpPr/>
          <p:nvPr/>
        </p:nvSpPr>
        <p:spPr>
          <a:xfrm>
            <a:off x="1014984" y="6099048"/>
            <a:ext cx="10671048" cy="310896"/>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The key discipline: when a thread resolves into a decision → #announcements + Decision Log in Notion. Discord is ephemeral. Notion is permanent.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Drive: binary blobs only</a:t>
            </a:r>
            <a:endParaRPr lang="en-US" sz="2500" dirty="0"/>
          </a:p>
        </p:txBody>
      </p:sp>
      <p:sp>
        <p:nvSpPr>
          <p:cNvPr id="3" name="Shape 1"/>
          <p:cNvSpPr/>
          <p:nvPr/>
        </p:nvSpPr>
        <p:spPr>
          <a:xfrm>
            <a:off x="914400" y="1417320"/>
            <a:ext cx="5623560" cy="4434840"/>
          </a:xfrm>
          <a:prstGeom prst="roundRect">
            <a:avLst>
              <a:gd name="adj" fmla="val 1649"/>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4" name="Shape 2"/>
          <p:cNvSpPr/>
          <p:nvPr/>
        </p:nvSpPr>
        <p:spPr>
          <a:xfrm>
            <a:off x="914400" y="1417320"/>
            <a:ext cx="64008" cy="4434840"/>
          </a:xfrm>
          <a:prstGeom prst="rect">
            <a:avLst/>
          </a:prstGeom>
          <a:solidFill>
            <a:srgbClr val="4FC3F7"/>
          </a:solidFill>
          <a:ln w="12700">
            <a:solidFill>
              <a:srgbClr val="4FC3F7"/>
            </a:solidFill>
            <a:prstDash val="solid"/>
          </a:ln>
        </p:spPr>
      </p:sp>
      <p:sp>
        <p:nvSpPr>
          <p:cNvPr id="5" name="Text 3"/>
          <p:cNvSpPr/>
          <p:nvPr/>
        </p:nvSpPr>
        <p:spPr>
          <a:xfrm>
            <a:off x="1188720" y="1719072"/>
            <a:ext cx="1920240" cy="164592"/>
          </a:xfrm>
          <a:prstGeom prst="rect">
            <a:avLst/>
          </a:prstGeom>
          <a:noFill/>
          <a:ln/>
        </p:spPr>
        <p:txBody>
          <a:bodyPr wrap="square" lIns="0" tIns="0" rIns="0" bIns="0" rtlCol="0" anchor="t">
            <a:normAutofit/>
          </a:bodyPr>
          <a:lstStyle/>
          <a:p>
            <a:pPr algn="l" indent="0" marL="0">
              <a:buNone/>
            </a:pPr>
            <a:r>
              <a:rPr lang="en-US" sz="1400" b="1" dirty="0">
                <a:solidFill>
                  <a:srgbClr val="1E2761"/>
                </a:solidFill>
                <a:latin typeface="Calibri" pitchFamily="34" charset="0"/>
                <a:ea typeface="Calibri" pitchFamily="34" charset="-122"/>
                <a:cs typeface="Calibri" pitchFamily="34" charset="-120"/>
              </a:rPr>
              <a:t>What goes in Drive</a:t>
            </a:r>
            <a:endParaRPr lang="en-US" sz="14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88720" y="2084832"/>
            <a:ext cx="201168" cy="201168"/>
          </a:xfrm>
          <a:prstGeom prst="rect">
            <a:avLst/>
          </a:prstGeom>
        </p:spPr>
      </p:pic>
      <p:sp>
        <p:nvSpPr>
          <p:cNvPr id="7" name="Text 4"/>
          <p:cNvSpPr/>
          <p:nvPr/>
        </p:nvSpPr>
        <p:spPr>
          <a:xfrm>
            <a:off x="1508760" y="2075688"/>
            <a:ext cx="1371600" cy="128016"/>
          </a:xfrm>
          <a:prstGeom prst="rect">
            <a:avLst/>
          </a:prstGeom>
          <a:noFill/>
          <a:ln/>
        </p:spPr>
        <p:txBody>
          <a:bodyPr wrap="square" lIns="0" tIns="0" rIns="0" bIns="0" rtlCol="0" anchor="t">
            <a:normAutofit/>
          </a:bodyPr>
          <a:lstStyle/>
          <a:p>
            <a:pPr algn="l" indent="0" marL="0">
              <a:buNone/>
            </a:pPr>
            <a:r>
              <a:rPr lang="en-US" sz="1120" b="1" dirty="0">
                <a:solidFill>
                  <a:srgbClr val="1E2761"/>
                </a:solidFill>
                <a:latin typeface="Calibri" pitchFamily="34" charset="0"/>
                <a:ea typeface="Calibri" pitchFamily="34" charset="-122"/>
                <a:cs typeface="Calibri" pitchFamily="34" charset="-120"/>
              </a:rPr>
              <a:t>PPT decks</a:t>
            </a:r>
            <a:endParaRPr lang="en-US" sz="1120" dirty="0"/>
          </a:p>
        </p:txBody>
      </p:sp>
      <p:sp>
        <p:nvSpPr>
          <p:cNvPr id="8" name="Text 5"/>
          <p:cNvSpPr/>
          <p:nvPr/>
        </p:nvSpPr>
        <p:spPr>
          <a:xfrm>
            <a:off x="2743200" y="2075688"/>
            <a:ext cx="3383280" cy="128016"/>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Weekly sync presentations (3 per week, one per person)</a:t>
            </a:r>
            <a:endParaRPr lang="en-US" sz="101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88720" y="2633472"/>
            <a:ext cx="201168" cy="201168"/>
          </a:xfrm>
          <a:prstGeom prst="rect">
            <a:avLst/>
          </a:prstGeom>
        </p:spPr>
      </p:pic>
      <p:sp>
        <p:nvSpPr>
          <p:cNvPr id="10" name="Text 6"/>
          <p:cNvSpPr/>
          <p:nvPr/>
        </p:nvSpPr>
        <p:spPr>
          <a:xfrm>
            <a:off x="1508760" y="2624328"/>
            <a:ext cx="1371600" cy="128016"/>
          </a:xfrm>
          <a:prstGeom prst="rect">
            <a:avLst/>
          </a:prstGeom>
          <a:noFill/>
          <a:ln/>
        </p:spPr>
        <p:txBody>
          <a:bodyPr wrap="square" lIns="0" tIns="0" rIns="0" bIns="0" rtlCol="0" anchor="t">
            <a:normAutofit/>
          </a:bodyPr>
          <a:lstStyle/>
          <a:p>
            <a:pPr algn="l" indent="0" marL="0">
              <a:buNone/>
            </a:pPr>
            <a:r>
              <a:rPr lang="en-US" sz="1120" b="1" dirty="0">
                <a:solidFill>
                  <a:srgbClr val="1E2761"/>
                </a:solidFill>
                <a:latin typeface="Calibri" pitchFamily="34" charset="0"/>
                <a:ea typeface="Calibri" pitchFamily="34" charset="-122"/>
                <a:cs typeface="Calibri" pitchFamily="34" charset="-120"/>
              </a:rPr>
              <a:t>Contracts &amp; legal</a:t>
            </a:r>
            <a:endParaRPr lang="en-US" sz="1120" dirty="0"/>
          </a:p>
        </p:txBody>
      </p:sp>
      <p:sp>
        <p:nvSpPr>
          <p:cNvPr id="11" name="Text 7"/>
          <p:cNvSpPr/>
          <p:nvPr/>
        </p:nvSpPr>
        <p:spPr>
          <a:xfrm>
            <a:off x="2743200" y="2624328"/>
            <a:ext cx="3383280" cy="128016"/>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NDAs, PoC agreements, future commercial contracts</a:t>
            </a:r>
            <a:endParaRPr lang="en-US" sz="101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88720" y="3182112"/>
            <a:ext cx="201168" cy="201168"/>
          </a:xfrm>
          <a:prstGeom prst="rect">
            <a:avLst/>
          </a:prstGeom>
        </p:spPr>
      </p:pic>
      <p:sp>
        <p:nvSpPr>
          <p:cNvPr id="13" name="Text 8"/>
          <p:cNvSpPr/>
          <p:nvPr/>
        </p:nvSpPr>
        <p:spPr>
          <a:xfrm>
            <a:off x="1508760" y="3172968"/>
            <a:ext cx="1371600" cy="128016"/>
          </a:xfrm>
          <a:prstGeom prst="rect">
            <a:avLst/>
          </a:prstGeom>
          <a:noFill/>
          <a:ln/>
        </p:spPr>
        <p:txBody>
          <a:bodyPr wrap="square" lIns="0" tIns="0" rIns="0" bIns="0" rtlCol="0" anchor="t">
            <a:normAutofit/>
          </a:bodyPr>
          <a:lstStyle/>
          <a:p>
            <a:pPr algn="l" indent="0" marL="0">
              <a:buNone/>
            </a:pPr>
            <a:r>
              <a:rPr lang="en-US" sz="1120" b="1" dirty="0">
                <a:solidFill>
                  <a:srgbClr val="1E2761"/>
                </a:solidFill>
                <a:latin typeface="Calibri" pitchFamily="34" charset="0"/>
                <a:ea typeface="Calibri" pitchFamily="34" charset="-122"/>
                <a:cs typeface="Calibri" pitchFamily="34" charset="-120"/>
              </a:rPr>
              <a:t>Invoices &amp; receipts</a:t>
            </a:r>
            <a:endParaRPr lang="en-US" sz="1120" dirty="0"/>
          </a:p>
        </p:txBody>
      </p:sp>
      <p:sp>
        <p:nvSpPr>
          <p:cNvPr id="14" name="Text 9"/>
          <p:cNvSpPr/>
          <p:nvPr/>
        </p:nvSpPr>
        <p:spPr>
          <a:xfrm>
            <a:off x="2743200" y="3172968"/>
            <a:ext cx="3383280" cy="128016"/>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Financial paper trail for CFO close</a:t>
            </a:r>
            <a:endParaRPr lang="en-US" sz="101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88720" y="3730752"/>
            <a:ext cx="201168" cy="201168"/>
          </a:xfrm>
          <a:prstGeom prst="rect">
            <a:avLst/>
          </a:prstGeom>
        </p:spPr>
      </p:pic>
      <p:sp>
        <p:nvSpPr>
          <p:cNvPr id="16" name="Text 10"/>
          <p:cNvSpPr/>
          <p:nvPr/>
        </p:nvSpPr>
        <p:spPr>
          <a:xfrm>
            <a:off x="1508760" y="3721608"/>
            <a:ext cx="1371600" cy="128016"/>
          </a:xfrm>
          <a:prstGeom prst="rect">
            <a:avLst/>
          </a:prstGeom>
          <a:noFill/>
          <a:ln/>
        </p:spPr>
        <p:txBody>
          <a:bodyPr wrap="square" lIns="0" tIns="0" rIns="0" bIns="0" rtlCol="0" anchor="t">
            <a:normAutofit/>
          </a:bodyPr>
          <a:lstStyle/>
          <a:p>
            <a:pPr algn="l" indent="0" marL="0">
              <a:buNone/>
            </a:pPr>
            <a:r>
              <a:rPr lang="en-US" sz="1120" b="1" dirty="0">
                <a:solidFill>
                  <a:srgbClr val="1E2761"/>
                </a:solidFill>
                <a:latin typeface="Calibri" pitchFamily="34" charset="0"/>
                <a:ea typeface="Calibri" pitchFamily="34" charset="-122"/>
                <a:cs typeface="Calibri" pitchFamily="34" charset="-120"/>
              </a:rPr>
              <a:t>Large exports</a:t>
            </a:r>
            <a:endParaRPr lang="en-US" sz="1120" dirty="0"/>
          </a:p>
        </p:txBody>
      </p:sp>
      <p:sp>
        <p:nvSpPr>
          <p:cNvPr id="17" name="Text 11"/>
          <p:cNvSpPr/>
          <p:nvPr/>
        </p:nvSpPr>
        <p:spPr>
          <a:xfrm>
            <a:off x="2743200" y="3721608"/>
            <a:ext cx="3383280" cy="128016"/>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Dataset CSVs, model checkpoints, financial exports</a:t>
            </a:r>
            <a:endParaRPr lang="en-US" sz="1010" dirty="0"/>
          </a:p>
        </p:txBody>
      </p:sp>
      <p:sp>
        <p:nvSpPr>
          <p:cNvPr id="18" name="Shape 12"/>
          <p:cNvSpPr/>
          <p:nvPr/>
        </p:nvSpPr>
        <p:spPr>
          <a:xfrm>
            <a:off x="1188720" y="4343400"/>
            <a:ext cx="4754880" cy="0"/>
          </a:xfrm>
          <a:prstGeom prst="line">
            <a:avLst/>
          </a:prstGeom>
          <a:noFill/>
          <a:ln w="12700">
            <a:solidFill>
              <a:srgbClr val="D9E4F2"/>
            </a:solidFill>
            <a:prstDash val="solid"/>
          </a:ln>
        </p:spPr>
      </p:sp>
      <p:sp>
        <p:nvSpPr>
          <p:cNvPr id="19" name="Text 13"/>
          <p:cNvSpPr/>
          <p:nvPr/>
        </p:nvSpPr>
        <p:spPr>
          <a:xfrm>
            <a:off x="1188720" y="4553712"/>
            <a:ext cx="2286000" cy="164592"/>
          </a:xfrm>
          <a:prstGeom prst="rect">
            <a:avLst/>
          </a:prstGeom>
          <a:noFill/>
          <a:ln/>
        </p:spPr>
        <p:txBody>
          <a:bodyPr wrap="square" lIns="0" tIns="0" rIns="0" bIns="0" rtlCol="0" anchor="t">
            <a:normAutofit/>
          </a:bodyPr>
          <a:lstStyle/>
          <a:p>
            <a:pPr algn="l" indent="0" marL="0">
              <a:buNone/>
            </a:pPr>
            <a:r>
              <a:rPr lang="en-US" sz="1400" b="1" dirty="0">
                <a:solidFill>
                  <a:srgbClr val="1E2761"/>
                </a:solidFill>
                <a:latin typeface="Calibri" pitchFamily="34" charset="0"/>
                <a:ea typeface="Calibri" pitchFamily="34" charset="-122"/>
                <a:cs typeface="Calibri" pitchFamily="34" charset="-120"/>
              </a:rPr>
              <a:t>What does NOT go in Drive</a:t>
            </a:r>
            <a:endParaRPr lang="en-US" sz="140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88720" y="4919472"/>
            <a:ext cx="201168" cy="201168"/>
          </a:xfrm>
          <a:prstGeom prst="rect">
            <a:avLst/>
          </a:prstGeom>
        </p:spPr>
      </p:pic>
      <p:sp>
        <p:nvSpPr>
          <p:cNvPr id="21" name="Text 14"/>
          <p:cNvSpPr/>
          <p:nvPr/>
        </p:nvSpPr>
        <p:spPr>
          <a:xfrm>
            <a:off x="1508760" y="4910328"/>
            <a:ext cx="1234440" cy="128016"/>
          </a:xfrm>
          <a:prstGeom prst="rect">
            <a:avLst/>
          </a:prstGeom>
          <a:noFill/>
          <a:ln/>
        </p:spPr>
        <p:txBody>
          <a:bodyPr wrap="square" lIns="0" tIns="0" rIns="0" bIns="0" rtlCol="0" anchor="t">
            <a:normAutofit/>
          </a:bodyPr>
          <a:lstStyle/>
          <a:p>
            <a:pPr algn="l" indent="0" marL="0">
              <a:buNone/>
            </a:pPr>
            <a:r>
              <a:rPr lang="en-US" sz="1120" b="1" dirty="0">
                <a:solidFill>
                  <a:srgbClr val="1E2761"/>
                </a:solidFill>
                <a:latin typeface="Calibri" pitchFamily="34" charset="0"/>
                <a:ea typeface="Calibri" pitchFamily="34" charset="-122"/>
                <a:cs typeface="Calibri" pitchFamily="34" charset="-120"/>
              </a:rPr>
              <a:t>Meeting notes</a:t>
            </a:r>
            <a:endParaRPr lang="en-US" sz="1120" dirty="0"/>
          </a:p>
        </p:txBody>
      </p:sp>
      <p:sp>
        <p:nvSpPr>
          <p:cNvPr id="22" name="Text 15"/>
          <p:cNvSpPr/>
          <p:nvPr/>
        </p:nvSpPr>
        <p:spPr>
          <a:xfrm>
            <a:off x="2743200" y="4910328"/>
            <a:ext cx="3108960" cy="128016"/>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Those go in Notion Weekly Syncs</a:t>
            </a:r>
            <a:endParaRPr lang="en-US" sz="1010" dirty="0"/>
          </a:p>
        </p:txBody>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88720" y="5358384"/>
            <a:ext cx="201168" cy="201168"/>
          </a:xfrm>
          <a:prstGeom prst="rect">
            <a:avLst/>
          </a:prstGeom>
        </p:spPr>
      </p:pic>
      <p:sp>
        <p:nvSpPr>
          <p:cNvPr id="24" name="Text 16"/>
          <p:cNvSpPr/>
          <p:nvPr/>
        </p:nvSpPr>
        <p:spPr>
          <a:xfrm>
            <a:off x="1508760" y="5349240"/>
            <a:ext cx="1234440" cy="128016"/>
          </a:xfrm>
          <a:prstGeom prst="rect">
            <a:avLst/>
          </a:prstGeom>
          <a:noFill/>
          <a:ln/>
        </p:spPr>
        <p:txBody>
          <a:bodyPr wrap="square" lIns="0" tIns="0" rIns="0" bIns="0" rtlCol="0" anchor="t">
            <a:normAutofit/>
          </a:bodyPr>
          <a:lstStyle/>
          <a:p>
            <a:pPr algn="l" indent="0" marL="0">
              <a:buNone/>
            </a:pPr>
            <a:r>
              <a:rPr lang="en-US" sz="1120" b="1" dirty="0">
                <a:solidFill>
                  <a:srgbClr val="1E2761"/>
                </a:solidFill>
                <a:latin typeface="Calibri" pitchFamily="34" charset="0"/>
                <a:ea typeface="Calibri" pitchFamily="34" charset="-122"/>
                <a:cs typeface="Calibri" pitchFamily="34" charset="-120"/>
              </a:rPr>
              <a:t>Decisions</a:t>
            </a:r>
            <a:endParaRPr lang="en-US" sz="1120" dirty="0"/>
          </a:p>
        </p:txBody>
      </p:sp>
      <p:sp>
        <p:nvSpPr>
          <p:cNvPr id="25" name="Text 17"/>
          <p:cNvSpPr/>
          <p:nvPr/>
        </p:nvSpPr>
        <p:spPr>
          <a:xfrm>
            <a:off x="2743200" y="5349240"/>
            <a:ext cx="3108960" cy="128016"/>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Those go in Notion Decision Log</a:t>
            </a:r>
            <a:endParaRPr lang="en-US" sz="1010" dirty="0"/>
          </a:p>
        </p:txBody>
      </p:sp>
      <p:pic>
        <p:nvPicPr>
          <p:cNvPr id="2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88720" y="5797296"/>
            <a:ext cx="201168" cy="201168"/>
          </a:xfrm>
          <a:prstGeom prst="rect">
            <a:avLst/>
          </a:prstGeom>
        </p:spPr>
      </p:pic>
      <p:sp>
        <p:nvSpPr>
          <p:cNvPr id="27" name="Text 18"/>
          <p:cNvSpPr/>
          <p:nvPr/>
        </p:nvSpPr>
        <p:spPr>
          <a:xfrm>
            <a:off x="1508760" y="5788152"/>
            <a:ext cx="1234440" cy="128016"/>
          </a:xfrm>
          <a:prstGeom prst="rect">
            <a:avLst/>
          </a:prstGeom>
          <a:noFill/>
          <a:ln/>
        </p:spPr>
        <p:txBody>
          <a:bodyPr wrap="square" lIns="0" tIns="0" rIns="0" bIns="0" rtlCol="0" anchor="t">
            <a:normAutofit/>
          </a:bodyPr>
          <a:lstStyle/>
          <a:p>
            <a:pPr algn="l" indent="0" marL="0">
              <a:buNone/>
            </a:pPr>
            <a:r>
              <a:rPr lang="en-US" sz="1120" b="1" dirty="0">
                <a:solidFill>
                  <a:srgbClr val="1E2761"/>
                </a:solidFill>
                <a:latin typeface="Calibri" pitchFamily="34" charset="0"/>
                <a:ea typeface="Calibri" pitchFamily="34" charset="-122"/>
                <a:cs typeface="Calibri" pitchFamily="34" charset="-120"/>
              </a:rPr>
              <a:t>Goal tracking</a:t>
            </a:r>
            <a:endParaRPr lang="en-US" sz="1120" dirty="0"/>
          </a:p>
        </p:txBody>
      </p:sp>
      <p:sp>
        <p:nvSpPr>
          <p:cNvPr id="28" name="Text 19"/>
          <p:cNvSpPr/>
          <p:nvPr/>
        </p:nvSpPr>
        <p:spPr>
          <a:xfrm>
            <a:off x="2743200" y="5788152"/>
            <a:ext cx="3108960" cy="128016"/>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That's Notion Goals &amp; OKRs</a:t>
            </a:r>
            <a:endParaRPr lang="en-US" sz="1010" dirty="0"/>
          </a:p>
        </p:txBody>
      </p:sp>
      <p:sp>
        <p:nvSpPr>
          <p:cNvPr id="29" name="Shape 20"/>
          <p:cNvSpPr/>
          <p:nvPr/>
        </p:nvSpPr>
        <p:spPr>
          <a:xfrm>
            <a:off x="6858000" y="1874520"/>
            <a:ext cx="4434840" cy="3246120"/>
          </a:xfrm>
          <a:prstGeom prst="roundRect">
            <a:avLst>
              <a:gd name="adj" fmla="val 2254"/>
            </a:avLst>
          </a:prstGeom>
          <a:solidFill>
            <a:srgbClr val="F1F5FA"/>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30" name="Shape 21"/>
          <p:cNvSpPr/>
          <p:nvPr/>
        </p:nvSpPr>
        <p:spPr>
          <a:xfrm>
            <a:off x="6858000" y="1874520"/>
            <a:ext cx="64008" cy="3246120"/>
          </a:xfrm>
          <a:prstGeom prst="rect">
            <a:avLst/>
          </a:prstGeom>
          <a:solidFill>
            <a:srgbClr val="4FC3F7"/>
          </a:solidFill>
          <a:ln w="12700">
            <a:solidFill>
              <a:srgbClr val="4FC3F7"/>
            </a:solidFill>
            <a:prstDash val="solid"/>
          </a:ln>
        </p:spPr>
      </p:sp>
      <p:sp>
        <p:nvSpPr>
          <p:cNvPr id="31" name="Text 22"/>
          <p:cNvSpPr/>
          <p:nvPr/>
        </p:nvSpPr>
        <p:spPr>
          <a:xfrm>
            <a:off x="7132320" y="2148840"/>
            <a:ext cx="914400" cy="128016"/>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ourier New" pitchFamily="34" charset="0"/>
                <a:ea typeface="Courier New" pitchFamily="34" charset="-122"/>
                <a:cs typeface="Courier New" pitchFamily="34" charset="-120"/>
              </a:rPr>
              <a:t>Drive/</a:t>
            </a:r>
            <a:endParaRPr lang="en-US" sz="1150" dirty="0"/>
          </a:p>
        </p:txBody>
      </p:sp>
      <p:sp>
        <p:nvSpPr>
          <p:cNvPr id="32" name="Text 23"/>
          <p:cNvSpPr/>
          <p:nvPr/>
        </p:nvSpPr>
        <p:spPr>
          <a:xfrm>
            <a:off x="7132320" y="2423160"/>
            <a:ext cx="3749040" cy="2240280"/>
          </a:xfrm>
          <a:prstGeom prst="rect">
            <a:avLst/>
          </a:prstGeom>
          <a:noFill/>
          <a:ln/>
        </p:spPr>
        <p:txBody>
          <a:bodyPr wrap="square" lIns="0" tIns="0" rIns="0" bIns="0" rtlCol="0" anchor="t">
            <a:normAutofit/>
          </a:bodyPr>
          <a:lstStyle/>
          <a:p>
            <a:pPr algn="l" indent="0" marL="0">
              <a:buNone/>
            </a:pPr>
            <a:r>
              <a:rPr lang="en-US" sz="1020" dirty="0">
                <a:solidFill>
                  <a:srgbClr val="1E2761"/>
                </a:solidFill>
                <a:latin typeface="Courier New" pitchFamily="34" charset="0"/>
                <a:ea typeface="Courier New" pitchFamily="34" charset="-122"/>
                <a:cs typeface="Courier New" pitchFamily="34" charset="-120"/>
              </a:rPr>
              <a:t>├── Weekly Syncs/</a:t>
            </a:r>
            <a:endParaRPr lang="en-US" sz="1020" dirty="0"/>
          </a:p>
          <a:p>
            <a:pPr algn="l" indent="0" marL="0">
              <a:buNone/>
            </a:pPr>
            <a:r>
              <a:rPr lang="en-US" sz="1020" dirty="0">
                <a:solidFill>
                  <a:srgbClr val="1E2761"/>
                </a:solidFill>
                <a:latin typeface="Courier New" pitchFamily="34" charset="0"/>
                <a:ea typeface="Courier New" pitchFamily="34" charset="-122"/>
                <a:cs typeface="Courier New" pitchFamily="34" charset="-120"/>
              </a:rPr>
              <a:t>│   └── 2026-W15_2026-04-07/</a:t>
            </a:r>
            <a:endParaRPr lang="en-US" sz="1020" dirty="0"/>
          </a:p>
          <a:p>
            <a:pPr algn="l" indent="0" marL="0">
              <a:buNone/>
            </a:pPr>
            <a:r>
              <a:rPr lang="en-US" sz="1020" dirty="0">
                <a:solidFill>
                  <a:srgbClr val="1E2761"/>
                </a:solidFill>
                <a:latin typeface="Courier New" pitchFamily="34" charset="0"/>
                <a:ea typeface="Courier New" pitchFamily="34" charset="-122"/>
                <a:cs typeface="Courier New" pitchFamily="34" charset="-120"/>
              </a:rPr>
              <a:t>│       ├── oriol_w15.pptx</a:t>
            </a:r>
            <a:endParaRPr lang="en-US" sz="1020" dirty="0"/>
          </a:p>
          <a:p>
            <a:pPr algn="l" indent="0" marL="0">
              <a:buNone/>
            </a:pPr>
            <a:r>
              <a:rPr lang="en-US" sz="1020" dirty="0">
                <a:solidFill>
                  <a:srgbClr val="1E2761"/>
                </a:solidFill>
                <a:latin typeface="Courier New" pitchFamily="34" charset="0"/>
                <a:ea typeface="Courier New" pitchFamily="34" charset="-122"/>
                <a:cs typeface="Courier New" pitchFamily="34" charset="-120"/>
              </a:rPr>
              <a:t>│       ├── arnau_w15.pptx</a:t>
            </a:r>
            <a:endParaRPr lang="en-US" sz="1020" dirty="0"/>
          </a:p>
          <a:p>
            <a:pPr algn="l" indent="0" marL="0">
              <a:buNone/>
            </a:pPr>
            <a:r>
              <a:rPr lang="en-US" sz="1020" dirty="0">
                <a:solidFill>
                  <a:srgbClr val="1E2761"/>
                </a:solidFill>
                <a:latin typeface="Courier New" pitchFamily="34" charset="0"/>
                <a:ea typeface="Courier New" pitchFamily="34" charset="-122"/>
                <a:cs typeface="Courier New" pitchFamily="34" charset="-120"/>
              </a:rPr>
              <a:t>│       ├── adam_w15.pptx</a:t>
            </a:r>
            <a:endParaRPr lang="en-US" sz="1020" dirty="0"/>
          </a:p>
          <a:p>
            <a:pPr algn="l" indent="0" marL="0">
              <a:buNone/>
            </a:pPr>
            <a:r>
              <a:rPr lang="en-US" sz="1020" dirty="0">
                <a:solidFill>
                  <a:srgbClr val="1E2761"/>
                </a:solidFill>
                <a:latin typeface="Courier New" pitchFamily="34" charset="0"/>
                <a:ea typeface="Courier New" pitchFamily="34" charset="-122"/>
                <a:cs typeface="Courier New" pitchFamily="34" charset="-120"/>
              </a:rPr>
              <a:t>│       └── adam_notes_w15.txt</a:t>
            </a:r>
            <a:endParaRPr lang="en-US" sz="1020" dirty="0"/>
          </a:p>
          <a:p>
            <a:pPr algn="l" indent="0" marL="0">
              <a:buNone/>
            </a:pPr>
            <a:r>
              <a:rPr lang="en-US" sz="1020" dirty="0">
                <a:solidFill>
                  <a:srgbClr val="1E2761"/>
                </a:solidFill>
                <a:latin typeface="Courier New" pitchFamily="34" charset="0"/>
                <a:ea typeface="Courier New" pitchFamily="34" charset="-122"/>
                <a:cs typeface="Courier New" pitchFamily="34" charset="-120"/>
              </a:rPr>
              <a:t>├── Contracts/</a:t>
            </a:r>
            <a:endParaRPr lang="en-US" sz="1020" dirty="0"/>
          </a:p>
          <a:p>
            <a:pPr algn="l" indent="0" marL="0">
              <a:buNone/>
            </a:pPr>
            <a:r>
              <a:rPr lang="en-US" sz="1020" dirty="0">
                <a:solidFill>
                  <a:srgbClr val="1E2761"/>
                </a:solidFill>
                <a:latin typeface="Courier New" pitchFamily="34" charset="0"/>
                <a:ea typeface="Courier New" pitchFamily="34" charset="-122"/>
                <a:cs typeface="Courier New" pitchFamily="34" charset="-120"/>
              </a:rPr>
              <a:t>├── Finance/</a:t>
            </a:r>
            <a:endParaRPr lang="en-US" sz="1020" dirty="0"/>
          </a:p>
          <a:p>
            <a:pPr algn="l" indent="0" marL="0">
              <a:buNone/>
            </a:pPr>
            <a:r>
              <a:rPr lang="en-US" sz="1020" dirty="0">
                <a:solidFill>
                  <a:srgbClr val="1E2761"/>
                </a:solidFill>
                <a:latin typeface="Courier New" pitchFamily="34" charset="0"/>
                <a:ea typeface="Courier New" pitchFamily="34" charset="-122"/>
                <a:cs typeface="Courier New" pitchFamily="34" charset="-120"/>
              </a:rPr>
              <a:t>└── Thesis/</a:t>
            </a:r>
            <a:endParaRPr lang="en-US" sz="10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28600" y="594360"/>
            <a:ext cx="11704320" cy="1554480"/>
          </a:xfrm>
          <a:prstGeom prst="rect">
            <a:avLst/>
          </a:prstGeom>
          <a:noFill/>
          <a:ln/>
        </p:spPr>
        <p:txBody>
          <a:bodyPr wrap="square" lIns="0" tIns="0" rIns="0" bIns="0" rtlCol="0" anchor="ctr"/>
          <a:lstStyle/>
          <a:p>
            <a:pPr algn="ctr" indent="0" marL="0">
              <a:buNone/>
            </a:pPr>
            <a:r>
              <a:rPr lang="en-US" sz="9800" b="1" dirty="0">
                <a:solidFill>
                  <a:srgbClr val="4FC3F7">
                    <a:alpha val="20000"/>
                  </a:srgbClr>
                </a:solidFill>
                <a:latin typeface="Calibri" pitchFamily="34" charset="0"/>
                <a:ea typeface="Calibri" pitchFamily="34" charset="-122"/>
                <a:cs typeface="Calibri" pitchFamily="34" charset="-120"/>
              </a:rPr>
              <a:t>06</a:t>
            </a:r>
            <a:endParaRPr lang="en-US" sz="9800" dirty="0"/>
          </a:p>
        </p:txBody>
      </p:sp>
      <p:sp>
        <p:nvSpPr>
          <p:cNvPr id="3" name="Text 1"/>
          <p:cNvSpPr/>
          <p:nvPr/>
        </p:nvSpPr>
        <p:spPr>
          <a:xfrm>
            <a:off x="1097280" y="2697480"/>
            <a:ext cx="996696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Never Lose a Decision Again</a:t>
            </a:r>
            <a:endParaRPr lang="en-US" sz="3000" dirty="0"/>
          </a:p>
        </p:txBody>
      </p:sp>
      <p:sp>
        <p:nvSpPr>
          <p:cNvPr id="4" name="Text 2"/>
          <p:cNvSpPr/>
          <p:nvPr/>
        </p:nvSpPr>
        <p:spPr>
          <a:xfrm>
            <a:off x="1463040" y="3291840"/>
            <a:ext cx="9235440" cy="256032"/>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The meeting archive pipeline + AI transcription system</a:t>
            </a:r>
            <a:endParaRPr lang="en-US" sz="1600" dirty="0"/>
          </a:p>
        </p:txBody>
      </p:sp>
      <p:sp>
        <p:nvSpPr>
          <p:cNvPr id="5" name="Shape 3"/>
          <p:cNvSpPr/>
          <p:nvPr/>
        </p:nvSpPr>
        <p:spPr>
          <a:xfrm>
            <a:off x="3657600" y="3886200"/>
            <a:ext cx="4846320" cy="0"/>
          </a:xfrm>
          <a:prstGeom prst="line">
            <a:avLst/>
          </a:prstGeom>
          <a:noFill/>
          <a:ln w="25400">
            <a:solidFill>
              <a:srgbClr val="4FC3F7"/>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From PPTs to permanent knowledge</a:t>
            </a:r>
            <a:endParaRPr lang="en-US" sz="2500" dirty="0"/>
          </a:p>
        </p:txBody>
      </p:sp>
      <p:sp>
        <p:nvSpPr>
          <p:cNvPr id="3" name="Shape 1"/>
          <p:cNvSpPr/>
          <p:nvPr/>
        </p:nvSpPr>
        <p:spPr>
          <a:xfrm>
            <a:off x="731520" y="1874520"/>
            <a:ext cx="1554480" cy="914400"/>
          </a:xfrm>
          <a:prstGeom prst="roundRect">
            <a:avLst>
              <a:gd name="adj" fmla="val 8000"/>
            </a:avLst>
          </a:prstGeom>
          <a:solidFill>
            <a:srgbClr val="E8EDF4"/>
          </a:solidFill>
          <a:ln w="12700">
            <a:solidFill>
              <a:srgbClr val="E8EDF4"/>
            </a:solidFill>
            <a:prstDash val="solid"/>
          </a:ln>
        </p:spPr>
      </p:sp>
      <p:sp>
        <p:nvSpPr>
          <p:cNvPr id="4" name="Text 2"/>
          <p:cNvSpPr/>
          <p:nvPr/>
        </p:nvSpPr>
        <p:spPr>
          <a:xfrm>
            <a:off x="822960" y="2130552"/>
            <a:ext cx="1371600" cy="347472"/>
          </a:xfrm>
          <a:prstGeom prst="rect">
            <a:avLst/>
          </a:prstGeom>
          <a:noFill/>
          <a:ln/>
        </p:spPr>
        <p:txBody>
          <a:bodyPr wrap="square" lIns="0" tIns="0" rIns="0" bIns="0" rtlCol="0" anchor="t">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3 PPTs</a:t>
            </a:r>
            <a:endParaRPr lang="en-US" sz="1100" dirty="0"/>
          </a:p>
          <a:p>
            <a:pPr algn="ctr" indent="0" marL="0">
              <a:buNone/>
            </a:pPr>
            <a:r>
              <a:rPr lang="en-US" sz="1100" b="1" dirty="0">
                <a:solidFill>
                  <a:srgbClr val="1E2761"/>
                </a:solidFill>
                <a:latin typeface="Calibri" pitchFamily="34" charset="0"/>
                <a:ea typeface="Calibri" pitchFamily="34" charset="-122"/>
                <a:cs typeface="Calibri" pitchFamily="34" charset="-120"/>
              </a:rPr>
              <a:t>Adam's raw notes</a:t>
            </a:r>
            <a:endParaRPr lang="en-US" sz="1100" dirty="0"/>
          </a:p>
        </p:txBody>
      </p:sp>
      <p:sp>
        <p:nvSpPr>
          <p:cNvPr id="5" name="Shape 3"/>
          <p:cNvSpPr/>
          <p:nvPr/>
        </p:nvSpPr>
        <p:spPr>
          <a:xfrm>
            <a:off x="2395728" y="2148840"/>
            <a:ext cx="256032" cy="292608"/>
          </a:xfrm>
          <a:prstGeom prst="chevron">
            <a:avLst/>
          </a:prstGeom>
          <a:solidFill>
            <a:srgbClr val="D9E4F2"/>
          </a:solidFill>
          <a:ln w="12700">
            <a:solidFill>
              <a:srgbClr val="D9E4F2"/>
            </a:solidFill>
            <a:prstDash val="solid"/>
          </a:ln>
        </p:spPr>
      </p:sp>
      <p:sp>
        <p:nvSpPr>
          <p:cNvPr id="6" name="Shape 4"/>
          <p:cNvSpPr/>
          <p:nvPr/>
        </p:nvSpPr>
        <p:spPr>
          <a:xfrm>
            <a:off x="2880360" y="1874520"/>
            <a:ext cx="1554480" cy="914400"/>
          </a:xfrm>
          <a:prstGeom prst="roundRect">
            <a:avLst>
              <a:gd name="adj" fmla="val 8000"/>
            </a:avLst>
          </a:prstGeom>
          <a:solidFill>
            <a:srgbClr val="DCEAFB"/>
          </a:solidFill>
          <a:ln w="12700">
            <a:solidFill>
              <a:srgbClr val="DCEAFB"/>
            </a:solidFill>
            <a:prstDash val="solid"/>
          </a:ln>
        </p:spPr>
      </p:sp>
      <p:sp>
        <p:nvSpPr>
          <p:cNvPr id="7" name="Text 5"/>
          <p:cNvSpPr/>
          <p:nvPr/>
        </p:nvSpPr>
        <p:spPr>
          <a:xfrm>
            <a:off x="2971800" y="2130552"/>
            <a:ext cx="1371600" cy="347472"/>
          </a:xfrm>
          <a:prstGeom prst="rect">
            <a:avLst/>
          </a:prstGeom>
          <a:noFill/>
          <a:ln/>
        </p:spPr>
        <p:txBody>
          <a:bodyPr wrap="square" lIns="0" tIns="0" rIns="0" bIns="0" rtlCol="0" anchor="t">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Claude API</a:t>
            </a:r>
            <a:endParaRPr lang="en-US" sz="1100" dirty="0"/>
          </a:p>
        </p:txBody>
      </p:sp>
      <p:sp>
        <p:nvSpPr>
          <p:cNvPr id="8" name="Shape 6"/>
          <p:cNvSpPr/>
          <p:nvPr/>
        </p:nvSpPr>
        <p:spPr>
          <a:xfrm>
            <a:off x="4544568" y="2148840"/>
            <a:ext cx="256032" cy="292608"/>
          </a:xfrm>
          <a:prstGeom prst="chevron">
            <a:avLst/>
          </a:prstGeom>
          <a:solidFill>
            <a:srgbClr val="D9E4F2"/>
          </a:solidFill>
          <a:ln w="12700">
            <a:solidFill>
              <a:srgbClr val="D9E4F2"/>
            </a:solidFill>
            <a:prstDash val="solid"/>
          </a:ln>
        </p:spPr>
      </p:sp>
      <p:sp>
        <p:nvSpPr>
          <p:cNvPr id="9" name="Shape 7"/>
          <p:cNvSpPr/>
          <p:nvPr/>
        </p:nvSpPr>
        <p:spPr>
          <a:xfrm>
            <a:off x="4892040" y="1874520"/>
            <a:ext cx="1554480" cy="914400"/>
          </a:xfrm>
          <a:prstGeom prst="roundRect">
            <a:avLst>
              <a:gd name="adj" fmla="val 8000"/>
            </a:avLst>
          </a:prstGeom>
          <a:solidFill>
            <a:srgbClr val="4FC3F7"/>
          </a:solidFill>
          <a:ln w="12700">
            <a:solidFill>
              <a:srgbClr val="4FC3F7"/>
            </a:solidFill>
            <a:prstDash val="solid"/>
          </a:ln>
        </p:spPr>
      </p:sp>
      <p:sp>
        <p:nvSpPr>
          <p:cNvPr id="10" name="Text 8"/>
          <p:cNvSpPr/>
          <p:nvPr/>
        </p:nvSpPr>
        <p:spPr>
          <a:xfrm>
            <a:off x="4983480" y="2130552"/>
            <a:ext cx="1371600" cy="347472"/>
          </a:xfrm>
          <a:prstGeom prst="rect">
            <a:avLst/>
          </a:prstGeom>
          <a:noFill/>
          <a:ln/>
        </p:spPr>
        <p:txBody>
          <a:bodyPr wrap="square" lIns="0" tIns="0" rIns="0" bIns="0" rtlCol="0" anchor="t">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AI Processing</a:t>
            </a:r>
            <a:endParaRPr lang="en-US" sz="1100" dirty="0"/>
          </a:p>
        </p:txBody>
      </p:sp>
      <p:sp>
        <p:nvSpPr>
          <p:cNvPr id="11" name="Shape 9"/>
          <p:cNvSpPr/>
          <p:nvPr/>
        </p:nvSpPr>
        <p:spPr>
          <a:xfrm>
            <a:off x="6556248" y="2148840"/>
            <a:ext cx="256032" cy="292608"/>
          </a:xfrm>
          <a:prstGeom prst="chevron">
            <a:avLst/>
          </a:prstGeom>
          <a:solidFill>
            <a:srgbClr val="D9E4F2"/>
          </a:solidFill>
          <a:ln w="12700">
            <a:solidFill>
              <a:srgbClr val="D9E4F2"/>
            </a:solidFill>
            <a:prstDash val="solid"/>
          </a:ln>
        </p:spPr>
      </p:sp>
      <p:sp>
        <p:nvSpPr>
          <p:cNvPr id="12" name="Shape 10"/>
          <p:cNvSpPr/>
          <p:nvPr/>
        </p:nvSpPr>
        <p:spPr>
          <a:xfrm>
            <a:off x="6995160" y="1874520"/>
            <a:ext cx="1554480" cy="914400"/>
          </a:xfrm>
          <a:prstGeom prst="roundRect">
            <a:avLst>
              <a:gd name="adj" fmla="val 8000"/>
            </a:avLst>
          </a:prstGeom>
          <a:solidFill>
            <a:srgbClr val="D8F5E6"/>
          </a:solidFill>
          <a:ln w="12700">
            <a:solidFill>
              <a:srgbClr val="D8F5E6"/>
            </a:solidFill>
            <a:prstDash val="solid"/>
          </a:ln>
        </p:spPr>
      </p:sp>
      <p:sp>
        <p:nvSpPr>
          <p:cNvPr id="13" name="Text 11"/>
          <p:cNvSpPr/>
          <p:nvPr/>
        </p:nvSpPr>
        <p:spPr>
          <a:xfrm>
            <a:off x="7086600" y="2130552"/>
            <a:ext cx="1371600" cy="347472"/>
          </a:xfrm>
          <a:prstGeom prst="rect">
            <a:avLst/>
          </a:prstGeom>
          <a:noFill/>
          <a:ln/>
        </p:spPr>
        <p:txBody>
          <a:bodyPr wrap="square" lIns="0" tIns="0" rIns="0" bIns="0" rtlCol="0" anchor="t">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Structured Output</a:t>
            </a:r>
            <a:endParaRPr lang="en-US" sz="1100" dirty="0"/>
          </a:p>
        </p:txBody>
      </p:sp>
      <p:sp>
        <p:nvSpPr>
          <p:cNvPr id="14" name="Shape 12"/>
          <p:cNvSpPr/>
          <p:nvPr/>
        </p:nvSpPr>
        <p:spPr>
          <a:xfrm>
            <a:off x="8659368" y="2148840"/>
            <a:ext cx="256032" cy="292608"/>
          </a:xfrm>
          <a:prstGeom prst="chevron">
            <a:avLst/>
          </a:prstGeom>
          <a:solidFill>
            <a:srgbClr val="D9E4F2"/>
          </a:solidFill>
          <a:ln w="12700">
            <a:solidFill>
              <a:srgbClr val="D9E4F2"/>
            </a:solidFill>
            <a:prstDash val="solid"/>
          </a:ln>
        </p:spPr>
      </p:sp>
      <p:sp>
        <p:nvSpPr>
          <p:cNvPr id="15" name="Shape 13"/>
          <p:cNvSpPr/>
          <p:nvPr/>
        </p:nvSpPr>
        <p:spPr>
          <a:xfrm>
            <a:off x="9144000" y="1874520"/>
            <a:ext cx="1554480" cy="914400"/>
          </a:xfrm>
          <a:prstGeom prst="roundRect">
            <a:avLst>
              <a:gd name="adj" fmla="val 8000"/>
            </a:avLst>
          </a:prstGeom>
          <a:solidFill>
            <a:srgbClr val="1E2761"/>
          </a:solidFill>
          <a:ln w="12700">
            <a:solidFill>
              <a:srgbClr val="1E2761"/>
            </a:solidFill>
            <a:prstDash val="solid"/>
          </a:ln>
        </p:spPr>
      </p:sp>
      <p:sp>
        <p:nvSpPr>
          <p:cNvPr id="16" name="Text 14"/>
          <p:cNvSpPr/>
          <p:nvPr/>
        </p:nvSpPr>
        <p:spPr>
          <a:xfrm>
            <a:off x="9235440" y="2130552"/>
            <a:ext cx="1371600" cy="347472"/>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Notion</a:t>
            </a:r>
            <a:endParaRPr lang="en-US" sz="1100" dirty="0"/>
          </a:p>
        </p:txBody>
      </p:sp>
      <p:sp>
        <p:nvSpPr>
          <p:cNvPr id="17" name="Shape 15"/>
          <p:cNvSpPr/>
          <p:nvPr/>
        </p:nvSpPr>
        <p:spPr>
          <a:xfrm>
            <a:off x="1005840" y="4069080"/>
            <a:ext cx="2468880" cy="1051560"/>
          </a:xfrm>
          <a:prstGeom prst="roundRect">
            <a:avLst>
              <a:gd name="adj" fmla="val 6957"/>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8" name="Shape 16"/>
          <p:cNvSpPr/>
          <p:nvPr/>
        </p:nvSpPr>
        <p:spPr>
          <a:xfrm>
            <a:off x="1005840" y="4069080"/>
            <a:ext cx="64008" cy="1051560"/>
          </a:xfrm>
          <a:prstGeom prst="rect">
            <a:avLst/>
          </a:prstGeom>
          <a:solidFill>
            <a:srgbClr val="4FC3F7"/>
          </a:solidFill>
          <a:ln w="12700">
            <a:solidFill>
              <a:srgbClr val="4FC3F7"/>
            </a:solidFill>
            <a:prstDash val="solid"/>
          </a:ln>
        </p:spPr>
      </p:sp>
      <p:sp>
        <p:nvSpPr>
          <p:cNvPr id="19" name="Text 17"/>
          <p:cNvSpPr/>
          <p:nvPr/>
        </p:nvSpPr>
        <p:spPr>
          <a:xfrm>
            <a:off x="1234440" y="4297680"/>
            <a:ext cx="1965960" cy="164592"/>
          </a:xfrm>
          <a:prstGeom prst="rect">
            <a:avLst/>
          </a:prstGeom>
          <a:noFill/>
          <a:ln/>
        </p:spPr>
        <p:txBody>
          <a:bodyPr wrap="square" lIns="0" tIns="0" rIns="0" bIns="0" rtlCol="0" anchor="t">
            <a:normAutofit/>
          </a:bodyPr>
          <a:lstStyle/>
          <a:p>
            <a:pPr algn="ctr" indent="0" marL="0">
              <a:buNone/>
            </a:pPr>
            <a:r>
              <a:rPr lang="en-US" sz="1150" b="1" dirty="0">
                <a:solidFill>
                  <a:srgbClr val="1E2761"/>
                </a:solidFill>
                <a:latin typeface="Calibri" pitchFamily="34" charset="0"/>
                <a:ea typeface="Calibri" pitchFamily="34" charset="-122"/>
                <a:cs typeface="Calibri" pitchFamily="34" charset="-120"/>
              </a:rPr>
              <a:t>Executive summary</a:t>
            </a:r>
            <a:endParaRPr lang="en-US" sz="1150" dirty="0"/>
          </a:p>
        </p:txBody>
      </p:sp>
      <p:sp>
        <p:nvSpPr>
          <p:cNvPr id="20" name="Text 18"/>
          <p:cNvSpPr/>
          <p:nvPr/>
        </p:nvSpPr>
        <p:spPr>
          <a:xfrm>
            <a:off x="1234440" y="4553712"/>
            <a:ext cx="1965960" cy="292608"/>
          </a:xfrm>
          <a:prstGeom prst="rect">
            <a:avLst/>
          </a:prstGeom>
          <a:noFill/>
          <a:ln/>
        </p:spPr>
        <p:txBody>
          <a:bodyPr wrap="square" lIns="0" tIns="0" rIns="0" bIns="0" rtlCol="0" anchor="t">
            <a:normAutofit/>
          </a:bodyPr>
          <a:lstStyle/>
          <a:p>
            <a:pPr algn="ctr" indent="0" marL="0">
              <a:buNone/>
            </a:pPr>
            <a:r>
              <a:rPr lang="en-US" sz="980" dirty="0">
                <a:solidFill>
                  <a:srgbClr val="5A6E8C"/>
                </a:solidFill>
                <a:latin typeface="Calibri" pitchFamily="34" charset="0"/>
                <a:ea typeface="Calibri" pitchFamily="34" charset="-122"/>
                <a:cs typeface="Calibri" pitchFamily="34" charset="-120"/>
              </a:rPr>
              <a:t>5 bullets, decisions only</a:t>
            </a:r>
            <a:endParaRPr lang="en-US" sz="980" dirty="0"/>
          </a:p>
        </p:txBody>
      </p:sp>
      <p:sp>
        <p:nvSpPr>
          <p:cNvPr id="21" name="Shape 19"/>
          <p:cNvSpPr/>
          <p:nvPr/>
        </p:nvSpPr>
        <p:spPr>
          <a:xfrm>
            <a:off x="3794760" y="4069080"/>
            <a:ext cx="2468880" cy="1051560"/>
          </a:xfrm>
          <a:prstGeom prst="roundRect">
            <a:avLst>
              <a:gd name="adj" fmla="val 6957"/>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22" name="Shape 20"/>
          <p:cNvSpPr/>
          <p:nvPr/>
        </p:nvSpPr>
        <p:spPr>
          <a:xfrm>
            <a:off x="3794760" y="4069080"/>
            <a:ext cx="64008" cy="1051560"/>
          </a:xfrm>
          <a:prstGeom prst="rect">
            <a:avLst/>
          </a:prstGeom>
          <a:solidFill>
            <a:srgbClr val="4FC3F7"/>
          </a:solidFill>
          <a:ln w="12700">
            <a:solidFill>
              <a:srgbClr val="4FC3F7"/>
            </a:solidFill>
            <a:prstDash val="solid"/>
          </a:ln>
        </p:spPr>
      </p:sp>
      <p:sp>
        <p:nvSpPr>
          <p:cNvPr id="23" name="Text 21"/>
          <p:cNvSpPr/>
          <p:nvPr/>
        </p:nvSpPr>
        <p:spPr>
          <a:xfrm>
            <a:off x="4023360" y="4297680"/>
            <a:ext cx="1965960" cy="164592"/>
          </a:xfrm>
          <a:prstGeom prst="rect">
            <a:avLst/>
          </a:prstGeom>
          <a:noFill/>
          <a:ln/>
        </p:spPr>
        <p:txBody>
          <a:bodyPr wrap="square" lIns="0" tIns="0" rIns="0" bIns="0" rtlCol="0" anchor="t">
            <a:normAutofit/>
          </a:bodyPr>
          <a:lstStyle/>
          <a:p>
            <a:pPr algn="ctr" indent="0" marL="0">
              <a:buNone/>
            </a:pPr>
            <a:r>
              <a:rPr lang="en-US" sz="1150" b="1" dirty="0">
                <a:solidFill>
                  <a:srgbClr val="1E2761"/>
                </a:solidFill>
                <a:latin typeface="Calibri" pitchFamily="34" charset="0"/>
                <a:ea typeface="Calibri" pitchFamily="34" charset="-122"/>
                <a:cs typeface="Calibri" pitchFamily="34" charset="-120"/>
              </a:rPr>
              <a:t>Full writeup</a:t>
            </a:r>
            <a:endParaRPr lang="en-US" sz="1150" dirty="0"/>
          </a:p>
        </p:txBody>
      </p:sp>
      <p:sp>
        <p:nvSpPr>
          <p:cNvPr id="24" name="Text 22"/>
          <p:cNvSpPr/>
          <p:nvPr/>
        </p:nvSpPr>
        <p:spPr>
          <a:xfrm>
            <a:off x="4023360" y="4553712"/>
            <a:ext cx="1965960" cy="292608"/>
          </a:xfrm>
          <a:prstGeom prst="rect">
            <a:avLst/>
          </a:prstGeom>
          <a:noFill/>
          <a:ln/>
        </p:spPr>
        <p:txBody>
          <a:bodyPr wrap="square" lIns="0" tIns="0" rIns="0" bIns="0" rtlCol="0" anchor="t">
            <a:normAutofit/>
          </a:bodyPr>
          <a:lstStyle/>
          <a:p>
            <a:pPr algn="ctr" indent="0" marL="0">
              <a:buNone/>
            </a:pPr>
            <a:r>
              <a:rPr lang="en-US" sz="980" dirty="0">
                <a:solidFill>
                  <a:srgbClr val="5A6E8C"/>
                </a:solidFill>
                <a:latin typeface="Calibri" pitchFamily="34" charset="0"/>
                <a:ea typeface="Calibri" pitchFamily="34" charset="-122"/>
                <a:cs typeface="Calibri" pitchFamily="34" charset="-120"/>
              </a:rPr>
              <a:t>~400 words, structured, readable</a:t>
            </a:r>
            <a:endParaRPr lang="en-US" sz="980" dirty="0"/>
          </a:p>
        </p:txBody>
      </p:sp>
      <p:sp>
        <p:nvSpPr>
          <p:cNvPr id="25" name="Shape 23"/>
          <p:cNvSpPr/>
          <p:nvPr/>
        </p:nvSpPr>
        <p:spPr>
          <a:xfrm>
            <a:off x="6583680" y="4069080"/>
            <a:ext cx="2468880" cy="1051560"/>
          </a:xfrm>
          <a:prstGeom prst="roundRect">
            <a:avLst>
              <a:gd name="adj" fmla="val 6957"/>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26" name="Shape 24"/>
          <p:cNvSpPr/>
          <p:nvPr/>
        </p:nvSpPr>
        <p:spPr>
          <a:xfrm>
            <a:off x="6583680" y="4069080"/>
            <a:ext cx="64008" cy="1051560"/>
          </a:xfrm>
          <a:prstGeom prst="rect">
            <a:avLst/>
          </a:prstGeom>
          <a:solidFill>
            <a:srgbClr val="4FC3F7"/>
          </a:solidFill>
          <a:ln w="12700">
            <a:solidFill>
              <a:srgbClr val="4FC3F7"/>
            </a:solidFill>
            <a:prstDash val="solid"/>
          </a:ln>
        </p:spPr>
      </p:sp>
      <p:sp>
        <p:nvSpPr>
          <p:cNvPr id="27" name="Text 25"/>
          <p:cNvSpPr/>
          <p:nvPr/>
        </p:nvSpPr>
        <p:spPr>
          <a:xfrm>
            <a:off x="6812280" y="4297680"/>
            <a:ext cx="1965960" cy="164592"/>
          </a:xfrm>
          <a:prstGeom prst="rect">
            <a:avLst/>
          </a:prstGeom>
          <a:noFill/>
          <a:ln/>
        </p:spPr>
        <p:txBody>
          <a:bodyPr wrap="square" lIns="0" tIns="0" rIns="0" bIns="0" rtlCol="0" anchor="t">
            <a:normAutofit/>
          </a:bodyPr>
          <a:lstStyle/>
          <a:p>
            <a:pPr algn="ctr" indent="0" marL="0">
              <a:buNone/>
            </a:pPr>
            <a:r>
              <a:rPr lang="en-US" sz="1150" b="1" dirty="0">
                <a:solidFill>
                  <a:srgbClr val="1E2761"/>
                </a:solidFill>
                <a:latin typeface="Calibri" pitchFamily="34" charset="0"/>
                <a:ea typeface="Calibri" pitchFamily="34" charset="-122"/>
                <a:cs typeface="Calibri" pitchFamily="34" charset="-120"/>
              </a:rPr>
              <a:t>Action items</a:t>
            </a:r>
            <a:endParaRPr lang="en-US" sz="1150" dirty="0"/>
          </a:p>
        </p:txBody>
      </p:sp>
      <p:sp>
        <p:nvSpPr>
          <p:cNvPr id="28" name="Text 26"/>
          <p:cNvSpPr/>
          <p:nvPr/>
        </p:nvSpPr>
        <p:spPr>
          <a:xfrm>
            <a:off x="6812280" y="4553712"/>
            <a:ext cx="1965960" cy="292608"/>
          </a:xfrm>
          <a:prstGeom prst="rect">
            <a:avLst/>
          </a:prstGeom>
          <a:noFill/>
          <a:ln/>
        </p:spPr>
        <p:txBody>
          <a:bodyPr wrap="square" lIns="0" tIns="0" rIns="0" bIns="0" rtlCol="0" anchor="t">
            <a:normAutofit/>
          </a:bodyPr>
          <a:lstStyle/>
          <a:p>
            <a:pPr algn="ctr" indent="0" marL="0">
              <a:buNone/>
            </a:pPr>
            <a:r>
              <a:rPr lang="en-US" sz="980" dirty="0">
                <a:solidFill>
                  <a:srgbClr val="5A6E8C"/>
                </a:solidFill>
                <a:latin typeface="Calibri" pitchFamily="34" charset="0"/>
                <a:ea typeface="Calibri" pitchFamily="34" charset="-122"/>
                <a:cs typeface="Calibri" pitchFamily="34" charset="-120"/>
              </a:rPr>
              <a:t>Owner + deadline + linked goal</a:t>
            </a:r>
            <a:endParaRPr lang="en-US" sz="980" dirty="0"/>
          </a:p>
        </p:txBody>
      </p:sp>
      <p:sp>
        <p:nvSpPr>
          <p:cNvPr id="29" name="Shape 27"/>
          <p:cNvSpPr/>
          <p:nvPr/>
        </p:nvSpPr>
        <p:spPr>
          <a:xfrm>
            <a:off x="9372600" y="4069080"/>
            <a:ext cx="2468880" cy="1051560"/>
          </a:xfrm>
          <a:prstGeom prst="roundRect">
            <a:avLst>
              <a:gd name="adj" fmla="val 6957"/>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30" name="Shape 28"/>
          <p:cNvSpPr/>
          <p:nvPr/>
        </p:nvSpPr>
        <p:spPr>
          <a:xfrm>
            <a:off x="9372600" y="4069080"/>
            <a:ext cx="64008" cy="1051560"/>
          </a:xfrm>
          <a:prstGeom prst="rect">
            <a:avLst/>
          </a:prstGeom>
          <a:solidFill>
            <a:srgbClr val="4FC3F7"/>
          </a:solidFill>
          <a:ln w="12700">
            <a:solidFill>
              <a:srgbClr val="4FC3F7"/>
            </a:solidFill>
            <a:prstDash val="solid"/>
          </a:ln>
        </p:spPr>
      </p:sp>
      <p:sp>
        <p:nvSpPr>
          <p:cNvPr id="31" name="Text 29"/>
          <p:cNvSpPr/>
          <p:nvPr/>
        </p:nvSpPr>
        <p:spPr>
          <a:xfrm>
            <a:off x="9601200" y="4297680"/>
            <a:ext cx="1965960" cy="164592"/>
          </a:xfrm>
          <a:prstGeom prst="rect">
            <a:avLst/>
          </a:prstGeom>
          <a:noFill/>
          <a:ln/>
        </p:spPr>
        <p:txBody>
          <a:bodyPr wrap="square" lIns="0" tIns="0" rIns="0" bIns="0" rtlCol="0" anchor="t">
            <a:normAutofit/>
          </a:bodyPr>
          <a:lstStyle/>
          <a:p>
            <a:pPr algn="ctr" indent="0" marL="0">
              <a:buNone/>
            </a:pPr>
            <a:r>
              <a:rPr lang="en-US" sz="1150" b="1" dirty="0">
                <a:solidFill>
                  <a:srgbClr val="1E2761"/>
                </a:solidFill>
                <a:latin typeface="Calibri" pitchFamily="34" charset="0"/>
                <a:ea typeface="Calibri" pitchFamily="34" charset="-122"/>
                <a:cs typeface="Calibri" pitchFamily="34" charset="-120"/>
              </a:rPr>
              <a:t>Decision log entries</a:t>
            </a:r>
            <a:endParaRPr lang="en-US" sz="1150" dirty="0"/>
          </a:p>
        </p:txBody>
      </p:sp>
      <p:sp>
        <p:nvSpPr>
          <p:cNvPr id="32" name="Text 30"/>
          <p:cNvSpPr/>
          <p:nvPr/>
        </p:nvSpPr>
        <p:spPr>
          <a:xfrm>
            <a:off x="9601200" y="4553712"/>
            <a:ext cx="1965960" cy="292608"/>
          </a:xfrm>
          <a:prstGeom prst="rect">
            <a:avLst/>
          </a:prstGeom>
          <a:noFill/>
          <a:ln/>
        </p:spPr>
        <p:txBody>
          <a:bodyPr wrap="square" lIns="0" tIns="0" rIns="0" bIns="0" rtlCol="0" anchor="t">
            <a:normAutofit/>
          </a:bodyPr>
          <a:lstStyle/>
          <a:p>
            <a:pPr algn="ctr" indent="0" marL="0">
              <a:buNone/>
            </a:pPr>
            <a:r>
              <a:rPr lang="en-US" sz="980" dirty="0">
                <a:solidFill>
                  <a:srgbClr val="5A6E8C"/>
                </a:solidFill>
                <a:latin typeface="Calibri" pitchFamily="34" charset="0"/>
                <a:ea typeface="Calibri" pitchFamily="34" charset="-122"/>
                <a:cs typeface="Calibri" pitchFamily="34" charset="-120"/>
              </a:rPr>
              <a:t>Pre-formatted for Notion paste</a:t>
            </a:r>
            <a:endParaRPr lang="en-US" sz="980" dirty="0"/>
          </a:p>
        </p:txBody>
      </p:sp>
      <p:sp>
        <p:nvSpPr>
          <p:cNvPr id="33" name="Text 31"/>
          <p:cNvSpPr/>
          <p:nvPr/>
        </p:nvSpPr>
        <p:spPr>
          <a:xfrm>
            <a:off x="868680" y="5943600"/>
            <a:ext cx="10515600" cy="182880"/>
          </a:xfrm>
          <a:prstGeom prst="rect">
            <a:avLst/>
          </a:prstGeom>
          <a:noFill/>
          <a:ln/>
        </p:spPr>
        <p:txBody>
          <a:bodyPr wrap="square" lIns="0" tIns="0" rIns="0" bIns="0" rtlCol="0" anchor="t">
            <a:normAutofit/>
          </a:bodyPr>
          <a:lstStyle/>
          <a:p>
            <a:pPr algn="ctr" indent="0" marL="0">
              <a:buNone/>
            </a:pPr>
            <a:r>
              <a:rPr lang="en-US" sz="1050" i="1" dirty="0">
                <a:solidFill>
                  <a:srgbClr val="5A6E8C"/>
                </a:solidFill>
                <a:latin typeface="Calibri" pitchFamily="34" charset="0"/>
                <a:ea typeface="Calibri" pitchFamily="34" charset="-122"/>
                <a:cs typeface="Calibri" pitchFamily="34" charset="-120"/>
              </a:rPr>
              <a:t>In 6 months: open any week, read a clean account of what was decided, who owned what, and what happened. Without wading through 3 PPTs.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411480"/>
            <a:ext cx="7132320" cy="41148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How it works — the full system</a:t>
            </a:r>
            <a:endParaRPr lang="en-US" sz="25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1353312"/>
            <a:ext cx="256032" cy="256032"/>
          </a:xfrm>
          <a:prstGeom prst="rect">
            <a:avLst/>
          </a:prstGeom>
        </p:spPr>
      </p:pic>
      <p:sp>
        <p:nvSpPr>
          <p:cNvPr id="4" name="Text 1"/>
          <p:cNvSpPr/>
          <p:nvPr/>
        </p:nvSpPr>
        <p:spPr>
          <a:xfrm>
            <a:off x="1097280" y="1335024"/>
            <a:ext cx="237744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During the meeting</a:t>
            </a:r>
            <a:endParaRPr lang="en-US" sz="1150" dirty="0"/>
          </a:p>
        </p:txBody>
      </p:sp>
      <p:sp>
        <p:nvSpPr>
          <p:cNvPr id="5" name="Text 2"/>
          <p:cNvSpPr/>
          <p:nvPr/>
        </p:nvSpPr>
        <p:spPr>
          <a:xfrm>
            <a:off x="1097280" y="1517904"/>
            <a:ext cx="4572000" cy="292608"/>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Adam takes handwritten notes on paper or a text file. No typing into Notion during the meeting — stay present.</a:t>
            </a:r>
            <a:endParaRPr lang="en-US" sz="101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2240280"/>
            <a:ext cx="256032" cy="256032"/>
          </a:xfrm>
          <a:prstGeom prst="rect">
            <a:avLst/>
          </a:prstGeom>
        </p:spPr>
      </p:pic>
      <p:sp>
        <p:nvSpPr>
          <p:cNvPr id="7" name="Text 3"/>
          <p:cNvSpPr/>
          <p:nvPr/>
        </p:nvSpPr>
        <p:spPr>
          <a:xfrm>
            <a:off x="1097280" y="2221992"/>
            <a:ext cx="237744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After the meeting (same day)</a:t>
            </a:r>
            <a:endParaRPr lang="en-US" sz="1150" dirty="0"/>
          </a:p>
        </p:txBody>
      </p:sp>
      <p:sp>
        <p:nvSpPr>
          <p:cNvPr id="8" name="Text 4"/>
          <p:cNvSpPr/>
          <p:nvPr/>
        </p:nvSpPr>
        <p:spPr>
          <a:xfrm>
            <a:off x="1097280" y="2404872"/>
            <a:ext cx="4572000" cy="292608"/>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Adam types up raw notes as plain text. No formatting. Upload to Drive folder with the 3 PPTs.</a:t>
            </a:r>
            <a:endParaRPr lang="en-US" sz="101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520" y="3127248"/>
            <a:ext cx="256032" cy="256032"/>
          </a:xfrm>
          <a:prstGeom prst="rect">
            <a:avLst/>
          </a:prstGeom>
        </p:spPr>
      </p:pic>
      <p:sp>
        <p:nvSpPr>
          <p:cNvPr id="10" name="Text 5"/>
          <p:cNvSpPr/>
          <p:nvPr/>
        </p:nvSpPr>
        <p:spPr>
          <a:xfrm>
            <a:off x="1097280" y="3108960"/>
            <a:ext cx="237744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Oriol runs the pipeline</a:t>
            </a:r>
            <a:endParaRPr lang="en-US" sz="1150" dirty="0"/>
          </a:p>
        </p:txBody>
      </p:sp>
      <p:sp>
        <p:nvSpPr>
          <p:cNvPr id="11" name="Text 6"/>
          <p:cNvSpPr/>
          <p:nvPr/>
        </p:nvSpPr>
        <p:spPr>
          <a:xfrm>
            <a:off x="1097280" y="3291840"/>
            <a:ext cx="4572000" cy="292608"/>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Feed all 4 inputs (3 PPTs + notes) to Claude with the structured prompt. ~2 minutes to run.</a:t>
            </a:r>
            <a:endParaRPr lang="en-US" sz="101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520" y="4014216"/>
            <a:ext cx="256032" cy="256032"/>
          </a:xfrm>
          <a:prstGeom prst="rect">
            <a:avLst/>
          </a:prstGeom>
        </p:spPr>
      </p:pic>
      <p:sp>
        <p:nvSpPr>
          <p:cNvPr id="13" name="Text 7"/>
          <p:cNvSpPr/>
          <p:nvPr/>
        </p:nvSpPr>
        <p:spPr>
          <a:xfrm>
            <a:off x="1097280" y="3995928"/>
            <a:ext cx="237744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Paste to Notion</a:t>
            </a:r>
            <a:endParaRPr lang="en-US" sz="1150" dirty="0"/>
          </a:p>
        </p:txBody>
      </p:sp>
      <p:sp>
        <p:nvSpPr>
          <p:cNvPr id="14" name="Text 8"/>
          <p:cNvSpPr/>
          <p:nvPr/>
        </p:nvSpPr>
        <p:spPr>
          <a:xfrm>
            <a:off x="1097280" y="4178808"/>
            <a:ext cx="4572000" cy="292608"/>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Copy the 4 artifacts into the Weekly Sync Notion page. Link the Drive folder.</a:t>
            </a:r>
            <a:endParaRPr lang="en-US" sz="101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520" y="4901184"/>
            <a:ext cx="256032" cy="256032"/>
          </a:xfrm>
          <a:prstGeom prst="rect">
            <a:avLst/>
          </a:prstGeom>
        </p:spPr>
      </p:pic>
      <p:sp>
        <p:nvSpPr>
          <p:cNvPr id="16" name="Text 9"/>
          <p:cNvSpPr/>
          <p:nvPr/>
        </p:nvSpPr>
        <p:spPr>
          <a:xfrm>
            <a:off x="1097280" y="4882896"/>
            <a:ext cx="237744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Future reference</a:t>
            </a:r>
            <a:endParaRPr lang="en-US" sz="1150" dirty="0"/>
          </a:p>
        </p:txBody>
      </p:sp>
      <p:sp>
        <p:nvSpPr>
          <p:cNvPr id="17" name="Text 10"/>
          <p:cNvSpPr/>
          <p:nvPr/>
        </p:nvSpPr>
        <p:spPr>
          <a:xfrm>
            <a:off x="1097280" y="5065776"/>
            <a:ext cx="4572000" cy="292608"/>
          </a:xfrm>
          <a:prstGeom prst="rect">
            <a:avLst/>
          </a:prstGeom>
          <a:noFill/>
          <a:ln/>
        </p:spPr>
        <p:txBody>
          <a:bodyPr wrap="square" lIns="0" tIns="0" rIns="0" bIns="0" rtlCol="0" anchor="t">
            <a:normAutofit/>
          </a:bodyPr>
          <a:lstStyle/>
          <a:p>
            <a:pPr algn="l" indent="0" marL="0">
              <a:buNone/>
            </a:pPr>
            <a:r>
              <a:rPr lang="en-US" sz="1010" dirty="0">
                <a:solidFill>
                  <a:srgbClr val="5A6E8C"/>
                </a:solidFill>
                <a:latin typeface="Calibri" pitchFamily="34" charset="0"/>
                <a:ea typeface="Calibri" pitchFamily="34" charset="-122"/>
                <a:cs typeface="Calibri" pitchFamily="34" charset="-120"/>
              </a:rPr>
              <a:t>Any sync is searchable, readable, and linked to the Decision Log forever.</a:t>
            </a:r>
            <a:endParaRPr lang="en-US" sz="1010" dirty="0"/>
          </a:p>
        </p:txBody>
      </p:sp>
      <p:sp>
        <p:nvSpPr>
          <p:cNvPr id="18" name="Shape 11"/>
          <p:cNvSpPr/>
          <p:nvPr/>
        </p:nvSpPr>
        <p:spPr>
          <a:xfrm>
            <a:off x="6400800" y="1417320"/>
            <a:ext cx="5074920" cy="4389120"/>
          </a:xfrm>
          <a:prstGeom prst="roundRect">
            <a:avLst>
              <a:gd name="adj" fmla="val 1667"/>
            </a:avLst>
          </a:prstGeom>
          <a:solidFill>
            <a:srgbClr val="FFFFFF"/>
          </a:solidFill>
          <a:ln w="12700">
            <a:solidFill>
              <a:srgbClr val="D9E4F2"/>
            </a:solidFill>
            <a:prstDash val="solid"/>
          </a:ln>
          <a:effectLst>
            <a:outerShdw sx="100000" sy="100000" kx="0" ky="0" algn="bl" rotWithShape="0" blurRad="19050" dist="12700" dir="2700000">
              <a:srgbClr val="000000">
                <a:alpha val="12000"/>
              </a:srgbClr>
            </a:outerShdw>
          </a:effectLst>
        </p:spPr>
      </p:sp>
      <p:sp>
        <p:nvSpPr>
          <p:cNvPr id="19" name="Shape 12"/>
          <p:cNvSpPr/>
          <p:nvPr/>
        </p:nvSpPr>
        <p:spPr>
          <a:xfrm>
            <a:off x="6400800" y="1417320"/>
            <a:ext cx="64008" cy="4389120"/>
          </a:xfrm>
          <a:prstGeom prst="rect">
            <a:avLst/>
          </a:prstGeom>
          <a:solidFill>
            <a:srgbClr val="4FC3F7"/>
          </a:solidFill>
          <a:ln w="12700">
            <a:solidFill>
              <a:srgbClr val="4FC3F7"/>
            </a:solidFill>
            <a:prstDash val="solid"/>
          </a:ln>
        </p:spPr>
      </p:sp>
      <p:sp>
        <p:nvSpPr>
          <p:cNvPr id="20" name="Text 13"/>
          <p:cNvSpPr/>
          <p:nvPr/>
        </p:nvSpPr>
        <p:spPr>
          <a:xfrm>
            <a:off x="6720840" y="1691640"/>
            <a:ext cx="2194560" cy="164592"/>
          </a:xfrm>
          <a:prstGeom prst="rect">
            <a:avLst/>
          </a:prstGeom>
          <a:noFill/>
          <a:ln/>
        </p:spPr>
        <p:txBody>
          <a:bodyPr wrap="square" lIns="0" tIns="0" rIns="0" bIns="0" rtlCol="0" anchor="t">
            <a:normAutofit/>
          </a:bodyPr>
          <a:lstStyle/>
          <a:p>
            <a:pPr algn="l" indent="0" marL="0">
              <a:buNone/>
            </a:pPr>
            <a:r>
              <a:rPr lang="en-US" sz="1200" b="1" dirty="0">
                <a:solidFill>
                  <a:srgbClr val="1E2761"/>
                </a:solidFill>
                <a:latin typeface="Calibri" pitchFamily="34" charset="0"/>
                <a:ea typeface="Calibri" pitchFamily="34" charset="-122"/>
                <a:cs typeface="Calibri" pitchFamily="34" charset="-120"/>
              </a:rPr>
              <a:t>Weekly Syncs / 2026-W15</a:t>
            </a:r>
            <a:endParaRPr lang="en-US" sz="1200" dirty="0"/>
          </a:p>
        </p:txBody>
      </p:sp>
      <p:sp>
        <p:nvSpPr>
          <p:cNvPr id="21" name="Text 14"/>
          <p:cNvSpPr/>
          <p:nvPr/>
        </p:nvSpPr>
        <p:spPr>
          <a:xfrm>
            <a:off x="6720840" y="2084832"/>
            <a:ext cx="91440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AI Summary</a:t>
            </a:r>
            <a:endParaRPr lang="en-US" sz="1150" dirty="0"/>
          </a:p>
        </p:txBody>
      </p:sp>
      <p:sp>
        <p:nvSpPr>
          <p:cNvPr id="22" name="Text 15"/>
          <p:cNvSpPr/>
          <p:nvPr/>
        </p:nvSpPr>
        <p:spPr>
          <a:xfrm>
            <a:off x="6903720" y="2340864"/>
            <a:ext cx="4160520" cy="594360"/>
          </a:xfrm>
          <a:prstGeom prst="rect">
            <a:avLst/>
          </a:prstGeom>
          <a:noFill/>
          <a:ln/>
        </p:spPr>
        <p:txBody>
          <a:bodyPr wrap="square" lIns="0" tIns="0" rIns="0" bIns="0" rtlCol="0" anchor="t">
            <a:normAutofit/>
          </a:bodyPr>
          <a:lstStyle/>
          <a:p>
            <a:pPr algn="l" indent="0" marL="0">
              <a:buNone/>
            </a:pPr>
            <a:r>
              <a:rPr lang="en-US" sz="1030" dirty="0">
                <a:solidFill>
                  <a:srgbClr val="1E2761"/>
                </a:solidFill>
                <a:latin typeface="Calibri" pitchFamily="34" charset="0"/>
                <a:ea typeface="Calibri" pitchFamily="34" charset="-122"/>
                <a:cs typeface="Calibri" pitchFamily="34" charset="-120"/>
              </a:rPr>
              <a:t>· Paver visit: qualified lead, demo scheduled Apr 14</a:t>
            </a:r>
            <a:endParaRPr lang="en-US" sz="1030" dirty="0"/>
          </a:p>
          <a:p>
            <a:pPr algn="l" indent="0" marL="0">
              <a:buNone/>
            </a:pPr>
            <a:r>
              <a:rPr lang="en-US" sz="1030" dirty="0">
                <a:solidFill>
                  <a:srgbClr val="1E2761"/>
                </a:solidFill>
                <a:latin typeface="Calibri" pitchFamily="34" charset="0"/>
                <a:ea typeface="Calibri" pitchFamily="34" charset="-122"/>
                <a:cs typeface="Calibri" pitchFamily="34" charset="-120"/>
              </a:rPr>
              <a:t>· Arnau: RAG on Decfa targeted Apr 18</a:t>
            </a:r>
            <a:endParaRPr lang="en-US" sz="1030" dirty="0"/>
          </a:p>
          <a:p>
            <a:pPr algn="l" indent="0" marL="0">
              <a:buNone/>
            </a:pPr>
            <a:r>
              <a:rPr lang="en-US" sz="1030" dirty="0">
                <a:solidFill>
                  <a:srgbClr val="1E2761"/>
                </a:solidFill>
                <a:latin typeface="Calibri" pitchFamily="34" charset="0"/>
                <a:ea typeface="Calibri" pitchFamily="34" charset="-122"/>
                <a:cs typeface="Calibri" pitchFamily="34" charset="-120"/>
              </a:rPr>
              <a:t>· Decision: skip Slack permanently</a:t>
            </a:r>
            <a:endParaRPr lang="en-US" sz="1030" dirty="0"/>
          </a:p>
        </p:txBody>
      </p:sp>
      <p:sp>
        <p:nvSpPr>
          <p:cNvPr id="23" name="Text 16"/>
          <p:cNvSpPr/>
          <p:nvPr/>
        </p:nvSpPr>
        <p:spPr>
          <a:xfrm>
            <a:off x="6720840" y="3182112"/>
            <a:ext cx="91440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Action Items</a:t>
            </a:r>
            <a:endParaRPr lang="en-US" sz="1150" dirty="0"/>
          </a:p>
        </p:txBody>
      </p:sp>
      <p:sp>
        <p:nvSpPr>
          <p:cNvPr id="24" name="Text 17"/>
          <p:cNvSpPr/>
          <p:nvPr/>
        </p:nvSpPr>
        <p:spPr>
          <a:xfrm>
            <a:off x="6903720" y="3438144"/>
            <a:ext cx="4160520" cy="621792"/>
          </a:xfrm>
          <a:prstGeom prst="rect">
            <a:avLst/>
          </a:prstGeom>
          <a:noFill/>
          <a:ln/>
        </p:spPr>
        <p:txBody>
          <a:bodyPr wrap="square" lIns="0" tIns="0" rIns="0" bIns="0" rtlCol="0" anchor="t">
            <a:normAutofit/>
          </a:bodyPr>
          <a:lstStyle/>
          <a:p>
            <a:pPr algn="l" indent="0" marL="0">
              <a:buNone/>
            </a:pPr>
            <a:r>
              <a:rPr lang="en-US" sz="1030" dirty="0">
                <a:solidFill>
                  <a:srgbClr val="1E2761"/>
                </a:solidFill>
                <a:latin typeface="Calibri" pitchFamily="34" charset="0"/>
                <a:ea typeface="Calibri" pitchFamily="34" charset="-122"/>
                <a:cs typeface="Calibri" pitchFamily="34" charset="-120"/>
              </a:rPr>
              <a:t>☐ [Arnau] RAG demo on Decfa → Apr 18</a:t>
            </a:r>
            <a:endParaRPr lang="en-US" sz="1030" dirty="0"/>
          </a:p>
          <a:p>
            <a:pPr algn="l" indent="0" marL="0">
              <a:buNone/>
            </a:pPr>
            <a:r>
              <a:rPr lang="en-US" sz="1030" dirty="0">
                <a:solidFill>
                  <a:srgbClr val="1E2761"/>
                </a:solidFill>
                <a:latin typeface="Calibri" pitchFamily="34" charset="0"/>
                <a:ea typeface="Calibri" pitchFamily="34" charset="-122"/>
                <a:cs typeface="Calibri" pitchFamily="34" charset="-120"/>
              </a:rPr>
              <a:t>☐ [Adam] Paver follow-up email → Apr 8</a:t>
            </a:r>
            <a:endParaRPr lang="en-US" sz="1030" dirty="0"/>
          </a:p>
          <a:p>
            <a:pPr algn="l" indent="0" marL="0">
              <a:buNone/>
            </a:pPr>
            <a:r>
              <a:rPr lang="en-US" sz="1030" dirty="0">
                <a:solidFill>
                  <a:srgbClr val="1E2761"/>
                </a:solidFill>
                <a:latin typeface="Calibri" pitchFamily="34" charset="0"/>
                <a:ea typeface="Calibri" pitchFamily="34" charset="-122"/>
                <a:cs typeface="Calibri" pitchFamily="34" charset="-120"/>
              </a:rPr>
              <a:t>☐ [Oriol] Decision Log entries → today</a:t>
            </a:r>
            <a:endParaRPr lang="en-US" sz="1030" dirty="0"/>
          </a:p>
        </p:txBody>
      </p:sp>
      <p:sp>
        <p:nvSpPr>
          <p:cNvPr id="25" name="Text 18"/>
          <p:cNvSpPr/>
          <p:nvPr/>
        </p:nvSpPr>
        <p:spPr>
          <a:xfrm>
            <a:off x="6720840" y="4370832"/>
            <a:ext cx="1280160" cy="146304"/>
          </a:xfrm>
          <a:prstGeom prst="rect">
            <a:avLst/>
          </a:prstGeom>
          <a:noFill/>
          <a:ln/>
        </p:spPr>
        <p:txBody>
          <a:bodyPr wrap="square" lIns="0" tIns="0" rIns="0" bIns="0" rtlCol="0" anchor="t">
            <a:normAutofit/>
          </a:bodyPr>
          <a:lstStyle/>
          <a:p>
            <a:pPr algn="l" indent="0" marL="0">
              <a:buNone/>
            </a:pPr>
            <a:r>
              <a:rPr lang="en-US" sz="1150" b="1" dirty="0">
                <a:solidFill>
                  <a:srgbClr val="1E2761"/>
                </a:solidFill>
                <a:latin typeface="Calibri" pitchFamily="34" charset="0"/>
                <a:ea typeface="Calibri" pitchFamily="34" charset="-122"/>
                <a:cs typeface="Calibri" pitchFamily="34" charset="-120"/>
              </a:rPr>
              <a:t>Decision Log links</a:t>
            </a:r>
            <a:endParaRPr lang="en-US" sz="1150" dirty="0"/>
          </a:p>
        </p:txBody>
      </p:sp>
      <p:sp>
        <p:nvSpPr>
          <p:cNvPr id="26" name="Text 19"/>
          <p:cNvSpPr/>
          <p:nvPr/>
        </p:nvSpPr>
        <p:spPr>
          <a:xfrm>
            <a:off x="6903720" y="4617720"/>
            <a:ext cx="4114800" cy="548640"/>
          </a:xfrm>
          <a:prstGeom prst="rect">
            <a:avLst/>
          </a:prstGeom>
          <a:noFill/>
          <a:ln/>
        </p:spPr>
        <p:txBody>
          <a:bodyPr wrap="square" lIns="0" tIns="0" rIns="0" bIns="0" rtlCol="0" anchor="t">
            <a:normAutofit/>
          </a:bodyPr>
          <a:lstStyle/>
          <a:p>
            <a:pPr algn="l" indent="0" marL="0">
              <a:buNone/>
            </a:pPr>
            <a:r>
              <a:rPr lang="en-US" sz="1030" dirty="0">
                <a:solidFill>
                  <a:srgbClr val="1E2761"/>
                </a:solidFill>
                <a:latin typeface="Calibri" pitchFamily="34" charset="0"/>
                <a:ea typeface="Calibri" pitchFamily="34" charset="-122"/>
                <a:cs typeface="Calibri" pitchFamily="34" charset="-120"/>
              </a:rPr>
              <a:t>→ On-prem as hard constraint (reconfirmed)</a:t>
            </a:r>
            <a:endParaRPr lang="en-US" sz="1030" dirty="0"/>
          </a:p>
          <a:p>
            <a:pPr algn="l" indent="0" marL="0">
              <a:buNone/>
            </a:pPr>
            <a:r>
              <a:rPr lang="en-US" sz="1030" dirty="0">
                <a:solidFill>
                  <a:srgbClr val="1E2761"/>
                </a:solidFill>
                <a:latin typeface="Calibri" pitchFamily="34" charset="0"/>
                <a:ea typeface="Calibri" pitchFamily="34" charset="-122"/>
                <a:cs typeface="Calibri" pitchFamily="34" charset="-120"/>
              </a:rPr>
              <a:t>→ Slack permanently skipped</a:t>
            </a:r>
            <a:endParaRPr lang="en-US" sz="1030" dirty="0"/>
          </a:p>
          <a:p>
            <a:pPr algn="l" indent="0" marL="0">
              <a:buNone/>
            </a:pPr>
            <a:endParaRPr lang="en-US" sz="1030" dirty="0"/>
          </a:p>
          <a:p>
            <a:pPr algn="l" indent="0" marL="0">
              <a:buNone/>
            </a:pPr>
            <a:r>
              <a:rPr lang="en-US" sz="1030" dirty="0">
                <a:solidFill>
                  <a:srgbClr val="1E2761"/>
                </a:solidFill>
                <a:latin typeface="Calibri" pitchFamily="34" charset="0"/>
                <a:ea typeface="Calibri" pitchFamily="34" charset="-122"/>
                <a:cs typeface="Calibri" pitchFamily="34" charset="-120"/>
              </a:rPr>
              <a:t>Drive: 2026-W15 folder</a:t>
            </a:r>
            <a:endParaRPr lang="en-US" sz="1030" dirty="0"/>
          </a:p>
        </p:txBody>
      </p:sp>
      <p:sp>
        <p:nvSpPr>
          <p:cNvPr id="27" name="Shape 20"/>
          <p:cNvSpPr/>
          <p:nvPr/>
        </p:nvSpPr>
        <p:spPr>
          <a:xfrm>
            <a:off x="914400" y="5897880"/>
            <a:ext cx="10287000" cy="475488"/>
          </a:xfrm>
          <a:prstGeom prst="roundRect">
            <a:avLst>
              <a:gd name="adj" fmla="val 15385"/>
            </a:avLst>
          </a:prstGeom>
          <a:solidFill>
            <a:srgbClr val="FFFFFF"/>
          </a:solidFill>
          <a:ln w="12700">
            <a:solidFill>
              <a:srgbClr val="4FC3F7"/>
            </a:solidFill>
            <a:prstDash val="solid"/>
          </a:ln>
        </p:spPr>
      </p:sp>
      <p:sp>
        <p:nvSpPr>
          <p:cNvPr id="28" name="Shape 21"/>
          <p:cNvSpPr/>
          <p:nvPr/>
        </p:nvSpPr>
        <p:spPr>
          <a:xfrm>
            <a:off x="914400" y="5897880"/>
            <a:ext cx="64008" cy="475488"/>
          </a:xfrm>
          <a:prstGeom prst="rect">
            <a:avLst/>
          </a:prstGeom>
          <a:solidFill>
            <a:srgbClr val="4FC3F7"/>
          </a:solidFill>
          <a:ln w="12700">
            <a:solidFill>
              <a:srgbClr val="4FC3F7"/>
            </a:solidFill>
            <a:prstDash val="solid"/>
          </a:ln>
        </p:spPr>
      </p:sp>
      <p:sp>
        <p:nvSpPr>
          <p:cNvPr id="29" name="Text 22"/>
          <p:cNvSpPr/>
          <p:nvPr/>
        </p:nvSpPr>
        <p:spPr>
          <a:xfrm>
            <a:off x="1060704" y="6007608"/>
            <a:ext cx="10030968" cy="329184"/>
          </a:xfrm>
          <a:prstGeom prst="rect">
            <a:avLst/>
          </a:prstGeom>
          <a:noFill/>
          <a:ln/>
        </p:spPr>
        <p:txBody>
          <a:bodyPr wrap="square" lIns="0" tIns="0" rIns="0" bIns="0" rtlCol="0" anchor="t">
            <a:normAutofit/>
          </a:bodyPr>
          <a:lstStyle/>
          <a:p>
            <a:pPr algn="l" indent="0" marL="0">
              <a:buNone/>
            </a:pPr>
            <a:r>
              <a:rPr lang="en-US" sz="1100" dirty="0">
                <a:solidFill>
                  <a:srgbClr val="1E2761"/>
                </a:solidFill>
                <a:latin typeface="Calibri" pitchFamily="34" charset="0"/>
                <a:ea typeface="Calibri" pitchFamily="34" charset="-122"/>
                <a:cs typeface="Calibri" pitchFamily="34" charset="-120"/>
              </a:rPr>
              <a:t>Future upgrade: Whisper local transcription (runs on our RTX 3090s) for automatic voice-to-text from The War Room voice channel. Zero cloud, fully on-prem.</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103120" y="594360"/>
            <a:ext cx="7955280" cy="411480"/>
          </a:xfrm>
          <a:prstGeom prst="rect">
            <a:avLst/>
          </a:prstGeom>
          <a:noFill/>
          <a:ln/>
        </p:spPr>
        <p:txBody>
          <a:bodyPr wrap="square" lIns="0" tIns="0" rIns="0" bIns="0" rtlCol="0" anchor="t">
            <a:normAutofit/>
          </a:bodyPr>
          <a:lstStyle/>
          <a:p>
            <a:pPr algn="ctr" indent="0" marL="0">
              <a:buNone/>
            </a:pPr>
            <a:r>
              <a:rPr lang="en-US" sz="2900" b="1" dirty="0">
                <a:solidFill>
                  <a:srgbClr val="FFFFFF"/>
                </a:solidFill>
                <a:latin typeface="Calibri" pitchFamily="34" charset="0"/>
                <a:ea typeface="Calibri" pitchFamily="34" charset="-122"/>
                <a:cs typeface="Calibri" pitchFamily="34" charset="-120"/>
              </a:rPr>
              <a:t>Before we leave this room</a:t>
            </a:r>
            <a:endParaRPr lang="en-US" sz="2900" dirty="0"/>
          </a:p>
        </p:txBody>
      </p:sp>
      <p:sp>
        <p:nvSpPr>
          <p:cNvPr id="3" name="Shape 1"/>
          <p:cNvSpPr/>
          <p:nvPr/>
        </p:nvSpPr>
        <p:spPr>
          <a:xfrm>
            <a:off x="1508760" y="1508760"/>
            <a:ext cx="9144000" cy="1051560"/>
          </a:xfrm>
          <a:prstGeom prst="roundRect">
            <a:avLst>
              <a:gd name="adj" fmla="val 6957"/>
            </a:avLst>
          </a:prstGeom>
          <a:solidFill>
            <a:srgbClr val="FFFFFF"/>
          </a:solidFill>
          <a:ln w="12700">
            <a:solidFill>
              <a:srgbClr val="FFFFFF"/>
            </a:solidFill>
            <a:prstDash val="solid"/>
          </a:ln>
        </p:spPr>
      </p:sp>
      <p:sp>
        <p:nvSpPr>
          <p:cNvPr id="4" name="Shape 2"/>
          <p:cNvSpPr/>
          <p:nvPr/>
        </p:nvSpPr>
        <p:spPr>
          <a:xfrm>
            <a:off x="1508760" y="1508760"/>
            <a:ext cx="64008" cy="1051560"/>
          </a:xfrm>
          <a:prstGeom prst="rect">
            <a:avLst/>
          </a:prstGeom>
          <a:solidFill>
            <a:srgbClr val="4FC3F7"/>
          </a:solidFill>
          <a:ln w="12700">
            <a:solidFill>
              <a:srgbClr val="4FC3F7"/>
            </a:solidFill>
            <a:prstDash val="solid"/>
          </a:ln>
        </p:spPr>
      </p:sp>
      <p:sp>
        <p:nvSpPr>
          <p:cNvPr id="5" name="Text 3"/>
          <p:cNvSpPr/>
          <p:nvPr/>
        </p:nvSpPr>
        <p:spPr>
          <a:xfrm>
            <a:off x="1737360" y="1673352"/>
            <a:ext cx="548640" cy="274320"/>
          </a:xfrm>
          <a:prstGeom prst="rect">
            <a:avLst/>
          </a:prstGeom>
          <a:noFill/>
          <a:ln/>
        </p:spPr>
        <p:txBody>
          <a:bodyPr wrap="square" lIns="0" tIns="0" rIns="0" bIns="0" rtlCol="0" anchor="t">
            <a:normAutofit/>
          </a:bodyPr>
          <a:lstStyle/>
          <a:p>
            <a:pPr algn="l" indent="0" marL="0">
              <a:buNone/>
            </a:pPr>
            <a:r>
              <a:rPr lang="en-US" sz="2400" b="1" dirty="0">
                <a:solidFill>
                  <a:srgbClr val="4FC3F7"/>
                </a:solidFill>
                <a:latin typeface="Calibri" pitchFamily="34" charset="0"/>
                <a:ea typeface="Calibri" pitchFamily="34" charset="-122"/>
                <a:cs typeface="Calibri" pitchFamily="34" charset="-120"/>
              </a:rPr>
              <a:t>01</a:t>
            </a:r>
            <a:endParaRPr lang="en-US" sz="2400" dirty="0"/>
          </a:p>
        </p:txBody>
      </p:sp>
      <p:sp>
        <p:nvSpPr>
          <p:cNvPr id="6" name="Text 4"/>
          <p:cNvSpPr/>
          <p:nvPr/>
        </p:nvSpPr>
        <p:spPr>
          <a:xfrm>
            <a:off x="2423160" y="1673352"/>
            <a:ext cx="6217920" cy="219456"/>
          </a:xfrm>
          <a:prstGeom prst="rect">
            <a:avLst/>
          </a:prstGeom>
          <a:noFill/>
          <a:ln/>
        </p:spPr>
        <p:txBody>
          <a:bodyPr wrap="square" lIns="0" tIns="0" rIns="0" bIns="0" rtlCol="0" anchor="t">
            <a:normAutofit/>
          </a:bodyPr>
          <a:lstStyle/>
          <a:p>
            <a:pPr algn="l" indent="0" marL="0">
              <a:buNone/>
            </a:pPr>
            <a:r>
              <a:rPr lang="en-US" sz="1550" b="1" dirty="0">
                <a:solidFill>
                  <a:srgbClr val="1E2761"/>
                </a:solidFill>
                <a:latin typeface="Calibri" pitchFamily="34" charset="0"/>
                <a:ea typeface="Calibri" pitchFamily="34" charset="-122"/>
                <a:cs typeface="Calibri" pitchFamily="34" charset="-120"/>
              </a:rPr>
              <a:t>Fill your Q2 KRs in Notion — right now</a:t>
            </a:r>
            <a:endParaRPr lang="en-US" sz="1550" dirty="0"/>
          </a:p>
        </p:txBody>
      </p:sp>
      <p:sp>
        <p:nvSpPr>
          <p:cNvPr id="7" name="Text 5"/>
          <p:cNvSpPr/>
          <p:nvPr/>
        </p:nvSpPr>
        <p:spPr>
          <a:xfrm>
            <a:off x="2423160" y="1984248"/>
            <a:ext cx="6949440" cy="182880"/>
          </a:xfrm>
          <a:prstGeom prst="rect">
            <a:avLst/>
          </a:prstGeom>
          <a:noFill/>
          <a:ln/>
        </p:spPr>
        <p:txBody>
          <a:bodyPr wrap="square" lIns="0" tIns="0" rIns="0" bIns="0" rtlCol="0" anchor="t">
            <a:normAutofit/>
          </a:bodyPr>
          <a:lstStyle/>
          <a:p>
            <a:pPr algn="l" indent="0" marL="0">
              <a:buNone/>
            </a:pPr>
            <a:r>
              <a:rPr lang="en-US" sz="1060" dirty="0">
                <a:solidFill>
                  <a:srgbClr val="5A6E8C"/>
                </a:solidFill>
                <a:latin typeface="Calibri" pitchFamily="34" charset="0"/>
                <a:ea typeface="Calibri" pitchFamily="34" charset="-122"/>
                <a:cs typeface="Calibri" pitchFamily="34" charset="-120"/>
              </a:rPr>
              <a:t>Goals &amp; OKRs → Q2 2026 → your name. 3 KRs. You define them.</a:t>
            </a:r>
            <a:endParaRPr lang="en-US" sz="1060" dirty="0"/>
          </a:p>
        </p:txBody>
      </p:sp>
      <p:sp>
        <p:nvSpPr>
          <p:cNvPr id="8" name="Shape 6"/>
          <p:cNvSpPr/>
          <p:nvPr/>
        </p:nvSpPr>
        <p:spPr>
          <a:xfrm>
            <a:off x="1508760" y="2807208"/>
            <a:ext cx="9144000" cy="1051560"/>
          </a:xfrm>
          <a:prstGeom prst="roundRect">
            <a:avLst>
              <a:gd name="adj" fmla="val 6957"/>
            </a:avLst>
          </a:prstGeom>
          <a:solidFill>
            <a:srgbClr val="FFFFFF"/>
          </a:solidFill>
          <a:ln w="12700">
            <a:solidFill>
              <a:srgbClr val="FFFFFF"/>
            </a:solidFill>
            <a:prstDash val="solid"/>
          </a:ln>
        </p:spPr>
      </p:sp>
      <p:sp>
        <p:nvSpPr>
          <p:cNvPr id="9" name="Shape 7"/>
          <p:cNvSpPr/>
          <p:nvPr/>
        </p:nvSpPr>
        <p:spPr>
          <a:xfrm>
            <a:off x="1508760" y="2807208"/>
            <a:ext cx="64008" cy="1051560"/>
          </a:xfrm>
          <a:prstGeom prst="rect">
            <a:avLst/>
          </a:prstGeom>
          <a:solidFill>
            <a:srgbClr val="4FC3F7"/>
          </a:solidFill>
          <a:ln w="12700">
            <a:solidFill>
              <a:srgbClr val="4FC3F7"/>
            </a:solidFill>
            <a:prstDash val="solid"/>
          </a:ln>
        </p:spPr>
      </p:sp>
      <p:sp>
        <p:nvSpPr>
          <p:cNvPr id="10" name="Text 8"/>
          <p:cNvSpPr/>
          <p:nvPr/>
        </p:nvSpPr>
        <p:spPr>
          <a:xfrm>
            <a:off x="1737360" y="2971800"/>
            <a:ext cx="548640" cy="274320"/>
          </a:xfrm>
          <a:prstGeom prst="rect">
            <a:avLst/>
          </a:prstGeom>
          <a:noFill/>
          <a:ln/>
        </p:spPr>
        <p:txBody>
          <a:bodyPr wrap="square" lIns="0" tIns="0" rIns="0" bIns="0" rtlCol="0" anchor="t">
            <a:normAutofit/>
          </a:bodyPr>
          <a:lstStyle/>
          <a:p>
            <a:pPr algn="l" indent="0" marL="0">
              <a:buNone/>
            </a:pPr>
            <a:r>
              <a:rPr lang="en-US" sz="2400" b="1" dirty="0">
                <a:solidFill>
                  <a:srgbClr val="4FC3F7"/>
                </a:solidFill>
                <a:latin typeface="Calibri" pitchFamily="34" charset="0"/>
                <a:ea typeface="Calibri" pitchFamily="34" charset="-122"/>
                <a:cs typeface="Calibri" pitchFamily="34" charset="-120"/>
              </a:rPr>
              <a:t>02</a:t>
            </a:r>
            <a:endParaRPr lang="en-US" sz="2400" dirty="0"/>
          </a:p>
        </p:txBody>
      </p:sp>
      <p:sp>
        <p:nvSpPr>
          <p:cNvPr id="11" name="Text 9"/>
          <p:cNvSpPr/>
          <p:nvPr/>
        </p:nvSpPr>
        <p:spPr>
          <a:xfrm>
            <a:off x="2423160" y="2971800"/>
            <a:ext cx="6217920" cy="219456"/>
          </a:xfrm>
          <a:prstGeom prst="rect">
            <a:avLst/>
          </a:prstGeom>
          <a:noFill/>
          <a:ln/>
        </p:spPr>
        <p:txBody>
          <a:bodyPr wrap="square" lIns="0" tIns="0" rIns="0" bIns="0" rtlCol="0" anchor="t">
            <a:normAutofit/>
          </a:bodyPr>
          <a:lstStyle/>
          <a:p>
            <a:pPr algn="l" indent="0" marL="0">
              <a:buNone/>
            </a:pPr>
            <a:r>
              <a:rPr lang="en-US" sz="1550" b="1" dirty="0">
                <a:solidFill>
                  <a:srgbClr val="1E2761"/>
                </a:solidFill>
                <a:latin typeface="Calibri" pitchFamily="34" charset="0"/>
                <a:ea typeface="Calibri" pitchFamily="34" charset="-122"/>
                <a:cs typeface="Calibri" pitchFamily="34" charset="-120"/>
              </a:rPr>
              <a:t>Build your W15 sprint card</a:t>
            </a:r>
            <a:endParaRPr lang="en-US" sz="1550" dirty="0"/>
          </a:p>
        </p:txBody>
      </p:sp>
      <p:sp>
        <p:nvSpPr>
          <p:cNvPr id="12" name="Text 10"/>
          <p:cNvSpPr/>
          <p:nvPr/>
        </p:nvSpPr>
        <p:spPr>
          <a:xfrm>
            <a:off x="2423160" y="3282696"/>
            <a:ext cx="6949440" cy="182880"/>
          </a:xfrm>
          <a:prstGeom prst="rect">
            <a:avLst/>
          </a:prstGeom>
          <a:noFill/>
          <a:ln/>
        </p:spPr>
        <p:txBody>
          <a:bodyPr wrap="square" lIns="0" tIns="0" rIns="0" bIns="0" rtlCol="0" anchor="t">
            <a:normAutofit/>
          </a:bodyPr>
          <a:lstStyle/>
          <a:p>
            <a:pPr algn="l" indent="0" marL="0">
              <a:buNone/>
            </a:pPr>
            <a:r>
              <a:rPr lang="en-US" sz="1060" dirty="0">
                <a:solidFill>
                  <a:srgbClr val="5A6E8C"/>
                </a:solidFill>
                <a:latin typeface="Calibri" pitchFamily="34" charset="0"/>
                <a:ea typeface="Calibri" pitchFamily="34" charset="-122"/>
                <a:cs typeface="Calibri" pitchFamily="34" charset="-120"/>
              </a:rPr>
              <a:t>Sprint Goals → W15 → your 2–3 goals for this week with % and status.</a:t>
            </a:r>
            <a:endParaRPr lang="en-US" sz="1060" dirty="0"/>
          </a:p>
        </p:txBody>
      </p:sp>
      <p:sp>
        <p:nvSpPr>
          <p:cNvPr id="13" name="Shape 11"/>
          <p:cNvSpPr/>
          <p:nvPr/>
        </p:nvSpPr>
        <p:spPr>
          <a:xfrm>
            <a:off x="1508760" y="4105656"/>
            <a:ext cx="9144000" cy="1051560"/>
          </a:xfrm>
          <a:prstGeom prst="roundRect">
            <a:avLst>
              <a:gd name="adj" fmla="val 6957"/>
            </a:avLst>
          </a:prstGeom>
          <a:solidFill>
            <a:srgbClr val="FFFFFF"/>
          </a:solidFill>
          <a:ln w="12700">
            <a:solidFill>
              <a:srgbClr val="FFFFFF"/>
            </a:solidFill>
            <a:prstDash val="solid"/>
          </a:ln>
        </p:spPr>
      </p:sp>
      <p:sp>
        <p:nvSpPr>
          <p:cNvPr id="14" name="Shape 12"/>
          <p:cNvSpPr/>
          <p:nvPr/>
        </p:nvSpPr>
        <p:spPr>
          <a:xfrm>
            <a:off x="1508760" y="4105656"/>
            <a:ext cx="64008" cy="1051560"/>
          </a:xfrm>
          <a:prstGeom prst="rect">
            <a:avLst/>
          </a:prstGeom>
          <a:solidFill>
            <a:srgbClr val="4FC3F7"/>
          </a:solidFill>
          <a:ln w="12700">
            <a:solidFill>
              <a:srgbClr val="4FC3F7"/>
            </a:solidFill>
            <a:prstDash val="solid"/>
          </a:ln>
        </p:spPr>
      </p:sp>
      <p:sp>
        <p:nvSpPr>
          <p:cNvPr id="15" name="Text 13"/>
          <p:cNvSpPr/>
          <p:nvPr/>
        </p:nvSpPr>
        <p:spPr>
          <a:xfrm>
            <a:off x="1737360" y="4270248"/>
            <a:ext cx="548640" cy="274320"/>
          </a:xfrm>
          <a:prstGeom prst="rect">
            <a:avLst/>
          </a:prstGeom>
          <a:noFill/>
          <a:ln/>
        </p:spPr>
        <p:txBody>
          <a:bodyPr wrap="square" lIns="0" tIns="0" rIns="0" bIns="0" rtlCol="0" anchor="t">
            <a:normAutofit/>
          </a:bodyPr>
          <a:lstStyle/>
          <a:p>
            <a:pPr algn="l" indent="0" marL="0">
              <a:buNone/>
            </a:pPr>
            <a:r>
              <a:rPr lang="en-US" sz="2400" b="1" dirty="0">
                <a:solidFill>
                  <a:srgbClr val="4FC3F7"/>
                </a:solidFill>
                <a:latin typeface="Calibri" pitchFamily="34" charset="0"/>
                <a:ea typeface="Calibri" pitchFamily="34" charset="-122"/>
                <a:cs typeface="Calibri" pitchFamily="34" charset="-120"/>
              </a:rPr>
              <a:t>03</a:t>
            </a:r>
            <a:endParaRPr lang="en-US" sz="2400" dirty="0"/>
          </a:p>
        </p:txBody>
      </p:sp>
      <p:sp>
        <p:nvSpPr>
          <p:cNvPr id="16" name="Text 14"/>
          <p:cNvSpPr/>
          <p:nvPr/>
        </p:nvSpPr>
        <p:spPr>
          <a:xfrm>
            <a:off x="2423160" y="4270248"/>
            <a:ext cx="6217920" cy="219456"/>
          </a:xfrm>
          <a:prstGeom prst="rect">
            <a:avLst/>
          </a:prstGeom>
          <a:noFill/>
          <a:ln/>
        </p:spPr>
        <p:txBody>
          <a:bodyPr wrap="square" lIns="0" tIns="0" rIns="0" bIns="0" rtlCol="0" anchor="t">
            <a:normAutofit/>
          </a:bodyPr>
          <a:lstStyle/>
          <a:p>
            <a:pPr algn="l" indent="0" marL="0">
              <a:buNone/>
            </a:pPr>
            <a:r>
              <a:rPr lang="en-US" sz="1550" b="1" dirty="0">
                <a:solidFill>
                  <a:srgbClr val="1E2761"/>
                </a:solidFill>
                <a:latin typeface="Calibri" pitchFamily="34" charset="0"/>
                <a:ea typeface="Calibri" pitchFamily="34" charset="-122"/>
                <a:cs typeface="Calibri" pitchFamily="34" charset="-120"/>
              </a:rPr>
              <a:t>Submit your first EOD log today</a:t>
            </a:r>
            <a:endParaRPr lang="en-US" sz="1550" dirty="0"/>
          </a:p>
        </p:txBody>
      </p:sp>
      <p:sp>
        <p:nvSpPr>
          <p:cNvPr id="17" name="Text 15"/>
          <p:cNvSpPr/>
          <p:nvPr/>
        </p:nvSpPr>
        <p:spPr>
          <a:xfrm>
            <a:off x="2423160" y="4581144"/>
            <a:ext cx="6949440" cy="182880"/>
          </a:xfrm>
          <a:prstGeom prst="rect">
            <a:avLst/>
          </a:prstGeom>
          <a:noFill/>
          <a:ln/>
        </p:spPr>
        <p:txBody>
          <a:bodyPr wrap="square" lIns="0" tIns="0" rIns="0" bIns="0" rtlCol="0" anchor="t">
            <a:normAutofit/>
          </a:bodyPr>
          <a:lstStyle/>
          <a:p>
            <a:pPr algn="l" indent="0" marL="0">
              <a:buNone/>
            </a:pPr>
            <a:r>
              <a:rPr lang="en-US" sz="1060" dirty="0">
                <a:solidFill>
                  <a:srgbClr val="5A6E8C"/>
                </a:solidFill>
                <a:latin typeface="Calibri" pitchFamily="34" charset="0"/>
                <a:ea typeface="Calibri" pitchFamily="34" charset="-122"/>
                <a:cs typeface="Calibri" pitchFamily="34" charset="-120"/>
              </a:rPr>
              <a:t>Daily Logs → your name → new page. Streak starts today.</a:t>
            </a:r>
            <a:endParaRPr lang="en-US" sz="1060" dirty="0"/>
          </a:p>
        </p:txBody>
      </p:sp>
      <p:sp>
        <p:nvSpPr>
          <p:cNvPr id="18" name="Shape 16"/>
          <p:cNvSpPr/>
          <p:nvPr/>
        </p:nvSpPr>
        <p:spPr>
          <a:xfrm>
            <a:off x="1828800" y="5715000"/>
            <a:ext cx="8503920" cy="530352"/>
          </a:xfrm>
          <a:prstGeom prst="rect">
            <a:avLst/>
          </a:prstGeom>
          <a:solidFill>
            <a:srgbClr val="4FC3F7"/>
          </a:solidFill>
          <a:ln w="12700">
            <a:solidFill>
              <a:srgbClr val="4FC3F7"/>
            </a:solidFill>
            <a:prstDash val="solid"/>
          </a:ln>
        </p:spPr>
      </p:sp>
      <p:sp>
        <p:nvSpPr>
          <p:cNvPr id="19" name="Text 17"/>
          <p:cNvSpPr/>
          <p:nvPr/>
        </p:nvSpPr>
        <p:spPr>
          <a:xfrm>
            <a:off x="2011680" y="5897880"/>
            <a:ext cx="8138160" cy="146304"/>
          </a:xfrm>
          <a:prstGeom prst="rect">
            <a:avLst/>
          </a:prstGeom>
          <a:noFill/>
          <a:ln/>
        </p:spPr>
        <p:txBody>
          <a:bodyPr wrap="square" lIns="0" tIns="0" rIns="0" bIns="0" rtlCol="0" anchor="t">
            <a:normAutofit/>
          </a:bodyPr>
          <a:lstStyle/>
          <a:p>
            <a:pPr algn="ctr" indent="0" marL="0">
              <a:buNone/>
            </a:pPr>
            <a:r>
              <a:rPr lang="en-US" sz="1200" b="1" dirty="0">
                <a:solidFill>
                  <a:srgbClr val="1E2761"/>
                </a:solidFill>
                <a:latin typeface="Calibri" pitchFamily="34" charset="0"/>
                <a:ea typeface="Calibri" pitchFamily="34" charset="-122"/>
                <a:cs typeface="Calibri" pitchFamily="34" charset="-120"/>
              </a:rPr>
              <a:t>The system is live when all three of us have a streak of 1. That happens today.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XC Gradient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Machine</dc:title>
  <dc:subject>XC Gradient Company OS</dc:subject>
  <dc:creator>OpenAI</dc:creator>
  <cp:lastModifiedBy>OpenAI</cp:lastModifiedBy>
  <cp:revision>1</cp:revision>
  <dcterms:created xsi:type="dcterms:W3CDTF">2026-04-07T08:54:48Z</dcterms:created>
  <dcterms:modified xsi:type="dcterms:W3CDTF">2026-04-07T08:54:48Z</dcterms:modified>
</cp:coreProperties>
</file>